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89154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Suite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8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SME Failure Prediction &amp; Advisory Platform for Cameroon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777240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07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31720" y="29077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CLOVIS TUMASANG  ·  CT24A440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3284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31720" y="332841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  ·  College of Technology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31720" y="3749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1696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331720" y="416966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Anumoh Micheal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743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2608" y="932688"/>
            <a:ext cx="8686800" cy="475488"/>
          </a:xfrm>
          <a:prstGeom prst="roundRect">
            <a:avLst>
              <a:gd name="adj" fmla="val 11538"/>
            </a:avLst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93268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78408" y="93268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1648" y="93268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failure in Cameroon — the gap we address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2608" y="1490472"/>
            <a:ext cx="8686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49047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78408" y="149047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41648" y="1490472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questions, and literature review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" y="2048256"/>
            <a:ext cx="8686800" cy="475488"/>
          </a:xfrm>
          <a:prstGeom prst="roundRect">
            <a:avLst>
              <a:gd name="adj" fmla="val 11538"/>
            </a:avLst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04825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78408" y="204825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41648" y="2048256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design, datasets, and feature engineering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" y="2606040"/>
            <a:ext cx="8686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6060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78408" y="26060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41648" y="260604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database, and use cases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2608" y="3163824"/>
            <a:ext cx="8686800" cy="475488"/>
          </a:xfrm>
          <a:prstGeom prst="roundRect">
            <a:avLst>
              <a:gd name="adj" fmla="val 11538"/>
            </a:avLst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316382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78408" y="316382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41648" y="3163824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API, and development process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2608" y="3721608"/>
            <a:ext cx="8686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72160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78408" y="372160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41648" y="372160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and real-world validation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92608" y="4279392"/>
            <a:ext cx="8686800" cy="475488"/>
          </a:xfrm>
          <a:prstGeom prst="roundRect">
            <a:avLst>
              <a:gd name="adj" fmla="val 11538"/>
            </a:avLst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427939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78408" y="427939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41648" y="4279392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findings, recommendations, and future work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82880" y="489204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Operations Suite  |  CLOVIS TUMASANG  |  University of Buea  | 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47548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are Cameroon's Economic Backbone — But Most Do Not Survive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859536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353312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EE2E2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94.6%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384048" y="2423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SMEs fail within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36976" y="1353312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E0F4F7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463040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2.3M+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328416" y="2423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form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1353312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EF3C7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463040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272784" y="2423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access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credit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" y="36576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MINPMEESA 2023; INS Cameroon National Survey; World Bank Enterprise Survey 2024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" y="397764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problem: no affordable, data-driven tool exists to help Cameroonian SME owners understand and reduce their risk of failure before it happens.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" y="489204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Operations Suite  |  CLOVIS TUMASANG  |  University of Buea  | 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RESEARCH FOUNDATION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47548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Research Set Out to Achieve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069848"/>
            <a:ext cx="859536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234440"/>
            <a:ext cx="8686800" cy="694944"/>
          </a:xfrm>
          <a:prstGeom prst="roundRect">
            <a:avLst>
              <a:gd name="adj" fmla="val 10526"/>
            </a:avLst>
          </a:prstGeom>
          <a:solidFill>
            <a:srgbClr val="E0F4F7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362456"/>
            <a:ext cx="420624" cy="420624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62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234440"/>
            <a:ext cx="7772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validated ML model to predict SME failure probability with AUC-ROC &gt; 0.80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2608" y="2039112"/>
            <a:ext cx="8686800" cy="694944"/>
          </a:xfrm>
          <a:prstGeom prst="roundRect">
            <a:avLst>
              <a:gd name="adj" fmla="val 10526"/>
            </a:avLst>
          </a:prstGeom>
          <a:solidFill>
            <a:srgbClr val="EEF3F8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2167128"/>
            <a:ext cx="420624" cy="420624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039112"/>
            <a:ext cx="7772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survival analysis (Cox PH) to estimate median time-to-failure in months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92608" y="2843784"/>
            <a:ext cx="8686800" cy="694944"/>
          </a:xfrm>
          <a:prstGeom prst="roundRect">
            <a:avLst>
              <a:gd name="adj" fmla="val 10526"/>
            </a:avLst>
          </a:prstGeom>
          <a:solidFill>
            <a:srgbClr val="E0F4F7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2971800"/>
            <a:ext cx="420624" cy="420624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843784"/>
            <a:ext cx="7772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Groq LLM advisory layer that generates contextual, actionable guidance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92608" y="3648456"/>
            <a:ext cx="8686800" cy="694944"/>
          </a:xfrm>
          <a:prstGeom prst="roundRect">
            <a:avLst>
              <a:gd name="adj" fmla="val 10526"/>
            </a:avLst>
          </a:prstGeom>
          <a:solidFill>
            <a:srgbClr val="EEF3F8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3776472"/>
            <a:ext cx="420624" cy="420624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648456"/>
            <a:ext cx="7772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production-ready full-stack platform serving both mobile and web clients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82880" y="489204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Operations Suite  |  CLOVIS TUMASANG  |  University of Buea  | 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LITERATURE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475488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vs. BizSense 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024128"/>
            <a:ext cx="859536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188720"/>
            <a:ext cx="210312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188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1188720"/>
            <a:ext cx="182880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188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Altman Z-Score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34256" y="1188720"/>
            <a:ext cx="182880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34256" y="1188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/ Wave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651760" cy="34747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" y="1572768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57276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Failure Prediction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50592" y="1572768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3744" y="157276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34256" y="1572768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07408" y="157276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1572768"/>
            <a:ext cx="2651760" cy="457200"/>
          </a:xfrm>
          <a:prstGeom prst="rect">
            <a:avLst/>
          </a:prstGeom>
          <a:solidFill>
            <a:srgbClr val="E0F4F7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57276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ensemble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2608" y="2066544"/>
            <a:ext cx="2103120" cy="457200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06654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/ Time Estimate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50592" y="2066544"/>
            <a:ext cx="1828800" cy="457200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3744" y="206654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34256" y="2066544"/>
            <a:ext cx="1828800" cy="457200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7408" y="206654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2066544"/>
            <a:ext cx="2651760" cy="457200"/>
          </a:xfrm>
          <a:prstGeom prst="rect">
            <a:avLst/>
          </a:prstGeom>
          <a:solidFill>
            <a:srgbClr val="D4EFF5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2066544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Cox PH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2608" y="256032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56032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Advisory Reports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50592" y="256032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23744" y="256032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34256" y="256032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07408" y="256032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2560320"/>
            <a:ext cx="2651760" cy="457200"/>
          </a:xfrm>
          <a:prstGeom prst="rect">
            <a:avLst/>
          </a:prstGeom>
          <a:solidFill>
            <a:srgbClr val="E0F4F7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2560320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Groq llama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92608" y="3054096"/>
            <a:ext cx="2103120" cy="457200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054096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Cameroon Data Context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450592" y="3054096"/>
            <a:ext cx="1828800" cy="457200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23744" y="3054096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334256" y="3054096"/>
            <a:ext cx="1828800" cy="457200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07408" y="3054096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17920" y="3054096"/>
            <a:ext cx="2651760" cy="457200"/>
          </a:xfrm>
          <a:prstGeom prst="rect">
            <a:avLst/>
          </a:prstGeom>
          <a:solidFill>
            <a:srgbClr val="D4EFF5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3054096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MINPMEESA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92608" y="3547872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547872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(Android/iOS)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450592" y="3547872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23744" y="3547872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334256" y="3547872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07408" y="3547872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(basic)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17920" y="3547872"/>
            <a:ext cx="2651760" cy="457200"/>
          </a:xfrm>
          <a:prstGeom prst="rect">
            <a:avLst/>
          </a:prstGeom>
          <a:solidFill>
            <a:srgbClr val="E0F4F7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91072" y="3547872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Expo SDK 53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92608" y="4041648"/>
            <a:ext cx="2103120" cy="457200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04164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Accessible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450592" y="4041648"/>
            <a:ext cx="1828800" cy="457200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23744" y="404164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only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334256" y="4041648"/>
            <a:ext cx="1828800" cy="457200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07408" y="404164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217920" y="4041648"/>
            <a:ext cx="2651760" cy="457200"/>
          </a:xfrm>
          <a:prstGeom prst="rect">
            <a:avLst/>
          </a:prstGeom>
          <a:solidFill>
            <a:srgbClr val="D4EFF5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91072" y="404164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SaaS model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82880" y="489204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Operations Suite  |  CLOVIS TUMASANG  |  University of Buea  | 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METHODOLOGY &amp;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475488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 — Sequential Exploratory Strategy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92608" y="1024128"/>
            <a:ext cx="859536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234440"/>
            <a:ext cx="1609344" cy="3108960"/>
          </a:xfrm>
          <a:prstGeom prst="roundRect">
            <a:avLst>
              <a:gd name="adj" fmla="val 5682"/>
            </a:avLst>
          </a:prstGeom>
          <a:solidFill>
            <a:srgbClr val="EEF3F8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298448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92608" y="173736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" y="2423160"/>
            <a:ext cx="1335024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2468880"/>
            <a:ext cx="16093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observation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01952" y="2651760"/>
            <a:ext cx="146304" cy="457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48256" y="1234440"/>
            <a:ext cx="1609344" cy="3108960"/>
          </a:xfrm>
          <a:prstGeom prst="roundRect">
            <a:avLst>
              <a:gd name="adj" fmla="val 5682"/>
            </a:avLst>
          </a:prstGeom>
          <a:solidFill>
            <a:srgbClr val="EEF3F8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1298448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48256" y="173736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85416" y="2423160"/>
            <a:ext cx="1335024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48256" y="2468880"/>
            <a:ext cx="16093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27-firm survey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microdata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0" y="2651760"/>
            <a:ext cx="146304" cy="457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03904" y="1234440"/>
            <a:ext cx="1609344" cy="3108960"/>
          </a:xfrm>
          <a:prstGeom prst="roundRect">
            <a:avLst>
              <a:gd name="adj" fmla="val 5682"/>
            </a:avLst>
          </a:prstGeom>
          <a:solidFill>
            <a:srgbClr val="0D7C8F"/>
          </a:solidFill>
          <a:ln w="25400">
            <a:solidFill>
              <a:srgbClr val="0D7C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03904" y="1298448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803904" y="173736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41064" y="2423160"/>
            <a:ext cx="1335024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03904" y="2468880"/>
            <a:ext cx="16093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training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13248" y="2651760"/>
            <a:ext cx="146304" cy="457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59552" y="1234440"/>
            <a:ext cx="1609344" cy="3108960"/>
          </a:xfrm>
          <a:prstGeom prst="roundRect">
            <a:avLst>
              <a:gd name="adj" fmla="val 5682"/>
            </a:avLst>
          </a:prstGeom>
          <a:solidFill>
            <a:srgbClr val="EEF3F8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9552" y="1298448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59552" y="173736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96712" y="2423160"/>
            <a:ext cx="1335024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9552" y="2468880"/>
            <a:ext cx="16093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 Native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dashboard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168896" y="2651760"/>
            <a:ext cx="146304" cy="457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1234440"/>
            <a:ext cx="1609344" cy="3108960"/>
          </a:xfrm>
          <a:prstGeom prst="roundRect">
            <a:avLst>
              <a:gd name="adj" fmla="val 5682"/>
            </a:avLst>
          </a:prstGeom>
          <a:solidFill>
            <a:srgbClr val="EEF3F8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1298448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315200" y="173736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52360" y="2423160"/>
            <a:ext cx="1335024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2468880"/>
            <a:ext cx="16093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Brier, F1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validation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92608" y="446227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applied a WATERFALL model for the engineering phases (requirements analysis, design, implementation, testing, deployment) alongside a mixed-methods approach for data collection.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2880" y="489204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Operations Suite  |  CLOVIS TUMASANG  |  University of Buea  | 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DATA COLLECTION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475488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Three-Source Training Dataset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024128"/>
            <a:ext cx="859536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207008"/>
            <a:ext cx="2788920" cy="3200400"/>
          </a:xfrm>
          <a:prstGeom prst="roundRect">
            <a:avLst>
              <a:gd name="adj" fmla="val 2623"/>
            </a:avLst>
          </a:prstGeom>
          <a:solidFill>
            <a:srgbClr val="E0F4F7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31673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92608" y="210312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" y="2377440"/>
            <a:ext cx="251460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4323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MINPMEESA-Calibrated Records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" y="2761488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Synthetic-style records derived from MINPMEESA sector statistics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0624" y="3017520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Covers 9 sectors across Cameroon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0624" y="3273552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Sample weight: 1.0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1207008"/>
            <a:ext cx="2788920" cy="3200400"/>
          </a:xfrm>
          <a:prstGeom prst="roundRect">
            <a:avLst>
              <a:gd name="adj" fmla="val 2623"/>
            </a:avLst>
          </a:prstGeom>
          <a:solidFill>
            <a:srgbClr val="FEF3C7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31673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3246120" y="210312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2377440"/>
            <a:ext cx="251460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4323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Field Survey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74136" y="2761488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interviews — Buea, Douala, Yaounde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74136" y="3017520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questionnaire, 38 features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74136" y="3273552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Sample weight: 10.0 (high fidelity)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99632" y="1207008"/>
            <a:ext cx="2788920" cy="3200400"/>
          </a:xfrm>
          <a:prstGeom prst="roundRect">
            <a:avLst>
              <a:gd name="adj" fmla="val 2623"/>
            </a:avLst>
          </a:prstGeom>
          <a:solidFill>
            <a:srgbClr val="D1FAE5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131673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615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6199632" y="210312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36792" y="2377440"/>
            <a:ext cx="251460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24323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Enterprise Survey 2024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27648" y="2761488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340 variables per firm — Cameroon subset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27648" y="3017520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Officially published microdata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27648" y="3273552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Sample weight: 15.0 (authoritative)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2608" y="449884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training pool: 15,642 records  ·  Weighted composite ensures primary survey data has disproportionate influence on final predictions  ·  17.7% baseline survival rate (consistent with MINPMEESA 5-year failure data)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82880" y="489204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Operations Suite  |  CLOVIS TUMASANG  |  University of Buea  | 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SYSTEM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475488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024128"/>
            <a:ext cx="859536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207008"/>
            <a:ext cx="8686800" cy="713232"/>
          </a:xfrm>
          <a:prstGeom prst="roundRect">
            <a:avLst>
              <a:gd name="adj" fmla="val 10256"/>
            </a:avLst>
          </a:prstGeom>
          <a:solidFill>
            <a:srgbClr val="EBF8FF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207008"/>
            <a:ext cx="1554480" cy="713232"/>
          </a:xfrm>
          <a:prstGeom prst="rect">
            <a:avLst/>
          </a:prstGeom>
          <a:solidFill>
            <a:srgbClr val="0EA5C0"/>
          </a:solidFill>
          <a:ln w="12700">
            <a:solidFill>
              <a:srgbClr val="0EA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20700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LAYER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38528" y="1261872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Native + Expo SDK 53.0.0   Android / iOS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38528" y="1472184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Next.js 16.2.0   Web Dashboard (Vercel CDN)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38528" y="1682496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JWT-secured session   HMAC-SHA256 tokens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" y="1993392"/>
            <a:ext cx="8686800" cy="713232"/>
          </a:xfrm>
          <a:prstGeom prst="roundRect">
            <a:avLst>
              <a:gd name="adj" fmla="val 10256"/>
            </a:avLst>
          </a:prstGeom>
          <a:solidFill>
            <a:srgbClr val="F0FDF4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1993392"/>
            <a:ext cx="1554480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99339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&amp;  CACHE  LAYER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38528" y="2048256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0.115.0  ·  Python 3.12  ·  Render.com (Docker)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38528" y="2258568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 REST endpoints  ·  Uvicorn ASGI  ·  Pydantic validation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38528" y="2468880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Upstash Redis cache-aside  ·  43ms HIT vs 847ms MISS  (~20x)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" y="2779776"/>
            <a:ext cx="8686800" cy="896112"/>
          </a:xfrm>
          <a:prstGeom prst="roundRect">
            <a:avLst>
              <a:gd name="adj" fmla="val 8163"/>
            </a:avLst>
          </a:prstGeom>
          <a:solidFill>
            <a:srgbClr val="FFF7ED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779776"/>
            <a:ext cx="1554480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2779776"/>
            <a:ext cx="1554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/  ML  LAYER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938528" y="2834640"/>
            <a:ext cx="69037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LightGBM 4.3 + CatBoost 1.2.5 ensemble  ·  AUC-ROC 0.83  ·  Brier 0.14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38528" y="3105912"/>
            <a:ext cx="69037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Cox Proportional Hazards (lifelines 0.29)  ·  Survival curves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938528" y="3377184"/>
            <a:ext cx="69037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 2.0 profit regressor  ·  SHAP 0.45 explainability  ·  Groq llama-3.3-70b advisory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2608" y="3749040"/>
            <a:ext cx="8686800" cy="603504"/>
          </a:xfrm>
          <a:prstGeom prst="roundRect">
            <a:avLst>
              <a:gd name="adj" fmla="val 12121"/>
            </a:avLst>
          </a:prstGeom>
          <a:solidFill>
            <a:srgbClr val="FDF4FF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" y="3749040"/>
            <a:ext cx="1554480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374904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LAYER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38528" y="3803904"/>
            <a:ext cx="6903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 PostgreSQL 15  ·  Cloud-hosted  ·  Row-Level Security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938528" y="4078224"/>
            <a:ext cx="6903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Auto-generated REST &amp; SDK  ·  5 core tables  ·  UUID primary keys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82880" y="489204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Operations Suite  |  CLOVIS TUMASANG  |  University of Buea  |  2026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DATABASE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475488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 — Supabase PostgreSQL 15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92608" y="1024128"/>
            <a:ext cx="859536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207008"/>
            <a:ext cx="2377440" cy="29260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070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2608" y="1499616"/>
            <a:ext cx="23774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27048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  (UUID)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1728216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email  (UNIQUE)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" y="1929384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password_hash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21305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role  (owner | admin)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4048" y="2331720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created_at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0" y="1207008"/>
            <a:ext cx="2377440" cy="29260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12070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499616"/>
            <a:ext cx="23774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527048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  (UUID)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91840" y="1728216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user_id  → users.id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91840" y="1929384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name,  sector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91840" y="21305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city,  years_in_ops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91840" y="2331720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is_registered  (bool)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108192" y="1207008"/>
            <a:ext cx="2743200" cy="29260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1344" y="1207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08192" y="1499616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52704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  (UUID)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99632" y="1728216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business_id  → businesses.id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99632" y="192938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capital,  employees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99632" y="213055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monthly_revenue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99632" y="233172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market_access  (enum)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99632" y="253288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submitted_at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97280" y="2999232"/>
            <a:ext cx="2560320" cy="29260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70432" y="29992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97280" y="3291840"/>
            <a:ext cx="25603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88720" y="331927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  (UUID)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88720" y="352044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assessment_id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88720" y="372160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risk_score  (float 0-1)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88720" y="392277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risk_label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88720" y="412394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survival_1yr / 2yr / 3yr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88720" y="432511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median_ttf  (months)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88720" y="452628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profit_projection  (CFA Fr)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297680" y="2999232"/>
            <a:ext cx="265176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70832" y="2999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advisory_reports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297680" y="32918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331927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  (UUID)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389120" y="352044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prediction_id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389120" y="372160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content  (TEXT)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389120" y="392277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groq_model,  tokens_used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389120" y="412394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generated_at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389120" y="432511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pdf_url  (storage link)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670048" y="1353312"/>
            <a:ext cx="530352" cy="36576"/>
          </a:xfrm>
          <a:prstGeom prst="rect">
            <a:avLst/>
          </a:prstGeom>
          <a:solidFill>
            <a:srgbClr val="AABBC8"/>
          </a:solidFill>
          <a:ln w="12700">
            <a:solidFill>
              <a:srgbClr val="AABBC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0" y="11704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577840" y="1353312"/>
            <a:ext cx="530352" cy="36576"/>
          </a:xfrm>
          <a:prstGeom prst="rect">
            <a:avLst/>
          </a:prstGeom>
          <a:solidFill>
            <a:srgbClr val="AABBC8"/>
          </a:solidFill>
          <a:ln w="12700">
            <a:solidFill>
              <a:srgbClr val="AABBC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0" y="11704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7461504" y="2450592"/>
            <a:ext cx="36576" cy="512064"/>
          </a:xfrm>
          <a:prstGeom prst="rect">
            <a:avLst/>
          </a:prstGeom>
          <a:solidFill>
            <a:srgbClr val="AABBC8"/>
          </a:solidFill>
          <a:ln w="12700">
            <a:solidFill>
              <a:srgbClr val="AABBC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0" y="2962656"/>
            <a:ext cx="3840480" cy="36576"/>
          </a:xfrm>
          <a:prstGeom prst="rect">
            <a:avLst/>
          </a:prstGeom>
          <a:solidFill>
            <a:srgbClr val="AABBC8"/>
          </a:solidFill>
          <a:ln w="12700">
            <a:solidFill>
              <a:srgbClr val="AABBC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57600" y="2962656"/>
            <a:ext cx="36576" cy="73152"/>
          </a:xfrm>
          <a:prstGeom prst="rect">
            <a:avLst/>
          </a:prstGeom>
          <a:solidFill>
            <a:srgbClr val="AABBC8"/>
          </a:solidFill>
          <a:ln w="12700">
            <a:solidFill>
              <a:srgbClr val="AABB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16368" y="24871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657600" y="3291840"/>
            <a:ext cx="640080" cy="36576"/>
          </a:xfrm>
          <a:prstGeom prst="rect">
            <a:avLst/>
          </a:prstGeom>
          <a:solidFill>
            <a:srgbClr val="AABBC8"/>
          </a:solidFill>
          <a:ln w="12700">
            <a:solidFill>
              <a:srgbClr val="AABBC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75888" y="31272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92608" y="471830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enforced at database level  ·  All FKs carry ON DELETE CASCADE  ·  Auto-generated Supabase REST + TypeScript SDK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82880" y="489204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Operations Suite  |  CLOVIS TUMASANG  |  University of Buea  |  2026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USE CASE DIAGRAM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475488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Interactions — BizSense Operations Suite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92608" y="1024128"/>
            <a:ext cx="859536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143000"/>
            <a:ext cx="6400800" cy="3611880"/>
          </a:xfrm>
          <a:prstGeom prst="rect">
            <a:avLst/>
          </a:prstGeom>
          <a:solidFill>
            <a:srgbClr val="EEF3F8"/>
          </a:solidFill>
          <a:ln w="1905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1887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Operations Suite  —  Platform Boundary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72768" y="1554480"/>
            <a:ext cx="2377440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D7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2768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72768" y="2057400"/>
            <a:ext cx="2377440" cy="384048"/>
          </a:xfrm>
          <a:prstGeom prst="ellipse">
            <a:avLst/>
          </a:prstGeom>
          <a:solidFill>
            <a:srgbClr val="E0F4F7"/>
          </a:solidFill>
          <a:ln w="9525">
            <a:solidFill>
              <a:srgbClr val="0D7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72768" y="20574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Business Profile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72768" y="2560320"/>
            <a:ext cx="2377440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D7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72768" y="25603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Assessment Form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572768" y="3063240"/>
            <a:ext cx="2377440" cy="384048"/>
          </a:xfrm>
          <a:prstGeom prst="ellipse">
            <a:avLst/>
          </a:prstGeom>
          <a:solidFill>
            <a:srgbClr val="E0F4F7"/>
          </a:solidFill>
          <a:ln w="9525">
            <a:solidFill>
              <a:srgbClr val="0D7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72768" y="3063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Risk Prediction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572768" y="3566160"/>
            <a:ext cx="2377440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D7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72768" y="3566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AI Advisory Report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572768" y="4069080"/>
            <a:ext cx="2377440" cy="384048"/>
          </a:xfrm>
          <a:prstGeom prst="ellipse">
            <a:avLst/>
          </a:prstGeom>
          <a:solidFill>
            <a:srgbClr val="E0F4F7"/>
          </a:solidFill>
          <a:ln w="9525">
            <a:solidFill>
              <a:srgbClr val="0D7C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72768" y="4069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PDF Report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37760" y="1554480"/>
            <a:ext cx="2651760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D7C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5544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Auto-Cache Prediction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37760" y="2057400"/>
            <a:ext cx="2651760" cy="384048"/>
          </a:xfrm>
          <a:prstGeom prst="ellipse">
            <a:avLst/>
          </a:prstGeom>
          <a:solidFill>
            <a:srgbClr val="D4EFF5"/>
          </a:solidFill>
          <a:ln w="9525">
            <a:solidFill>
              <a:srgbClr val="0D7C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057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 Accounts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2560320"/>
            <a:ext cx="2651760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D7C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5603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Survival Timeline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37760" y="3063240"/>
            <a:ext cx="2651760" cy="384048"/>
          </a:xfrm>
          <a:prstGeom prst="ellipse">
            <a:avLst/>
          </a:prstGeom>
          <a:solidFill>
            <a:srgbClr val="D4EFF5"/>
          </a:solidFill>
          <a:ln w="9525">
            <a:solidFill>
              <a:srgbClr val="0D7C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063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Assessments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37760" y="3566160"/>
            <a:ext cx="2651760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D7C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5661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SHAP Explanations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4069080"/>
            <a:ext cx="2651760" cy="384048"/>
          </a:xfrm>
          <a:prstGeom prst="ellipse">
            <a:avLst/>
          </a:prstGeom>
          <a:solidFill>
            <a:srgbClr val="D4EFF5"/>
          </a:solidFill>
          <a:ln w="9525">
            <a:solidFill>
              <a:srgbClr val="0D7C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40690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System Logs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1965960"/>
            <a:ext cx="320040" cy="320040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" y="2286000"/>
            <a:ext cx="201168" cy="5029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" y="2350008"/>
            <a:ext cx="548640" cy="7315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" y="2788920"/>
            <a:ext cx="91440" cy="36576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" y="2788920"/>
            <a:ext cx="91440" cy="36576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1729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Owner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 User)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092440" y="1965960"/>
            <a:ext cx="320040" cy="320040"/>
          </a:xfrm>
          <a:prstGeom prst="ellipse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47304" y="2286000"/>
            <a:ext cx="201168" cy="5029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82712" y="2350008"/>
            <a:ext cx="548640" cy="7315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47304" y="2788920"/>
            <a:ext cx="91440" cy="36576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93608" y="2788920"/>
            <a:ext cx="91440" cy="36576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63840" y="31729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04672" y="2157984"/>
            <a:ext cx="768096" cy="36576"/>
          </a:xfrm>
          <a:prstGeom prst="rect">
            <a:avLst/>
          </a:prstGeom>
          <a:solidFill>
            <a:srgbClr val="AABBC8"/>
          </a:solidFill>
          <a:ln w="12700">
            <a:solidFill>
              <a:srgbClr val="AABBC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4672" y="2660904"/>
            <a:ext cx="768096" cy="36576"/>
          </a:xfrm>
          <a:prstGeom prst="rect">
            <a:avLst/>
          </a:prstGeom>
          <a:solidFill>
            <a:srgbClr val="AABBC8"/>
          </a:solidFill>
          <a:ln w="12700">
            <a:solidFill>
              <a:srgbClr val="AABBC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4672" y="3163824"/>
            <a:ext cx="768096" cy="36576"/>
          </a:xfrm>
          <a:prstGeom prst="rect">
            <a:avLst/>
          </a:prstGeom>
          <a:solidFill>
            <a:srgbClr val="AABBC8"/>
          </a:solidFill>
          <a:ln w="12700">
            <a:solidFill>
              <a:srgbClr val="AABB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4672" y="3666744"/>
            <a:ext cx="768096" cy="36576"/>
          </a:xfrm>
          <a:prstGeom prst="rect">
            <a:avLst/>
          </a:prstGeom>
          <a:solidFill>
            <a:srgbClr val="AABBC8"/>
          </a:solidFill>
          <a:ln w="12700">
            <a:solidFill>
              <a:srgbClr val="AABBC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4672" y="4169664"/>
            <a:ext cx="768096" cy="36576"/>
          </a:xfrm>
          <a:prstGeom prst="rect">
            <a:avLst/>
          </a:prstGeom>
          <a:solidFill>
            <a:srgbClr val="AABBC8"/>
          </a:solidFill>
          <a:ln w="12700">
            <a:solidFill>
              <a:srgbClr val="AABBC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4672" y="4672584"/>
            <a:ext cx="768096" cy="36576"/>
          </a:xfrm>
          <a:prstGeom prst="rect">
            <a:avLst/>
          </a:prstGeom>
          <a:solidFill>
            <a:srgbClr val="AABBC8"/>
          </a:solidFill>
          <a:ln w="12700">
            <a:solidFill>
              <a:srgbClr val="AABBC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89520" y="2157984"/>
            <a:ext cx="502920" cy="36576"/>
          </a:xfrm>
          <a:prstGeom prst="rect">
            <a:avLst/>
          </a:prstGeom>
          <a:solidFill>
            <a:srgbClr val="AABBC8"/>
          </a:solidFill>
          <a:ln w="12700">
            <a:solidFill>
              <a:srgbClr val="AABBC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89520" y="2660904"/>
            <a:ext cx="502920" cy="36576"/>
          </a:xfrm>
          <a:prstGeom prst="rect">
            <a:avLst/>
          </a:prstGeom>
          <a:solidFill>
            <a:srgbClr val="AABBC8"/>
          </a:solidFill>
          <a:ln w="12700">
            <a:solidFill>
              <a:srgbClr val="AABB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89520" y="3163824"/>
            <a:ext cx="502920" cy="36576"/>
          </a:xfrm>
          <a:prstGeom prst="rect">
            <a:avLst/>
          </a:prstGeom>
          <a:solidFill>
            <a:srgbClr val="AABBC8"/>
          </a:solidFill>
          <a:ln w="12700">
            <a:solidFill>
              <a:srgbClr val="AABBC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89520" y="3666744"/>
            <a:ext cx="502920" cy="36576"/>
          </a:xfrm>
          <a:prstGeom prst="rect">
            <a:avLst/>
          </a:prstGeom>
          <a:solidFill>
            <a:srgbClr val="AABBC8"/>
          </a:solidFill>
          <a:ln w="12700">
            <a:solidFill>
              <a:srgbClr val="AABBC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89520" y="4169664"/>
            <a:ext cx="502920" cy="36576"/>
          </a:xfrm>
          <a:prstGeom prst="rect">
            <a:avLst/>
          </a:prstGeom>
          <a:solidFill>
            <a:srgbClr val="AABBC8"/>
          </a:solidFill>
          <a:ln w="12700">
            <a:solidFill>
              <a:srgbClr val="AABBC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89520" y="4672584"/>
            <a:ext cx="502920" cy="36576"/>
          </a:xfrm>
          <a:prstGeom prst="rect">
            <a:avLst/>
          </a:prstGeom>
          <a:solidFill>
            <a:srgbClr val="AABBC8"/>
          </a:solidFill>
          <a:ln w="12700">
            <a:solidFill>
              <a:srgbClr val="AABBC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2880" y="489204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Operations Suite  |  CLOVIS TUMASANG  |  University of Buea  |  2026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IMPLEMENTATION — ML MODELS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475488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Three-Model Prediction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024128"/>
            <a:ext cx="859536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207008"/>
            <a:ext cx="2788920" cy="3566160"/>
          </a:xfrm>
          <a:prstGeom prst="roundRect">
            <a:avLst>
              <a:gd name="adj" fmla="val 2623"/>
            </a:avLst>
          </a:prstGeom>
          <a:solidFill>
            <a:srgbClr val="E0F4F7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31673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Classifier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168249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4.3 + CatBoost 1.2.5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02336" y="2011680"/>
            <a:ext cx="2542032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208483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Soft-voting ensemble (equal weights)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2336" y="235915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Isotonic calibration (Brier 0.18 → 0.14)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2336" y="26334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risk_score 0–1 + risk_label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2336" y="2926080"/>
            <a:ext cx="2542032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999232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2336" y="324612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3236976" y="1207008"/>
            <a:ext cx="2788920" cy="3566160"/>
          </a:xfrm>
          <a:prstGeom prst="roundRect">
            <a:avLst>
              <a:gd name="adj" fmla="val 2623"/>
            </a:avLst>
          </a:prstGeom>
          <a:solidFill>
            <a:srgbClr val="FEF3C7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46704" y="131673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Estimator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46704" y="168249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Proportional Hazards (lifelines 0.29)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46704" y="2011680"/>
            <a:ext cx="2542032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46704" y="208483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features: capital, employees, market_access,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46704" y="235915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sector, city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46704" y="26334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survival curves + median TTF (months)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46704" y="2926080"/>
            <a:ext cx="2542032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6704" y="2999232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survival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46704" y="324612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17.7%</a:t>
            </a:r>
            <a:endParaRPr lang="en-US" sz="3400" dirty="0"/>
          </a:p>
        </p:txBody>
      </p:sp>
      <p:sp>
        <p:nvSpPr>
          <p:cNvPr id="26" name="Shape 24"/>
          <p:cNvSpPr/>
          <p:nvPr/>
        </p:nvSpPr>
        <p:spPr>
          <a:xfrm>
            <a:off x="6181344" y="1207008"/>
            <a:ext cx="2788920" cy="3566160"/>
          </a:xfrm>
          <a:prstGeom prst="roundRect">
            <a:avLst>
              <a:gd name="adj" fmla="val 2623"/>
            </a:avLst>
          </a:prstGeom>
          <a:solidFill>
            <a:srgbClr val="D1FAE5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131673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Regressor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168249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2.0 + SHAP 0.45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91072" y="2011680"/>
            <a:ext cx="2542032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208483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Log-transform on target (CFA Francs)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91072" y="235915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Top-5 SHAP contributors per prediction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91072" y="26334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profit_projection + explanations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91072" y="2926080"/>
            <a:ext cx="2542032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2999232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vars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91072" y="324612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292608" y="4846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operate in sequence: Classifier assigns risk, Cox PH estimates time horizon, XGBoost projects profit. Groq llama-3.3-70b then synthesises all outputs into a plain-language advisory report.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82880" y="489204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Operations Suite  |  CLOVIS TUMASANG  |  University of Buea  |  2026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IMPLEMENTATION —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475488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Engineering Choices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024128"/>
            <a:ext cx="859536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188720"/>
            <a:ext cx="8686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188720"/>
            <a:ext cx="73152" cy="420624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65960" y="11887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0.115.0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0" y="11887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 ·  Uvicorn ASGI  ·  Render.com (Docker + CI/CD)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" y="1645920"/>
            <a:ext cx="8686800" cy="420624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645920"/>
            <a:ext cx="73152" cy="420624"/>
          </a:xfrm>
          <a:prstGeom prst="rect">
            <a:avLst/>
          </a:prstGeom>
          <a:solidFill>
            <a:srgbClr val="0EA5C0"/>
          </a:solidFill>
          <a:ln w="12700">
            <a:solidFill>
              <a:srgbClr val="0EA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459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65960" y="16459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16.2.0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0" y="16459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·  TypeScript  ·  Tailwind CSS  ·  Deployed on Vercel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2103120"/>
            <a:ext cx="8686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2103120"/>
            <a:ext cx="73152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031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65960" y="21031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53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89120" y="21031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 ·  Expo EAS Build  ·  TypeScript  ·  Expo Router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2608" y="2560320"/>
            <a:ext cx="8686800" cy="420624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" y="2560320"/>
            <a:ext cx="73152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603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65960" y="25603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15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89120" y="25603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 ·  Row-level security  ·  Auth module  ·  Storage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2608" y="3017520"/>
            <a:ext cx="8686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" y="3017520"/>
            <a:ext cx="73152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175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65960" y="30175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89120" y="30175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 ·  Cache-aside pattern  ·  TTL: 3600s  ·  43ms HIT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92608" y="3474720"/>
            <a:ext cx="8686800" cy="420624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" y="3474720"/>
            <a:ext cx="73152" cy="420624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4747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65960" y="34747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/ CatBoost / XGBoost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389120" y="34747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lifelines 0.29  ·  SHAP 0.45  ·  scikit-learn calibration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92608" y="3931920"/>
            <a:ext cx="8686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2608" y="3931920"/>
            <a:ext cx="73152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9319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AI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965960" y="39319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 llama-3.3-70b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389120" y="39319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  ·  avg 1.8s response  ·  structured advisory output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92608" y="4389120"/>
            <a:ext cx="8686800" cy="420624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" y="4389120"/>
            <a:ext cx="73152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3891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965960" y="43891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8.1.0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389120" y="43891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unit  ·  8 integration  ·  8 Playwright E2E  ·  18.4s total runtime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82880" y="489204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Operations Suite  |  CLOVIS TUMASANG  |  University of Buea  |  2026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SYSTEM DEMO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475488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 — Mobile &amp; Web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024128"/>
            <a:ext cx="859536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1783080" cy="3520440"/>
          </a:xfrm>
          <a:prstGeom prst="roundRect">
            <a:avLst>
              <a:gd name="adj" fmla="val 9231"/>
            </a:avLst>
          </a:prstGeom>
          <a:solidFill>
            <a:srgbClr val="1A2E44"/>
          </a:solidFill>
          <a:ln w="19050">
            <a:solidFill>
              <a:srgbClr val="3344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371600"/>
            <a:ext cx="1636776" cy="3118104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1371600"/>
            <a:ext cx="1636776" cy="20116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80744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67512" y="1645920"/>
            <a:ext cx="1078992" cy="1078992"/>
          </a:xfrm>
          <a:prstGeom prst="ellipse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865376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7512" y="228600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29768" y="2834640"/>
            <a:ext cx="566928" cy="16459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" y="28346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1: 62%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29768" y="3090672"/>
            <a:ext cx="438912" cy="16459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" y="30906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2: 38%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29768" y="3346704"/>
            <a:ext cx="310896" cy="16459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" y="33467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3: 21%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29768" y="36393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29768" y="384048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Focus on capital efficiency.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29768" y="404164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Seek MINPMEESA microfinance.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29768" y="424281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Formalise bookkeeping now.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20040" y="476402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Prediction Screen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331720" y="1170432"/>
            <a:ext cx="1783080" cy="3520440"/>
          </a:xfrm>
          <a:prstGeom prst="roundRect">
            <a:avLst>
              <a:gd name="adj" fmla="val 9231"/>
            </a:avLst>
          </a:prstGeom>
          <a:solidFill>
            <a:srgbClr val="1A2E44"/>
          </a:solidFill>
          <a:ln w="19050">
            <a:solidFill>
              <a:srgbClr val="3344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04872" y="1371600"/>
            <a:ext cx="1636776" cy="3118104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04872" y="1371600"/>
            <a:ext cx="1636776" cy="20116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1380744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Form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441448" y="162763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Name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441448" y="1810512"/>
            <a:ext cx="1572768" cy="182880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41448" y="206654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/ Industry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441448" y="2249424"/>
            <a:ext cx="1572768" cy="182880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41448" y="250545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441448" y="2688336"/>
            <a:ext cx="1572768" cy="182880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41448" y="294436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(CFA Francs)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441448" y="3127248"/>
            <a:ext cx="1572768" cy="182880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41448" y="338328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Employees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441448" y="3566160"/>
            <a:ext cx="1572768" cy="182880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41448" y="382219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441448" y="4005072"/>
            <a:ext cx="1572768" cy="182880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41448" y="4315968"/>
            <a:ext cx="1572768" cy="237744"/>
          </a:xfrm>
          <a:prstGeom prst="roundRect">
            <a:avLst>
              <a:gd name="adj" fmla="val 19231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41448" y="431596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My Business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331720" y="476402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Form Screen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343400" y="1170432"/>
            <a:ext cx="4663440" cy="3520440"/>
          </a:xfrm>
          <a:prstGeom prst="roundRect">
            <a:avLst>
              <a:gd name="adj" fmla="val 2597"/>
            </a:avLst>
          </a:prstGeom>
          <a:solidFill>
            <a:srgbClr val="1A2E44"/>
          </a:solidFill>
          <a:ln w="19050">
            <a:solidFill>
              <a:srgbClr val="33446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79976" y="1207008"/>
            <a:ext cx="4590288" cy="292608"/>
          </a:xfrm>
          <a:prstGeom prst="rect">
            <a:avLst/>
          </a:prstGeom>
          <a:solidFill>
            <a:srgbClr val="253550"/>
          </a:solidFill>
          <a:ln w="12700">
            <a:solidFill>
              <a:srgbClr val="2535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34840" y="1261872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36008" y="1261872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37176" y="1261872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56632" y="1261872"/>
            <a:ext cx="3291840" cy="128016"/>
          </a:xfrm>
          <a:prstGeom prst="roundRect">
            <a:avLst>
              <a:gd name="adj" fmla="val 28571"/>
            </a:avLst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4920" y="1261872"/>
            <a:ext cx="3255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bizsense-os.vercel.app / dashboard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4379976" y="1499616"/>
            <a:ext cx="4590288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79976" y="1499616"/>
            <a:ext cx="749808" cy="3154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79976" y="1664208"/>
            <a:ext cx="749808" cy="34747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98264" y="16642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398264" y="2139696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398264" y="261518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398264" y="309067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398264" y="356616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202936" y="1572768"/>
            <a:ext cx="859536" cy="548640"/>
          </a:xfrm>
          <a:prstGeom prst="roundRect">
            <a:avLst>
              <a:gd name="adj" fmla="val 8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02936" y="16093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5202936" y="192024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144768" y="1572768"/>
            <a:ext cx="859536" cy="548640"/>
          </a:xfrm>
          <a:prstGeom prst="roundRect">
            <a:avLst>
              <a:gd name="adj" fmla="val 8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44768" y="16093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6144768" y="192024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086600" y="1572768"/>
            <a:ext cx="859536" cy="548640"/>
          </a:xfrm>
          <a:prstGeom prst="roundRect">
            <a:avLst>
              <a:gd name="adj" fmla="val 8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86600" y="16093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7086600" y="192024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028432" y="1572768"/>
            <a:ext cx="859536" cy="548640"/>
          </a:xfrm>
          <a:prstGeom prst="roundRect">
            <a:avLst>
              <a:gd name="adj" fmla="val 8333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028432" y="160934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69" name="Text 67"/>
          <p:cNvSpPr/>
          <p:nvPr/>
        </p:nvSpPr>
        <p:spPr>
          <a:xfrm>
            <a:off x="8028432" y="192024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5202936" y="2194560"/>
            <a:ext cx="932688" cy="20116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02936" y="219456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Name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6144768" y="2194560"/>
            <a:ext cx="932688" cy="20116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44768" y="219456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7086600" y="2194560"/>
            <a:ext cx="932688" cy="20116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086600" y="219456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8028432" y="2194560"/>
            <a:ext cx="932688" cy="20116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028432" y="219456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5202936" y="2395728"/>
            <a:ext cx="9326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202936" y="239572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Douala Fashion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144768" y="2395728"/>
            <a:ext cx="9326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44768" y="239572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7086600" y="2395728"/>
            <a:ext cx="932688" cy="310896"/>
          </a:xfrm>
          <a:prstGeom prst="rect">
            <a:avLst/>
          </a:prstGeom>
          <a:solidFill>
            <a:srgbClr val="DC2626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086600" y="239572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8028432" y="2395728"/>
            <a:ext cx="9326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028432" y="239572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202936" y="2743200"/>
            <a:ext cx="932688" cy="310896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202936" y="2743200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Yaounde Bakes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144768" y="2743200"/>
            <a:ext cx="932688" cy="310896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144768" y="2743200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086600" y="2743200"/>
            <a:ext cx="932688" cy="310896"/>
          </a:xfrm>
          <a:prstGeom prst="rect">
            <a:avLst/>
          </a:prstGeom>
          <a:solidFill>
            <a:srgbClr val="059669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086600" y="2743200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8028432" y="2743200"/>
            <a:ext cx="932688" cy="310896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028432" y="2743200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202936" y="3090672"/>
            <a:ext cx="9326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202936" y="309067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Solutions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6144768" y="3090672"/>
            <a:ext cx="9326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144768" y="309067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7086600" y="3090672"/>
            <a:ext cx="932688" cy="310896"/>
          </a:xfrm>
          <a:prstGeom prst="rect">
            <a:avLst/>
          </a:prstGeom>
          <a:solidFill>
            <a:srgbClr val="DC2626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086600" y="309067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8028432" y="3090672"/>
            <a:ext cx="9326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028432" y="309067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5202936" y="3438144"/>
            <a:ext cx="932688" cy="310896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202936" y="3438144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Bamenda Crafts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144768" y="3438144"/>
            <a:ext cx="932688" cy="310896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144768" y="3438144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Crafts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7086600" y="3438144"/>
            <a:ext cx="932688" cy="310896"/>
          </a:xfrm>
          <a:prstGeom prst="rect">
            <a:avLst/>
          </a:prstGeom>
          <a:solidFill>
            <a:srgbClr val="059669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086600" y="3438144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8028432" y="3438144"/>
            <a:ext cx="932688" cy="310896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028432" y="3438144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5202936" y="38221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Distribution by Sector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5202936" y="3981298"/>
            <a:ext cx="694944" cy="37124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202936" y="43891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6071616" y="4087368"/>
            <a:ext cx="694944" cy="2651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071616" y="43891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6940296" y="4166921"/>
            <a:ext cx="694944" cy="185623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940296" y="43891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808976" y="4113886"/>
            <a:ext cx="694944" cy="23865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808976" y="43891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Crafts</a:t>
            </a:r>
            <a:endParaRPr lang="en-US" sz="650" dirty="0"/>
          </a:p>
        </p:txBody>
      </p:sp>
      <p:sp>
        <p:nvSpPr>
          <p:cNvPr id="119" name="Text 117"/>
          <p:cNvSpPr/>
          <p:nvPr/>
        </p:nvSpPr>
        <p:spPr>
          <a:xfrm>
            <a:off x="4343400" y="474573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— Business Overview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182880" y="489204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Operations Suite  |  CLOVIS TUMASANG  |  University of Buea  |  2026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Delivers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E3A52"/>
          </a:solidFill>
          <a:ln w="1905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8988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1579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4505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discriminative power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46120" y="1261872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E3A52"/>
          </a:solidFill>
          <a:ln w="19050">
            <a:solidFill>
              <a:srgbClr val="0EA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38988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337560" y="21579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4505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isotonic calibration (was 0.18)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E3A52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38988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263640" y="21579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24505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precision-recall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980944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E3A52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0896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70.4%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411480" y="38770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Match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1696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19/27 survey firms correctly labelled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46120" y="2980944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E3A52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10896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43ms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3337560" y="38770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Latency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41696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847ms cold (20x improvement)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72200" y="2980944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E3A52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10896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1.8s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6263640" y="38770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LLM Response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41696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 advisory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82880" y="489204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Operations Suite  |  CLOVIS TUMASANG  |  University of Buea  |  2026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TESTING &amp; VALIDATION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475488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Testing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024128"/>
            <a:ext cx="859536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207008"/>
            <a:ext cx="8686800" cy="1115568"/>
          </a:xfrm>
          <a:prstGeom prst="roundRect">
            <a:avLst>
              <a:gd name="adj" fmla="val 6557"/>
            </a:avLst>
          </a:prstGeom>
          <a:solidFill>
            <a:srgbClr val="EEF3F8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207008"/>
            <a:ext cx="73152" cy="111556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16736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98448" y="12984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160934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pytest 8.1.0   ·   18.4s total runtime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98448" y="182880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endpoints, ML inference, JWT auth, Redis cache, SHAP output, survival curve generation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" y="2441448"/>
            <a:ext cx="86868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2441448"/>
            <a:ext cx="73152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51176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57200" y="31729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98448" y="25328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98448" y="284378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pytest + httpx   ·   Full pipeline coverage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98448" y="30632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flows: register → assess → predict → advisory → PDF. Database state verified at each step.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" y="3675888"/>
            <a:ext cx="8686800" cy="1115568"/>
          </a:xfrm>
          <a:prstGeom prst="roundRect">
            <a:avLst>
              <a:gd name="adj" fmla="val 6557"/>
            </a:avLst>
          </a:prstGeom>
          <a:solidFill>
            <a:srgbClr val="EEF3F8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3675888"/>
            <a:ext cx="73152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85616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457200" y="44074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98448" y="37673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Tests (E2E)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98448" y="407822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Playwright   ·   Cross-browser coverage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98448" y="42976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 of login, form submission, risk view, report download across Chrome, Firefox, mobile viewport.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2608" y="4864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validation: 70.4% match rate across 27 survey respondents collected in field interviews across Buea, Douala, and Yaounde.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Operations Suite  |  CLOVIS TUMASANG  |  University of Buea  |  2026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CHALLENGES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475488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Encountered &amp; Solutions Applied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92608" y="1024128"/>
            <a:ext cx="859536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170432"/>
            <a:ext cx="4297680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45152" y="1170432"/>
            <a:ext cx="4343400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8304" y="117043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Solved 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1517904"/>
            <a:ext cx="4297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1517904"/>
            <a:ext cx="43434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517904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— only 17.7% survival rate in training data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36592" y="1517904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weighting: primary survey firms weighted 10x, World Bank firms 15x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" y="2194560"/>
            <a:ext cx="4297680" cy="621792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45152" y="2194560"/>
            <a:ext cx="4343400" cy="621792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19456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Cameroonian SME data is scarce — no single public dataset available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36592" y="2194560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Three-source composite: MINPMEESA-calibrated + primary survey + World Bank microdata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" y="2871216"/>
            <a:ext cx="4297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45152" y="2871216"/>
            <a:ext cx="43434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871216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 latency (up to 4s) degrading user experience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36592" y="2871216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 cache-aside with 3600s TTL reduced repeated queries to 43ms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2608" y="3547872"/>
            <a:ext cx="4297680" cy="621792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45152" y="3547872"/>
            <a:ext cx="4343400" cy="621792"/>
          </a:xfrm>
          <a:prstGeom prst="rect">
            <a:avLst/>
          </a:prstGeom>
          <a:solidFill>
            <a:srgbClr val="EEF3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54787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overconfidence — raw probabilities poorly calibrated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36592" y="3547872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calibration via sklearn CalibratedClassifierCV: Brier improved 0.18 to 0.14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92608" y="4224528"/>
            <a:ext cx="4297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45152" y="4224528"/>
            <a:ext cx="43434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22452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reference implementation for Cameroonian context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36592" y="4224528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first principles; validated against 27 real SMEs in field interviews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2880" y="489204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Operations Suite  |  CLOVIS TUMASANG  |  University of Buea  |  2026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DISCUSSION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475488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Results Mean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92608" y="1024128"/>
            <a:ext cx="859536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1155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" y="1517904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517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ensemble (LightGBM + CatBoost) outperformed every individual model tested. Soft-voting with equal weights was optimal — hard voting degraded recall on the minority class.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" y="226771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212848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calibration was essential. Raw probabilities from both models were poorly calibrated; post-hoc calibration reduced Brier score from 0.18 to 0.14.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" y="3017520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962656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70.4% real-world match rate (19/27 firms) validates that MINPMEESA-calibrated training data transfers to real Cameroonian firms — confirming the dataset strategy.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3767328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712464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delivered a 20x latency improvement (43ms vs 847ms), making the platform viable on low-bandwidth connections common in Cameroon.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115568"/>
            <a:ext cx="4315968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170432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to Acknowledge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508760"/>
            <a:ext cx="4315968" cy="749808"/>
          </a:xfrm>
          <a:prstGeom prst="roundRect">
            <a:avLst>
              <a:gd name="adj" fmla="val 9756"/>
            </a:avLst>
          </a:prstGeom>
          <a:solidFill>
            <a:srgbClr val="FEF3C7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56362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primary survey (27 firms)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73168" y="180136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sampling — Buea, Douala, Yaounde only. Results may not generalise to rural SMEs.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2331720"/>
            <a:ext cx="4315968" cy="749808"/>
          </a:xfrm>
          <a:prstGeom prst="roundRect">
            <a:avLst>
              <a:gd name="adj" fmla="val 9756"/>
            </a:avLst>
          </a:prstGeom>
          <a:solidFill>
            <a:srgbClr val="FEF3C7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23865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MINPMEESA data not publicly downloadable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73168" y="262432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from published sector statistics, not raw administrative records. Weight strategy mitigates but does not eliminate this.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3154680"/>
            <a:ext cx="4315968" cy="749808"/>
          </a:xfrm>
          <a:prstGeom prst="roundRect">
            <a:avLst>
              <a:gd name="adj" fmla="val 9756"/>
            </a:avLst>
          </a:prstGeom>
          <a:solidFill>
            <a:srgbClr val="FEF3C7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320954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longitudinal follow-up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73168" y="344728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validation is cross-sectional (one-time interview). Long-term survival tracking not yet possible.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977640"/>
            <a:ext cx="4315968" cy="749808"/>
          </a:xfrm>
          <a:prstGeom prst="roundRect">
            <a:avLst>
              <a:gd name="adj" fmla="val 9756"/>
            </a:avLst>
          </a:prstGeom>
          <a:solidFill>
            <a:srgbClr val="FEF3C7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40325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advisory not clinically validated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73168" y="427024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advisory quality is assessed structurally (JSON schema, tone) not empirically against expert business consultants.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82880" y="489204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Operations Suite  |  CLOVIS TUMASANG  |  University of Buea  |  2026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CONCLUSIONS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475488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Work Achieved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92608" y="1024128"/>
            <a:ext cx="859536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207008"/>
            <a:ext cx="4261104" cy="1664208"/>
          </a:xfrm>
          <a:prstGeom prst="roundRect">
            <a:avLst>
              <a:gd name="adj" fmla="val 4396"/>
            </a:avLst>
          </a:prstGeom>
          <a:solidFill>
            <a:srgbClr val="EEF3F8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207008"/>
            <a:ext cx="73152" cy="166420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16736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129844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ML model for Cameroonian SMEs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00784"/>
            <a:ext cx="4005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LightGBM + CatBoost ensemble achieved AUC-ROC 0.83 and 70.4% real-world match, proving that machine learning can be trained on local administrative data to accurately classify SME risk in Cameroon.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18304" y="1207008"/>
            <a:ext cx="4261104" cy="1664208"/>
          </a:xfrm>
          <a:prstGeom prst="roundRect">
            <a:avLst>
              <a:gd name="adj" fmla="val 4396"/>
            </a:avLst>
          </a:prstGeom>
          <a:solidFill>
            <a:srgbClr val="EEF3F8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18304" y="1207008"/>
            <a:ext cx="73152" cy="16642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1316736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29844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analysis adds temporal dimension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82896" y="1700784"/>
            <a:ext cx="4005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Proportional Hazards modelling provides 1-year, 2-year, and 3-year survival probabilities alongside median time-to-failure estimates — giving business owners a time horizon, not just a label.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" y="3017520"/>
            <a:ext cx="4261104" cy="1664208"/>
          </a:xfrm>
          <a:prstGeom prst="roundRect">
            <a:avLst>
              <a:gd name="adj" fmla="val 4396"/>
            </a:avLst>
          </a:prstGeom>
          <a:solidFill>
            <a:srgbClr val="EEF3F8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3017520"/>
            <a:ext cx="73152" cy="16642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2724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9264" y="310896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advisory closes the last mile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511296"/>
            <a:ext cx="4005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 generates structured, contextual advisory reports in under 2 seconds, translating statistical output into plain business language accessible to non-technical SME owners.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18304" y="3017520"/>
            <a:ext cx="4261104" cy="1664208"/>
          </a:xfrm>
          <a:prstGeom prst="roundRect">
            <a:avLst>
              <a:gd name="adj" fmla="val 4396"/>
            </a:avLst>
          </a:prstGeom>
          <a:solidFill>
            <a:srgbClr val="EEF3F8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18304" y="3017520"/>
            <a:ext cx="73152" cy="1664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312724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310896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platform, not a prototype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82896" y="3511296"/>
            <a:ext cx="4005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unit tests, 8 integration sequences, 8 Playwright E2E tests, Docker CI/CD, Redis caching, JWT security — BizSense OS is a deployable, tested full-stack product.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82880" y="489204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Operations Suite  |  CLOVIS TUMASANG  |  University of Buea  |  2026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FUTURE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475488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Where BizSense OS Goes Next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1024128"/>
            <a:ext cx="859536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207008"/>
            <a:ext cx="4261104" cy="1152144"/>
          </a:xfrm>
          <a:prstGeom prst="roundRect">
            <a:avLst>
              <a:gd name="adj" fmla="val 6349"/>
            </a:avLst>
          </a:prstGeom>
          <a:solidFill>
            <a:srgbClr val="EEF3F8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" y="129844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2984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9536" y="129844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MINPMEESA API integration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0624" y="1627632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MINPMEESA for live sector-level data ingestion to continuously refresh training distributions as market conditions change.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18304" y="1207008"/>
            <a:ext cx="4261104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29844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2984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285232" y="129844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primary survey to 200+ firms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1627632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geographic coverage to include Ngaoundere, Garoua, and Bafoussam. Target 200 interviews to improve minority-class representation.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2487168"/>
            <a:ext cx="4261104" cy="1152144"/>
          </a:xfrm>
          <a:prstGeom prst="roundRect">
            <a:avLst>
              <a:gd name="adj" fmla="val 6349"/>
            </a:avLst>
          </a:prstGeom>
          <a:solidFill>
            <a:srgbClr val="EEF3F8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" y="257860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5786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59536" y="257860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cohort study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0624" y="2907792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27 survey firms over 24 months to ground-truth the Cox PH survival predictions and validate the time-to-failure estimates.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18304" y="2487168"/>
            <a:ext cx="4261104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257860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5786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285232" y="257860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 expansion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2907792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the feature engineering pipeline to World Bank surveys from Nigeria, Ghana, and Senegal. The architecture is modular and country-agnostic.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2608" y="3767328"/>
            <a:ext cx="4261104" cy="1152144"/>
          </a:xfrm>
          <a:prstGeom prst="roundRect">
            <a:avLst>
              <a:gd name="adj" fmla="val 6349"/>
            </a:avLst>
          </a:prstGeom>
          <a:solidFill>
            <a:srgbClr val="EEF3F8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2336" y="385876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8587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9536" y="385876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Microfinance institution (MFI) partnerships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0624" y="4187952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risk API access to MFIs for data-driven SME loan scoring, creating a sustainable revenue model and direct impact pathway.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18304" y="3767328"/>
            <a:ext cx="4261104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28032" y="385876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8587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85232" y="385876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LLM on local business language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0" y="4187952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bilingual (French/English) Cameroonian business advisory data to fine-tune a smaller, locally-hosted LLM for offline advisory capability.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82880" y="489204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BizSense Operations Suite  |  CLOVIS TUMASANG  |  University of Buea  |  2026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2487168"/>
            <a:ext cx="640080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3218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12848" y="2651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70.4%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12848" y="3218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77056" y="2651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877056" y="3218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Presented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541264" y="2651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~15K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541264" y="3218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205472" y="2651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05472" y="3218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Tables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371600" y="3566160"/>
            <a:ext cx="6400800" cy="1645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30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CLOVIS TUMASANG  ·  CT24A440  ·  Computer Engineering  ·  University of Buea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041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Mr. Anumoh Micheal  ·  HOD: Prof. Bertrand Moffo Lanla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junioragbor021@gmail.com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BizSense OS — BTech Final Year Defense</dc:subject>
  <dc:creator>CLOVIS TUMASANG</dc:creator>
  <cp:lastModifiedBy>CLOVIS TUMASANG</cp:lastModifiedBy>
  <cp:revision>1</cp:revision>
  <dcterms:created xsi:type="dcterms:W3CDTF">2026-06-15T05:52:34Z</dcterms:created>
  <dcterms:modified xsi:type="dcterms:W3CDTF">2026-06-15T05:52:34Z</dcterms:modified>
</cp:coreProperties>
</file>