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ROC Curve — Ensemble Classifier</a:t>
            </a:r>
          </a:p>
        </c:rich>
      </c:tx>
      <c:layout/>
      <c:overlay val="0"/>
    </c:title>
    <c:autoTitleDeleted val="0"/>
    <c:plotArea>
      <c:layout/>
      <c:lineChart>
        <c:varyColors val="0"/>
        <c:ser>
          <c:idx val="0"/>
          <c:order val="0"/>
          <c:tx>
            <c:strRef>
              <c:f>Sheet1!$B$1</c:f>
              <c:strCache>
                <c:ptCount val="1"/>
                <c:pt idx="0">
                  <c:v>Ensemble (AUC=0.83)</c:v>
                </c:pt>
              </c:strCache>
            </c:strRef>
          </c:tx>
          <c:spPr>
            <a:solidFill>
              <a:srgbClr val="0D7C8F"/>
            </a:solidFill>
            <a:ln w="31750" cap="flat">
              <a:solidFill>
                <a:srgbClr val="0D7C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D7C8F"/>
              </a:solidFill>
              <a:ln w="9525" cap="flat">
                <a:solidFill>
                  <a:srgbClr val="0D7C8F"/>
                </a:solidFill>
                <a:prstDash val="solid"/>
                <a:round/>
              </a:ln>
              <a:effectLst/>
            </c:spPr>
          </c:marker>
          <c:cat>
            <c:multiLvlStrRef>
              <c:f>Sheet1!$A$2:$A$12</c:f>
              <c:multiLvlStrCache>
                <c:ptCount val="11"/>
                <c:lvl>
                  <c:pt idx="0">
                    <c:v>0.0</c:v>
                  </c:pt>
                  <c:pt idx="1">
                    <c:v>0.1</c:v>
                  </c:pt>
                  <c:pt idx="2">
                    <c:v>0.2</c:v>
                  </c:pt>
                  <c:pt idx="3">
                    <c:v>0.3</c:v>
                  </c:pt>
                  <c:pt idx="4">
                    <c:v>0.4</c:v>
                  </c:pt>
                  <c:pt idx="5">
                    <c:v>0.5</c:v>
                  </c:pt>
                  <c:pt idx="6">
                    <c:v>0.6</c:v>
                  </c:pt>
                  <c:pt idx="7">
                    <c:v>0.7</c:v>
                  </c:pt>
                  <c:pt idx="8">
                    <c:v>0.8</c:v>
                  </c:pt>
                  <c:pt idx="9">
                    <c:v>0.9</c:v>
                  </c:pt>
                  <c:pt idx="10">
                    <c:v>1.0</c:v>
                  </c:pt>
                </c:lvl>
              </c:multiLvlStrCache>
            </c:multiLvlStrRef>
          </c:cat>
          <c:val>
            <c:numRef>
              <c:f>Sheet1!$B$2:$B$12</c:f>
              <c:numCache>
                <c:formatCode>General</c:formatCode>
                <c:ptCount val="11"/>
                <c:pt idx="0">
                  <c:v>0</c:v>
                </c:pt>
                <c:pt idx="1">
                  <c:v>0.32</c:v>
                </c:pt>
                <c:pt idx="2">
                  <c:v>0.51</c:v>
                </c:pt>
                <c:pt idx="3">
                  <c:v>0.63</c:v>
                </c:pt>
                <c:pt idx="4">
                  <c:v>0.72</c:v>
                </c:pt>
                <c:pt idx="5">
                  <c:v>0.79</c:v>
                </c:pt>
                <c:pt idx="6">
                  <c:v>0.85</c:v>
                </c:pt>
                <c:pt idx="7">
                  <c:v>0.9</c:v>
                </c:pt>
                <c:pt idx="8">
                  <c:v>0.94</c:v>
                </c:pt>
                <c:pt idx="9">
                  <c:v>0.97</c:v>
                </c:pt>
                <c:pt idx="10">
                  <c:v>1</c:v>
                </c:pt>
              </c:numCache>
            </c:numRef>
          </c:val>
          <c:smooth val="0"/>
        </c:ser>
        <c:ser>
          <c:idx val="1"/>
          <c:order val="1"/>
          <c:tx>
            <c:strRef>
              <c:f>Sheet1!$C$1</c:f>
              <c:strCache>
                <c:ptCount val="1"/>
                <c:pt idx="0">
                  <c:v>Random (AUC=0.50)</c:v>
                </c:pt>
              </c:strCache>
            </c:strRef>
          </c:tx>
          <c:spPr>
            <a:solidFill>
              <a:srgbClr val="CCCCCC"/>
            </a:solidFill>
            <a:ln w="31750" cap="flat">
              <a:solidFill>
                <a:srgbClr val="CCCCC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CCCCC"/>
              </a:solidFill>
              <a:ln w="9525" cap="flat">
                <a:solidFill>
                  <a:srgbClr val="CCCCCC"/>
                </a:solidFill>
                <a:prstDash val="solid"/>
                <a:round/>
              </a:ln>
              <a:effectLst/>
            </c:spPr>
          </c:marker>
          <c:cat>
            <c:multiLvlStrRef>
              <c:f>Sheet1!$A$2:$A$12</c:f>
              <c:multiLvlStrCache>
                <c:ptCount val="11"/>
                <c:lvl>
                  <c:pt idx="0">
                    <c:v>0.0</c:v>
                  </c:pt>
                  <c:pt idx="1">
                    <c:v>0.1</c:v>
                  </c:pt>
                  <c:pt idx="2">
                    <c:v>0.2</c:v>
                  </c:pt>
                  <c:pt idx="3">
                    <c:v>0.3</c:v>
                  </c:pt>
                  <c:pt idx="4">
                    <c:v>0.4</c:v>
                  </c:pt>
                  <c:pt idx="5">
                    <c:v>0.5</c:v>
                  </c:pt>
                  <c:pt idx="6">
                    <c:v>0.6</c:v>
                  </c:pt>
                  <c:pt idx="7">
                    <c:v>0.7</c:v>
                  </c:pt>
                  <c:pt idx="8">
                    <c:v>0.8</c:v>
                  </c:pt>
                  <c:pt idx="9">
                    <c:v>0.9</c:v>
                  </c:pt>
                  <c:pt idx="10">
                    <c:v>1.0</c:v>
                  </c:pt>
                </c:lvl>
              </c:multiLvlStrCache>
            </c:multiLvlStrRef>
          </c:cat>
          <c:val>
            <c:numRef>
              <c:f>Sheet1!$C$2:$C$12</c:f>
              <c:numCache>
                <c:formatCode>General</c:formatCode>
                <c:ptCount val="11"/>
                <c:pt idx="0">
                  <c:v>0</c:v>
                </c:pt>
                <c:pt idx="1">
                  <c:v>0.1</c:v>
                </c:pt>
                <c:pt idx="2">
                  <c:v>0.2</c:v>
                </c:pt>
                <c:pt idx="3">
                  <c:v>0.3</c:v>
                </c:pt>
                <c:pt idx="4">
                  <c:v>0.4</c:v>
                </c:pt>
                <c:pt idx="5">
                  <c:v>0.5</c:v>
                </c:pt>
                <c:pt idx="6">
                  <c:v>0.6</c:v>
                </c:pt>
                <c:pt idx="7">
                  <c:v>0.7</c:v>
                </c:pt>
                <c:pt idx="8">
                  <c:v>0.8</c:v>
                </c:pt>
                <c:pt idx="9">
                  <c:v>0.9</c:v>
                </c:pt>
                <c:pt idx="10">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506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506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Testing Results — All Tests Passing</a:t>
            </a:r>
          </a:p>
        </c:rich>
      </c:tx>
      <c:layout/>
      <c:overlay val="0"/>
    </c:title>
    <c:autoTitleDeleted val="0"/>
    <c:plotArea>
      <c:layout/>
      <c:barChart>
        <c:barDir val="col"/>
        <c:grouping val="clustered"/>
        <c:varyColors val="0"/>
        <c:ser>
          <c:idx val="0"/>
          <c:order val="0"/>
          <c:tx>
            <c:strRef>
              <c:f>Sheet1!$B$1</c:f>
              <c:strCache>
                <c:ptCount val="1"/>
                <c:pt idx="0">
                  <c:v>Tests Passed</c:v>
                </c:pt>
              </c:strCache>
            </c:strRef>
          </c:tx>
          <c:spPr>
            <a:solidFill>
              <a:srgbClr val="0D7C8F"/>
            </a:solidFill>
            <a:effectLst/>
          </c:spPr>
          <c:invertIfNegative val="0"/>
          <c:dLbls>
            <c:numFmt formatCode="#,##0" sourceLinked="0"/>
            <c:txPr>
              <a:bodyPr/>
              <a:lstStyle/>
              <a:p>
                <a:pPr>
                  <a:defRPr b="0" i="0" strike="noStrike" sz="1200" u="none">
                    <a:solidFill>
                      <a:srgbClr val="0F1F2E"/>
                    </a:solidFill>
                    <a:latin typeface="Arial"/>
                  </a:defRPr>
                </a:pPr>
              </a:p>
            </c:txPr>
            <c:showLegendKey val="0"/>
            <c:showVal val="1"/>
            <c:showCatName val="0"/>
            <c:showSerName val="0"/>
            <c:showPercent val="0"/>
            <c:showBubbleSize val="0"/>
            <c:showLeaderLines val="0"/>
          </c:dLbls>
          <c:cat>
            <c:multiLvlStrRef>
              <c:f>Sheet1!$A$2:$A$4</c:f>
              <c:multiLvlStrCache>
                <c:ptCount val="3"/>
                <c:lvl>
                  <c:pt idx="0">
                    <c:v>Unit Tests</c:v>
                  </c:pt>
                  <c:pt idx="1">
                    <c:v>Integration
Sequences</c:v>
                  </c:pt>
                  <c:pt idx="2">
                    <c:v>System Tests
(Playwright)</c:v>
                  </c:pt>
                </c:lvl>
              </c:multiLvlStrCache>
            </c:multiLvlStrRef>
          </c:cat>
          <c:val>
            <c:numRef>
              <c:f>Sheet1!$B$2:$B$4</c:f>
              <c:numCache>
                <c:formatCode>General</c:formatCode>
                <c:ptCount val="3"/>
                <c:pt idx="0">
                  <c:v>42</c:v>
                </c:pt>
                <c:pt idx="1">
                  <c:v>8</c:v>
                </c:pt>
                <c:pt idx="2">
                  <c:v>8</c:v>
                </c:pt>
              </c:numCache>
            </c:numRef>
          </c:val>
        </c:ser>
        <c:dLbls>
          <c:numFmt formatCode="#,##0" sourceLinked="0"/>
          <c:txPr>
            <a:bodyPr/>
            <a:lstStyle/>
            <a:p>
              <a:pPr>
                <a:defRPr b="0" i="0" strike="noStrike" sz="1200" u="none">
                  <a:solidFill>
                    <a:srgbClr val="0F1F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506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506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introduce yourself. Briefly state the title and the core problem being solved: SME failure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structure. This shows them what to expect and sets the logical flow of the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high failure rate — 94.6% — as the central motivation. Note that the problem is not unique to one city; it spans all major economic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PROBLEM is not just high failure rates — it is the absence of accessible, predictive, locally calibrated tools. That is the gap BizSense OS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specific objective. These map directly to Chapter 4 results — you will confirm every single one was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questions map onto the five specific objectives. If the examiner asks 'did you answer your research questions?' — go back to Slide 15-16 and match each RQ to its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PRACTICAL impact. The examiner will ask 'who benefits?' — be ready with concrete answers for all three stakeholder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concept maps directly to a component in the system. Mention the key citations: Cox (1972), Ke et al. (2017), Prokhorenkova et al. (2018), Lundberg &amp; Lee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framework top to bottom: raw data flows into feature engineering, then into three parallel model outputs, all synthesised by the LLM into the final advisory report delivered to the entrepreneur.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2.1 from the report. The ✗ marks identify the gaps BizSense OS fills. The examiner may probe this — be ready to say exactly which dimension is unique about your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Agile was chosen because requirements evolved — especially in the ML pipeline and LLM integration. 8 phases over 22 weeks. Each sprint delivered a verified working increment.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training dataset: 16,242 records with differential sample weights. The weights reflect empirical reliability — real survey responses get 10x weight; World Bank microdata gets 15x.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triangulation: three independent sources with different weights validate each other. The 27 real responses are the ground-truth anchor — the system correctly classified 19 of them (70.4% match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tiers: (1) Client layer — React Native mobile app and Next.js web dashboard both communicate over HTTPS with JWT tokens. (2) API/Cache layer — FastAPI handles all business logic; Redis intercepts repeat prediction requests saving 804ms per call. (3) Intelligence layer — the three ML models run sequentially server-side; Groq is called last to synthesise all three outputs into a plain-language advisory. (4) Data layer — Supabase stores all persistent state with row-level security ensuring users can only see their own business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data flow: a User (SME owner) registers and creates one or more Business profiles. Each Business can have multiple Assessments submitted over time. Each Assessment triggers exactly one Prediction (all three models run together). Each Prediction then generates exactly one Advisory Report via Groq. The PDF URL stored in advisory_reports is what gets served to the mobile and web clients for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diagram shows two human actors — the SME Owner (primary user) and the Platform Admin — plus one system actor (auto-cache). All use cases requiring data access are protected by the JWT authentication flow. The admin use cases are access-controlled at the API level via the role field in the users table. 'Auto-Cache Prediction' runs transparently: when an assessment is submitted and no cache hit exists, FastAPI stores the full prediction result in Redis with a 1-hour 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API structure: every prediction request first hits Redis with a hash of the assessment inputs as the cache key. On cache miss, all three ML models run in parallel, Groq is called last with the combined outputs, and the full result is stored in Redis with a 1-hour TTL. The 9 endpoints correspond to the use cases shown in the previous slide. Mention that all endpoints except /auth/* require a valid JWT Bearer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wireframe-accurate mockups of the deployed application screens. Screen 1 (left phone): shows the risk prediction result with a circular gauge, the 3-year survival bar chart, and the AI advisory summary. Screen 2 (centre phone): the assessment input form that collects 12 business attributes. Web dashboard (right): the admin overview showing KPI cards, the business risk table, and the sector distribution chart. The actual mobile app is distributed via Expo EAS Build; the web dashboard is deployed on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all three models serve complementary purposes: the ensemble gives the probability, the Cox PH gives the timeline, and XGBoost + SHAP gives the financial context. Groq synthesises all three into the advisory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AUC-ROC of 0.83 is a strong result for a dataset with only 17.7% positive class. Emphasise that without calibration, overconfident predictions would mislead entrepreneurs about their true risk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20x cache improvement is one of the most tangible engineering achievements. Also highlight that all 58 tests passed — this demonstrates rigorous quality assurance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you connect results back to literature. Be ready for the examiner to ask: 'How do your findings compare to existing work?' Reference Cox (1972), Ke et al. (2017), Lundberg &amp; Lee (2017)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defense narrative here. The limitations define the roadmap. If the examiner asks 'what would you do differently?' — mention getting more real survey responses and doing user acceptance testing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to questions. Common questions: 1. Why Groq over other LLM providers? 2. How did you handle class imbalance? 3. What is the OS in BizSense OS? (Operations Suite) 4. Can this scale to other African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1.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0-1.png"/><Relationship Id="rId3" Type="http://schemas.openxmlformats.org/officeDocument/2006/relationships/image" Target="../media/image-20-2.png"/><Relationship Id="rId4" Type="http://schemas.openxmlformats.org/officeDocument/2006/relationships/image" Target="../media/image-20-3.png"/><Relationship Id="rId5" Type="http://schemas.openxmlformats.org/officeDocument/2006/relationships/image" Target="../media/image-20-4.png"/><Relationship Id="rId6" Type="http://schemas.openxmlformats.org/officeDocument/2006/relationships/image" Target="../media/image-20-5.png"/><Relationship Id="rId7" Type="http://schemas.openxmlformats.org/officeDocument/2006/relationships/image" Target="../media/image-20-6.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1-1.png"/><Relationship Id="rId3" Type="http://schemas.openxmlformats.org/officeDocument/2006/relationships/image" Target="../media/image-21-2.png"/><Relationship Id="rId4" Type="http://schemas.openxmlformats.org/officeDocument/2006/relationships/image" Target="../media/image-21-3.png"/><Relationship Id="rId5" Type="http://schemas.openxmlformats.org/officeDocument/2006/relationships/image" Target="../media/image-21-4.png"/><Relationship Id="rId6" Type="http://schemas.openxmlformats.org/officeDocument/2006/relationships/image" Target="../media/image-21-5.png"/><Relationship Id="rId7" Type="http://schemas.openxmlformats.org/officeDocument/2006/relationships/image" Target="../media/image-21-6.png"/><Relationship Id="rId8" Type="http://schemas.openxmlformats.org/officeDocument/2006/relationships/image" Target="../media/image-21-7.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slideLayout" Target="../slideLayouts/slideLayout1.xml"/><Relationship Id="rId1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3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C0"/>
          </a:solidFill>
          <a:ln w="12700">
            <a:solidFill>
              <a:srgbClr val="0EA5C0"/>
            </a:solidFill>
            <a:prstDash val="solid"/>
          </a:ln>
        </p:spPr>
      </p:sp>
      <p:sp>
        <p:nvSpPr>
          <p:cNvPr id="3" name="Shape 1"/>
          <p:cNvSpPr/>
          <p:nvPr/>
        </p:nvSpPr>
        <p:spPr>
          <a:xfrm>
            <a:off x="0" y="73152"/>
            <a:ext cx="457200" cy="5070348"/>
          </a:xfrm>
          <a:prstGeom prst="rect">
            <a:avLst/>
          </a:prstGeom>
          <a:solidFill>
            <a:srgbClr val="0D7C8F"/>
          </a:solidFill>
          <a:ln w="12700">
            <a:solidFill>
              <a:srgbClr val="0D7C8F"/>
            </a:solidFill>
            <a:prstDash val="solid"/>
          </a:ln>
        </p:spPr>
      </p:sp>
      <p:sp>
        <p:nvSpPr>
          <p:cNvPr id="4" name="Shape 2"/>
          <p:cNvSpPr/>
          <p:nvPr/>
        </p:nvSpPr>
        <p:spPr>
          <a:xfrm>
            <a:off x="6858000" y="-457200"/>
            <a:ext cx="3200400" cy="3200400"/>
          </a:xfrm>
          <a:prstGeom prst="ellipse">
            <a:avLst/>
          </a:prstGeom>
          <a:solidFill>
            <a:srgbClr val="0D7C8F">
              <a:alpha val="15000"/>
            </a:srgbClr>
          </a:solidFill>
          <a:ln w="12700">
            <a:solidFill>
              <a:srgbClr val="0D7C8F">
                <a:alpha val="15000"/>
              </a:srgbClr>
            </a:solidFill>
            <a:prstDash val="solid"/>
          </a:ln>
        </p:spPr>
      </p:sp>
      <p:sp>
        <p:nvSpPr>
          <p:cNvPr id="5" name="Shape 3"/>
          <p:cNvSpPr/>
          <p:nvPr/>
        </p:nvSpPr>
        <p:spPr>
          <a:xfrm>
            <a:off x="7498080" y="2286000"/>
            <a:ext cx="2286000" cy="2286000"/>
          </a:xfrm>
          <a:prstGeom prst="ellipse">
            <a:avLst/>
          </a:prstGeom>
          <a:solidFill>
            <a:srgbClr val="06B6D4">
              <a:alpha val="10000"/>
            </a:srgbClr>
          </a:solidFill>
          <a:ln w="12700">
            <a:solidFill>
              <a:srgbClr val="06B6D4">
                <a:alpha val="10000"/>
              </a:srgbClr>
            </a:solidFill>
            <a:prstDash val="solid"/>
          </a:ln>
        </p:spPr>
      </p:sp>
      <p:sp>
        <p:nvSpPr>
          <p:cNvPr id="6" name="Shape 4"/>
          <p:cNvSpPr/>
          <p:nvPr/>
        </p:nvSpPr>
        <p:spPr>
          <a:xfrm>
            <a:off x="685800" y="685800"/>
            <a:ext cx="2011680" cy="292608"/>
          </a:xfrm>
          <a:prstGeom prst="rect">
            <a:avLst/>
          </a:prstGeom>
          <a:solidFill>
            <a:srgbClr val="0D7C8F"/>
          </a:solidFill>
          <a:ln w="12700">
            <a:solidFill>
              <a:srgbClr val="0D7C8F"/>
            </a:solidFill>
            <a:prstDash val="solid"/>
          </a:ln>
        </p:spPr>
      </p:sp>
      <p:sp>
        <p:nvSpPr>
          <p:cNvPr id="7" name="Text 5"/>
          <p:cNvSpPr/>
          <p:nvPr/>
        </p:nvSpPr>
        <p:spPr>
          <a:xfrm>
            <a:off x="685800" y="68580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BTech Final Year Project</a:t>
            </a:r>
            <a:endParaRPr lang="en-US" sz="900" dirty="0"/>
          </a:p>
        </p:txBody>
      </p:sp>
      <p:pic>
        <p:nvPicPr>
          <p:cNvPr id="8" name="Image 0" descr="preencoded.png">    </p:cNvPr>
          <p:cNvPicPr>
            <a:picLocks noChangeAspect="1"/>
          </p:cNvPicPr>
          <p:nvPr/>
        </p:nvPicPr>
        <p:blipFill>
          <a:blip r:embed="rId1"/>
          <a:stretch>
            <a:fillRect/>
          </a:stretch>
        </p:blipFill>
        <p:spPr>
          <a:xfrm>
            <a:off x="685800" y="1115568"/>
            <a:ext cx="438912" cy="438912"/>
          </a:xfrm>
          <a:prstGeom prst="rect">
            <a:avLst/>
          </a:prstGeom>
        </p:spPr>
      </p:pic>
      <p:sp>
        <p:nvSpPr>
          <p:cNvPr id="9" name="Text 6"/>
          <p:cNvSpPr/>
          <p:nvPr/>
        </p:nvSpPr>
        <p:spPr>
          <a:xfrm>
            <a:off x="685800" y="1600200"/>
            <a:ext cx="8046720" cy="65836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BizSense Operations Suite</a:t>
            </a:r>
            <a:endParaRPr lang="en-US" sz="3400" dirty="0"/>
          </a:p>
        </p:txBody>
      </p:sp>
      <p:sp>
        <p:nvSpPr>
          <p:cNvPr id="10" name="Text 7"/>
          <p:cNvSpPr/>
          <p:nvPr/>
        </p:nvSpPr>
        <p:spPr>
          <a:xfrm>
            <a:off x="685800" y="2240280"/>
            <a:ext cx="8046720" cy="365760"/>
          </a:xfrm>
          <a:prstGeom prst="rect">
            <a:avLst/>
          </a:prstGeom>
          <a:noFill/>
          <a:ln/>
        </p:spPr>
        <p:txBody>
          <a:bodyPr wrap="square" lIns="0" tIns="0" rIns="0" bIns="0" rtlCol="0" anchor="ctr"/>
          <a:lstStyle/>
          <a:p>
            <a:pPr indent="0" marL="0">
              <a:buNone/>
            </a:pPr>
            <a:r>
              <a:rPr lang="en-US" sz="2000" dirty="0">
                <a:solidFill>
                  <a:srgbClr val="06B6D4"/>
                </a:solidFill>
                <a:latin typeface="Calibri" pitchFamily="34" charset="0"/>
                <a:ea typeface="Calibri" pitchFamily="34" charset="-122"/>
                <a:cs typeface="Calibri" pitchFamily="34" charset="-120"/>
              </a:rPr>
              <a:t>(BizSense OS)</a:t>
            </a:r>
            <a:endParaRPr lang="en-US" sz="2000" dirty="0"/>
          </a:p>
        </p:txBody>
      </p:sp>
      <p:sp>
        <p:nvSpPr>
          <p:cNvPr id="11" name="Text 8"/>
          <p:cNvSpPr/>
          <p:nvPr/>
        </p:nvSpPr>
        <p:spPr>
          <a:xfrm>
            <a:off x="685800" y="2651760"/>
            <a:ext cx="6858000" cy="548640"/>
          </a:xfrm>
          <a:prstGeom prst="rect">
            <a:avLst/>
          </a:prstGeom>
          <a:noFill/>
          <a:ln/>
        </p:spPr>
        <p:txBody>
          <a:bodyPr wrap="square" lIns="0" tIns="0" rIns="0" bIns="0" rtlCol="0" anchor="ctr"/>
          <a:lstStyle/>
          <a:p>
            <a:pPr indent="0" marL="0">
              <a:buNone/>
            </a:pPr>
            <a:r>
              <a:rPr lang="en-US" sz="1300" i="1" dirty="0">
                <a:solidFill>
                  <a:srgbClr val="A8C8D8"/>
                </a:solidFill>
                <a:latin typeface="Calibri" pitchFamily="34" charset="0"/>
                <a:ea typeface="Calibri" pitchFamily="34" charset="-122"/>
                <a:cs typeface="Calibri" pitchFamily="34" charset="-120"/>
              </a:rPr>
              <a:t>An AI-Powered SME Failure Prediction and Advisory Platform for Cameroon</a:t>
            </a:r>
            <a:endParaRPr lang="en-US" sz="1300" dirty="0"/>
          </a:p>
        </p:txBody>
      </p:sp>
      <p:sp>
        <p:nvSpPr>
          <p:cNvPr id="12" name="Shape 9"/>
          <p:cNvSpPr/>
          <p:nvPr/>
        </p:nvSpPr>
        <p:spPr>
          <a:xfrm>
            <a:off x="685800" y="3291840"/>
            <a:ext cx="5029200" cy="36576"/>
          </a:xfrm>
          <a:prstGeom prst="rect">
            <a:avLst/>
          </a:prstGeom>
          <a:solidFill>
            <a:srgbClr val="0D7C8F"/>
          </a:solidFill>
          <a:ln w="12700">
            <a:solidFill>
              <a:srgbClr val="0D7C8F"/>
            </a:solidFill>
            <a:prstDash val="solid"/>
          </a:ln>
        </p:spPr>
      </p:sp>
      <p:sp>
        <p:nvSpPr>
          <p:cNvPr id="13" name="Text 10"/>
          <p:cNvSpPr/>
          <p:nvPr/>
        </p:nvSpPr>
        <p:spPr>
          <a:xfrm>
            <a:off x="685800" y="3401568"/>
            <a:ext cx="8046720" cy="219456"/>
          </a:xfrm>
          <a:prstGeom prst="rect">
            <a:avLst/>
          </a:prstGeom>
          <a:noFill/>
          <a:ln/>
        </p:spPr>
        <p:txBody>
          <a:bodyPr wrap="square" lIns="0" tIns="0" rIns="0" bIns="0" rtlCol="0" anchor="ctr"/>
          <a:lstStyle/>
          <a:p>
            <a:pPr indent="0" marL="0">
              <a:buNone/>
            </a:pPr>
            <a:r>
              <a:rPr lang="en-US" sz="1000" b="1" dirty="0">
                <a:solidFill>
                  <a:srgbClr val="0EA5C0"/>
                </a:solidFill>
                <a:latin typeface="Calibri" pitchFamily="34" charset="0"/>
                <a:ea typeface="Calibri" pitchFamily="34" charset="-122"/>
                <a:cs typeface="Calibri" pitchFamily="34" charset="-120"/>
              </a:rPr>
              <a:t>Presented by:  </a:t>
            </a:r>
            <a:pPr indent="0" marL="0">
              <a:buNone/>
            </a:pPr>
            <a:r>
              <a:rPr lang="en-US" sz="1000" dirty="0">
                <a:solidFill>
                  <a:srgbClr val="D0E8F0"/>
                </a:solidFill>
                <a:latin typeface="Calibri" pitchFamily="34" charset="0"/>
                <a:ea typeface="Calibri" pitchFamily="34" charset="-122"/>
                <a:cs typeface="Calibri" pitchFamily="34" charset="-120"/>
              </a:rPr>
              <a:t>CLOVIS TUMASANG  |  CT24A440</a:t>
            </a:r>
            <a:endParaRPr lang="en-US" sz="1000" dirty="0"/>
          </a:p>
        </p:txBody>
      </p:sp>
      <p:sp>
        <p:nvSpPr>
          <p:cNvPr id="14" name="Text 11"/>
          <p:cNvSpPr/>
          <p:nvPr/>
        </p:nvSpPr>
        <p:spPr>
          <a:xfrm>
            <a:off x="685800" y="3639312"/>
            <a:ext cx="8046720" cy="219456"/>
          </a:xfrm>
          <a:prstGeom prst="rect">
            <a:avLst/>
          </a:prstGeom>
          <a:noFill/>
          <a:ln/>
        </p:spPr>
        <p:txBody>
          <a:bodyPr wrap="square" lIns="0" tIns="0" rIns="0" bIns="0" rtlCol="0" anchor="ctr"/>
          <a:lstStyle/>
          <a:p>
            <a:pPr indent="0" marL="0">
              <a:buNone/>
            </a:pPr>
            <a:r>
              <a:rPr lang="en-US" sz="1000" b="1" dirty="0">
                <a:solidFill>
                  <a:srgbClr val="0EA5C0"/>
                </a:solidFill>
                <a:latin typeface="Calibri" pitchFamily="34" charset="0"/>
                <a:ea typeface="Calibri" pitchFamily="34" charset="-122"/>
                <a:cs typeface="Calibri" pitchFamily="34" charset="-120"/>
              </a:rPr>
              <a:t>Institution:  </a:t>
            </a:r>
            <a:pPr indent="0" marL="0">
              <a:buNone/>
            </a:pPr>
            <a:r>
              <a:rPr lang="en-US" sz="1000" dirty="0">
                <a:solidFill>
                  <a:srgbClr val="D0E8F0"/>
                </a:solidFill>
                <a:latin typeface="Calibri" pitchFamily="34" charset="0"/>
                <a:ea typeface="Calibri" pitchFamily="34" charset="-122"/>
                <a:cs typeface="Calibri" pitchFamily="34" charset="-120"/>
              </a:rPr>
              <a:t>University of Buea, College of Technology</a:t>
            </a:r>
            <a:endParaRPr lang="en-US" sz="1000" dirty="0"/>
          </a:p>
        </p:txBody>
      </p:sp>
      <p:sp>
        <p:nvSpPr>
          <p:cNvPr id="15" name="Text 12"/>
          <p:cNvSpPr/>
          <p:nvPr/>
        </p:nvSpPr>
        <p:spPr>
          <a:xfrm>
            <a:off x="685800" y="3877056"/>
            <a:ext cx="8046720" cy="219456"/>
          </a:xfrm>
          <a:prstGeom prst="rect">
            <a:avLst/>
          </a:prstGeom>
          <a:noFill/>
          <a:ln/>
        </p:spPr>
        <p:txBody>
          <a:bodyPr wrap="square" lIns="0" tIns="0" rIns="0" bIns="0" rtlCol="0" anchor="ctr"/>
          <a:lstStyle/>
          <a:p>
            <a:pPr indent="0" marL="0">
              <a:buNone/>
            </a:pPr>
            <a:r>
              <a:rPr lang="en-US" sz="1000" b="1" dirty="0">
                <a:solidFill>
                  <a:srgbClr val="0EA5C0"/>
                </a:solidFill>
                <a:latin typeface="Calibri" pitchFamily="34" charset="0"/>
                <a:ea typeface="Calibri" pitchFamily="34" charset="-122"/>
                <a:cs typeface="Calibri" pitchFamily="34" charset="-120"/>
              </a:rPr>
              <a:t>Department:  </a:t>
            </a:r>
            <a:pPr indent="0" marL="0">
              <a:buNone/>
            </a:pPr>
            <a:r>
              <a:rPr lang="en-US" sz="1000" dirty="0">
                <a:solidFill>
                  <a:srgbClr val="D0E8F0"/>
                </a:solidFill>
                <a:latin typeface="Calibri" pitchFamily="34" charset="0"/>
                <a:ea typeface="Calibri" pitchFamily="34" charset="-122"/>
                <a:cs typeface="Calibri" pitchFamily="34" charset="-120"/>
              </a:rPr>
              <a:t>Computer Engineering</a:t>
            </a:r>
            <a:endParaRPr lang="en-US" sz="1000" dirty="0"/>
          </a:p>
        </p:txBody>
      </p:sp>
      <p:sp>
        <p:nvSpPr>
          <p:cNvPr id="16" name="Text 13"/>
          <p:cNvSpPr/>
          <p:nvPr/>
        </p:nvSpPr>
        <p:spPr>
          <a:xfrm>
            <a:off x="685800" y="4114800"/>
            <a:ext cx="8046720" cy="219456"/>
          </a:xfrm>
          <a:prstGeom prst="rect">
            <a:avLst/>
          </a:prstGeom>
          <a:noFill/>
          <a:ln/>
        </p:spPr>
        <p:txBody>
          <a:bodyPr wrap="square" lIns="0" tIns="0" rIns="0" bIns="0" rtlCol="0" anchor="ctr"/>
          <a:lstStyle/>
          <a:p>
            <a:pPr indent="0" marL="0">
              <a:buNone/>
            </a:pPr>
            <a:r>
              <a:rPr lang="en-US" sz="1000" b="1" dirty="0">
                <a:solidFill>
                  <a:srgbClr val="0EA5C0"/>
                </a:solidFill>
                <a:latin typeface="Calibri" pitchFamily="34" charset="0"/>
                <a:ea typeface="Calibri" pitchFamily="34" charset="-122"/>
                <a:cs typeface="Calibri" pitchFamily="34" charset="-120"/>
              </a:rPr>
              <a:t>Supervisor:  </a:t>
            </a:r>
            <a:pPr indent="0" marL="0">
              <a:buNone/>
            </a:pPr>
            <a:r>
              <a:rPr lang="en-US" sz="1000" dirty="0">
                <a:solidFill>
                  <a:srgbClr val="D0E8F0"/>
                </a:solidFill>
                <a:latin typeface="Calibri" pitchFamily="34" charset="0"/>
                <a:ea typeface="Calibri" pitchFamily="34" charset="-122"/>
                <a:cs typeface="Calibri" pitchFamily="34" charset="-120"/>
              </a:rPr>
              <a:t>Mr. Anumoh Micheal</a:t>
            </a:r>
            <a:endParaRPr lang="en-US" sz="1000" dirty="0"/>
          </a:p>
        </p:txBody>
      </p:sp>
      <p:sp>
        <p:nvSpPr>
          <p:cNvPr id="17" name="Text 14"/>
          <p:cNvSpPr/>
          <p:nvPr/>
        </p:nvSpPr>
        <p:spPr>
          <a:xfrm>
            <a:off x="685800" y="4352544"/>
            <a:ext cx="8046720" cy="219456"/>
          </a:xfrm>
          <a:prstGeom prst="rect">
            <a:avLst/>
          </a:prstGeom>
          <a:noFill/>
          <a:ln/>
        </p:spPr>
        <p:txBody>
          <a:bodyPr wrap="square" lIns="0" tIns="0" rIns="0" bIns="0" rtlCol="0" anchor="ctr"/>
          <a:lstStyle/>
          <a:p>
            <a:pPr indent="0" marL="0">
              <a:buNone/>
            </a:pPr>
            <a:r>
              <a:rPr lang="en-US" sz="1000" b="1" dirty="0">
                <a:solidFill>
                  <a:srgbClr val="0EA5C0"/>
                </a:solidFill>
                <a:latin typeface="Calibri" pitchFamily="34" charset="0"/>
                <a:ea typeface="Calibri" pitchFamily="34" charset="-122"/>
                <a:cs typeface="Calibri" pitchFamily="34" charset="-120"/>
              </a:rPr>
              <a:t>HOD:  </a:t>
            </a:r>
            <a:pPr indent="0" marL="0">
              <a:buNone/>
            </a:pPr>
            <a:r>
              <a:rPr lang="en-US" sz="1000" dirty="0">
                <a:solidFill>
                  <a:srgbClr val="D0E8F0"/>
                </a:solidFill>
                <a:latin typeface="Calibri" pitchFamily="34" charset="0"/>
                <a:ea typeface="Calibri" pitchFamily="34" charset="-122"/>
                <a:cs typeface="Calibri" pitchFamily="34" charset="-120"/>
              </a:rPr>
              <a:t>Prof. Bertrand Moffo Lanla</a:t>
            </a:r>
            <a:endParaRPr lang="en-US" sz="1000" dirty="0"/>
          </a:p>
        </p:txBody>
      </p:sp>
      <p:sp>
        <p:nvSpPr>
          <p:cNvPr id="18" name="Text 15"/>
          <p:cNvSpPr/>
          <p:nvPr/>
        </p:nvSpPr>
        <p:spPr>
          <a:xfrm>
            <a:off x="685800" y="4590288"/>
            <a:ext cx="8046720" cy="219456"/>
          </a:xfrm>
          <a:prstGeom prst="rect">
            <a:avLst/>
          </a:prstGeom>
          <a:noFill/>
          <a:ln/>
        </p:spPr>
        <p:txBody>
          <a:bodyPr wrap="square" lIns="0" tIns="0" rIns="0" bIns="0" rtlCol="0" anchor="ctr"/>
          <a:lstStyle/>
          <a:p>
            <a:pPr indent="0" marL="0">
              <a:buNone/>
            </a:pPr>
            <a:r>
              <a:rPr lang="en-US" sz="1000" b="1" dirty="0">
                <a:solidFill>
                  <a:srgbClr val="0EA5C0"/>
                </a:solidFill>
                <a:latin typeface="Calibri" pitchFamily="34" charset="0"/>
                <a:ea typeface="Calibri" pitchFamily="34" charset="-122"/>
                <a:cs typeface="Calibri" pitchFamily="34" charset="-120"/>
              </a:rPr>
              <a:t>Date:  </a:t>
            </a:r>
            <a:pPr indent="0" marL="0">
              <a:buNone/>
            </a:pPr>
            <a:r>
              <a:rPr lang="en-US" sz="1000" dirty="0">
                <a:solidFill>
                  <a:srgbClr val="D0E8F0"/>
                </a:solidFill>
                <a:latin typeface="Calibri" pitchFamily="34" charset="0"/>
                <a:ea typeface="Calibri" pitchFamily="34" charset="-122"/>
                <a:cs typeface="Calibri" pitchFamily="34" charset="-120"/>
              </a:rPr>
              <a:t>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Presentation Overview</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What we will cover today</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274320" y="1078992"/>
            <a:ext cx="4251960" cy="713232"/>
          </a:xfrm>
          <a:prstGeom prst="rect">
            <a:avLst/>
          </a:prstGeom>
          <a:solidFill>
            <a:srgbClr val="FFFFFF"/>
          </a:solidFill>
          <a:ln w="9525">
            <a:solidFill>
              <a:srgbClr val="E2EDF2"/>
            </a:solidFill>
            <a:prstDash val="solid"/>
          </a:ln>
        </p:spPr>
      </p:sp>
      <p:sp>
        <p:nvSpPr>
          <p:cNvPr id="10" name="Shape 8"/>
          <p:cNvSpPr/>
          <p:nvPr/>
        </p:nvSpPr>
        <p:spPr>
          <a:xfrm>
            <a:off x="274320" y="1078992"/>
            <a:ext cx="475488" cy="713232"/>
          </a:xfrm>
          <a:prstGeom prst="rect">
            <a:avLst/>
          </a:prstGeom>
          <a:solidFill>
            <a:srgbClr val="0A1931"/>
          </a:solidFill>
          <a:ln w="12700">
            <a:solidFill>
              <a:srgbClr val="0A1931"/>
            </a:solidFill>
            <a:prstDash val="solid"/>
          </a:ln>
        </p:spPr>
      </p:sp>
      <p:sp>
        <p:nvSpPr>
          <p:cNvPr id="11" name="Text 9"/>
          <p:cNvSpPr/>
          <p:nvPr/>
        </p:nvSpPr>
        <p:spPr>
          <a:xfrm>
            <a:off x="274320" y="1078992"/>
            <a:ext cx="475488" cy="713232"/>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01</a:t>
            </a:r>
            <a:endParaRPr lang="en-US" sz="1600" dirty="0"/>
          </a:p>
        </p:txBody>
      </p:sp>
      <p:sp>
        <p:nvSpPr>
          <p:cNvPr id="12" name="Text 10"/>
          <p:cNvSpPr/>
          <p:nvPr/>
        </p:nvSpPr>
        <p:spPr>
          <a:xfrm>
            <a:off x="841248" y="1143000"/>
            <a:ext cx="3593592" cy="274320"/>
          </a:xfrm>
          <a:prstGeom prst="rect">
            <a:avLst/>
          </a:prstGeom>
          <a:noFill/>
          <a:ln/>
        </p:spPr>
        <p:txBody>
          <a:bodyPr wrap="square" lIns="0" tIns="0" rIns="0" bIns="0" rtlCol="0" anchor="ctr"/>
          <a:lstStyle/>
          <a:p>
            <a:pPr indent="0" marL="0">
              <a:buNone/>
            </a:pPr>
            <a:r>
              <a:rPr lang="en-US" sz="1100" b="1" dirty="0">
                <a:solidFill>
                  <a:srgbClr val="0F1F2E"/>
                </a:solidFill>
                <a:latin typeface="Calibri" pitchFamily="34" charset="0"/>
                <a:ea typeface="Calibri" pitchFamily="34" charset="-122"/>
                <a:cs typeface="Calibri" pitchFamily="34" charset="-120"/>
              </a:rPr>
              <a:t>Background &amp; Problem</a:t>
            </a:r>
            <a:endParaRPr lang="en-US" sz="1100" dirty="0"/>
          </a:p>
        </p:txBody>
      </p:sp>
      <p:sp>
        <p:nvSpPr>
          <p:cNvPr id="13" name="Text 11"/>
          <p:cNvSpPr/>
          <p:nvPr/>
        </p:nvSpPr>
        <p:spPr>
          <a:xfrm>
            <a:off x="841248" y="1417320"/>
            <a:ext cx="3593592"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SME failure landscape in Cameroon</a:t>
            </a:r>
            <a:endParaRPr lang="en-US" sz="900" dirty="0"/>
          </a:p>
        </p:txBody>
      </p:sp>
      <p:sp>
        <p:nvSpPr>
          <p:cNvPr id="14" name="Shape 12"/>
          <p:cNvSpPr/>
          <p:nvPr/>
        </p:nvSpPr>
        <p:spPr>
          <a:xfrm>
            <a:off x="274320" y="1938528"/>
            <a:ext cx="4251960" cy="713232"/>
          </a:xfrm>
          <a:prstGeom prst="rect">
            <a:avLst/>
          </a:prstGeom>
          <a:solidFill>
            <a:srgbClr val="FFFFFF"/>
          </a:solidFill>
          <a:ln w="9525">
            <a:solidFill>
              <a:srgbClr val="E2EDF2"/>
            </a:solidFill>
            <a:prstDash val="solid"/>
          </a:ln>
        </p:spPr>
      </p:sp>
      <p:sp>
        <p:nvSpPr>
          <p:cNvPr id="15" name="Shape 13"/>
          <p:cNvSpPr/>
          <p:nvPr/>
        </p:nvSpPr>
        <p:spPr>
          <a:xfrm>
            <a:off x="274320" y="1938528"/>
            <a:ext cx="475488" cy="713232"/>
          </a:xfrm>
          <a:prstGeom prst="rect">
            <a:avLst/>
          </a:prstGeom>
          <a:solidFill>
            <a:srgbClr val="0A1931"/>
          </a:solidFill>
          <a:ln w="12700">
            <a:solidFill>
              <a:srgbClr val="0A1931"/>
            </a:solidFill>
            <a:prstDash val="solid"/>
          </a:ln>
        </p:spPr>
      </p:sp>
      <p:sp>
        <p:nvSpPr>
          <p:cNvPr id="16" name="Text 14"/>
          <p:cNvSpPr/>
          <p:nvPr/>
        </p:nvSpPr>
        <p:spPr>
          <a:xfrm>
            <a:off x="274320" y="1938528"/>
            <a:ext cx="475488" cy="713232"/>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02</a:t>
            </a:r>
            <a:endParaRPr lang="en-US" sz="1600" dirty="0"/>
          </a:p>
        </p:txBody>
      </p:sp>
      <p:sp>
        <p:nvSpPr>
          <p:cNvPr id="17" name="Text 15"/>
          <p:cNvSpPr/>
          <p:nvPr/>
        </p:nvSpPr>
        <p:spPr>
          <a:xfrm>
            <a:off x="841248" y="2002536"/>
            <a:ext cx="3593592" cy="274320"/>
          </a:xfrm>
          <a:prstGeom prst="rect">
            <a:avLst/>
          </a:prstGeom>
          <a:noFill/>
          <a:ln/>
        </p:spPr>
        <p:txBody>
          <a:bodyPr wrap="square" lIns="0" tIns="0" rIns="0" bIns="0" rtlCol="0" anchor="ctr"/>
          <a:lstStyle/>
          <a:p>
            <a:pPr indent="0" marL="0">
              <a:buNone/>
            </a:pPr>
            <a:r>
              <a:rPr lang="en-US" sz="1100" b="1" dirty="0">
                <a:solidFill>
                  <a:srgbClr val="0F1F2E"/>
                </a:solidFill>
                <a:latin typeface="Calibri" pitchFamily="34" charset="0"/>
                <a:ea typeface="Calibri" pitchFamily="34" charset="-122"/>
                <a:cs typeface="Calibri" pitchFamily="34" charset="-120"/>
              </a:rPr>
              <a:t>Research Objectives</a:t>
            </a:r>
            <a:endParaRPr lang="en-US" sz="1100" dirty="0"/>
          </a:p>
        </p:txBody>
      </p:sp>
      <p:sp>
        <p:nvSpPr>
          <p:cNvPr id="18" name="Text 16"/>
          <p:cNvSpPr/>
          <p:nvPr/>
        </p:nvSpPr>
        <p:spPr>
          <a:xfrm>
            <a:off x="841248" y="2276856"/>
            <a:ext cx="3593592"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Goals, questions, and scope</a:t>
            </a:r>
            <a:endParaRPr lang="en-US" sz="900" dirty="0"/>
          </a:p>
        </p:txBody>
      </p:sp>
      <p:sp>
        <p:nvSpPr>
          <p:cNvPr id="19" name="Shape 17"/>
          <p:cNvSpPr/>
          <p:nvPr/>
        </p:nvSpPr>
        <p:spPr>
          <a:xfrm>
            <a:off x="274320" y="2798064"/>
            <a:ext cx="4251960" cy="713232"/>
          </a:xfrm>
          <a:prstGeom prst="rect">
            <a:avLst/>
          </a:prstGeom>
          <a:solidFill>
            <a:srgbClr val="FFFFFF"/>
          </a:solidFill>
          <a:ln w="9525">
            <a:solidFill>
              <a:srgbClr val="E2EDF2"/>
            </a:solidFill>
            <a:prstDash val="solid"/>
          </a:ln>
        </p:spPr>
      </p:sp>
      <p:sp>
        <p:nvSpPr>
          <p:cNvPr id="20" name="Shape 18"/>
          <p:cNvSpPr/>
          <p:nvPr/>
        </p:nvSpPr>
        <p:spPr>
          <a:xfrm>
            <a:off x="274320" y="2798064"/>
            <a:ext cx="475488" cy="713232"/>
          </a:xfrm>
          <a:prstGeom prst="rect">
            <a:avLst/>
          </a:prstGeom>
          <a:solidFill>
            <a:srgbClr val="0A1931"/>
          </a:solidFill>
          <a:ln w="12700">
            <a:solidFill>
              <a:srgbClr val="0A1931"/>
            </a:solidFill>
            <a:prstDash val="solid"/>
          </a:ln>
        </p:spPr>
      </p:sp>
      <p:sp>
        <p:nvSpPr>
          <p:cNvPr id="21" name="Text 19"/>
          <p:cNvSpPr/>
          <p:nvPr/>
        </p:nvSpPr>
        <p:spPr>
          <a:xfrm>
            <a:off x="274320" y="2798064"/>
            <a:ext cx="475488" cy="713232"/>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03</a:t>
            </a:r>
            <a:endParaRPr lang="en-US" sz="1600" dirty="0"/>
          </a:p>
        </p:txBody>
      </p:sp>
      <p:sp>
        <p:nvSpPr>
          <p:cNvPr id="22" name="Text 20"/>
          <p:cNvSpPr/>
          <p:nvPr/>
        </p:nvSpPr>
        <p:spPr>
          <a:xfrm>
            <a:off x="841248" y="2862072"/>
            <a:ext cx="3593592" cy="274320"/>
          </a:xfrm>
          <a:prstGeom prst="rect">
            <a:avLst/>
          </a:prstGeom>
          <a:noFill/>
          <a:ln/>
        </p:spPr>
        <p:txBody>
          <a:bodyPr wrap="square" lIns="0" tIns="0" rIns="0" bIns="0" rtlCol="0" anchor="ctr"/>
          <a:lstStyle/>
          <a:p>
            <a:pPr indent="0" marL="0">
              <a:buNone/>
            </a:pPr>
            <a:r>
              <a:rPr lang="en-US" sz="1100" b="1" dirty="0">
                <a:solidFill>
                  <a:srgbClr val="0F1F2E"/>
                </a:solidFill>
                <a:latin typeface="Calibri" pitchFamily="34" charset="0"/>
                <a:ea typeface="Calibri" pitchFamily="34" charset="-122"/>
                <a:cs typeface="Calibri" pitchFamily="34" charset="-120"/>
              </a:rPr>
              <a:t>Literature Review</a:t>
            </a:r>
            <a:endParaRPr lang="en-US" sz="1100" dirty="0"/>
          </a:p>
        </p:txBody>
      </p:sp>
      <p:sp>
        <p:nvSpPr>
          <p:cNvPr id="23" name="Text 21"/>
          <p:cNvSpPr/>
          <p:nvPr/>
        </p:nvSpPr>
        <p:spPr>
          <a:xfrm>
            <a:off x="841248" y="3136392"/>
            <a:ext cx="3593592"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Concepts, frameworks, related systems</a:t>
            </a:r>
            <a:endParaRPr lang="en-US" sz="900" dirty="0"/>
          </a:p>
        </p:txBody>
      </p:sp>
      <p:sp>
        <p:nvSpPr>
          <p:cNvPr id="24" name="Shape 22"/>
          <p:cNvSpPr/>
          <p:nvPr/>
        </p:nvSpPr>
        <p:spPr>
          <a:xfrm>
            <a:off x="274320" y="3657600"/>
            <a:ext cx="4251960" cy="713232"/>
          </a:xfrm>
          <a:prstGeom prst="rect">
            <a:avLst/>
          </a:prstGeom>
          <a:solidFill>
            <a:srgbClr val="FFFFFF"/>
          </a:solidFill>
          <a:ln w="9525">
            <a:solidFill>
              <a:srgbClr val="E2EDF2"/>
            </a:solidFill>
            <a:prstDash val="solid"/>
          </a:ln>
        </p:spPr>
      </p:sp>
      <p:sp>
        <p:nvSpPr>
          <p:cNvPr id="25" name="Shape 23"/>
          <p:cNvSpPr/>
          <p:nvPr/>
        </p:nvSpPr>
        <p:spPr>
          <a:xfrm>
            <a:off x="274320" y="3657600"/>
            <a:ext cx="475488" cy="713232"/>
          </a:xfrm>
          <a:prstGeom prst="rect">
            <a:avLst/>
          </a:prstGeom>
          <a:solidFill>
            <a:srgbClr val="0A1931"/>
          </a:solidFill>
          <a:ln w="12700">
            <a:solidFill>
              <a:srgbClr val="0A1931"/>
            </a:solidFill>
            <a:prstDash val="solid"/>
          </a:ln>
        </p:spPr>
      </p:sp>
      <p:sp>
        <p:nvSpPr>
          <p:cNvPr id="26" name="Text 24"/>
          <p:cNvSpPr/>
          <p:nvPr/>
        </p:nvSpPr>
        <p:spPr>
          <a:xfrm>
            <a:off x="274320" y="3657600"/>
            <a:ext cx="475488" cy="713232"/>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04</a:t>
            </a:r>
            <a:endParaRPr lang="en-US" sz="1600" dirty="0"/>
          </a:p>
        </p:txBody>
      </p:sp>
      <p:sp>
        <p:nvSpPr>
          <p:cNvPr id="27" name="Text 25"/>
          <p:cNvSpPr/>
          <p:nvPr/>
        </p:nvSpPr>
        <p:spPr>
          <a:xfrm>
            <a:off x="841248" y="3721608"/>
            <a:ext cx="3593592" cy="274320"/>
          </a:xfrm>
          <a:prstGeom prst="rect">
            <a:avLst/>
          </a:prstGeom>
          <a:noFill/>
          <a:ln/>
        </p:spPr>
        <p:txBody>
          <a:bodyPr wrap="square" lIns="0" tIns="0" rIns="0" bIns="0" rtlCol="0" anchor="ctr"/>
          <a:lstStyle/>
          <a:p>
            <a:pPr indent="0" marL="0">
              <a:buNone/>
            </a:pPr>
            <a:r>
              <a:rPr lang="en-US" sz="1100" b="1" dirty="0">
                <a:solidFill>
                  <a:srgbClr val="0F1F2E"/>
                </a:solidFill>
                <a:latin typeface="Calibri" pitchFamily="34" charset="0"/>
                <a:ea typeface="Calibri" pitchFamily="34" charset="-122"/>
                <a:cs typeface="Calibri" pitchFamily="34" charset="-120"/>
              </a:rPr>
              <a:t>Methodology &amp; Data</a:t>
            </a:r>
            <a:endParaRPr lang="en-US" sz="1100" dirty="0"/>
          </a:p>
        </p:txBody>
      </p:sp>
      <p:sp>
        <p:nvSpPr>
          <p:cNvPr id="28" name="Text 26"/>
          <p:cNvSpPr/>
          <p:nvPr/>
        </p:nvSpPr>
        <p:spPr>
          <a:xfrm>
            <a:off x="841248" y="3995928"/>
            <a:ext cx="3593592"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Research design and data collection</a:t>
            </a:r>
            <a:endParaRPr lang="en-US" sz="900" dirty="0"/>
          </a:p>
        </p:txBody>
      </p:sp>
      <p:sp>
        <p:nvSpPr>
          <p:cNvPr id="29" name="Shape 27"/>
          <p:cNvSpPr/>
          <p:nvPr/>
        </p:nvSpPr>
        <p:spPr>
          <a:xfrm>
            <a:off x="4800600" y="1078992"/>
            <a:ext cx="4251960" cy="713232"/>
          </a:xfrm>
          <a:prstGeom prst="rect">
            <a:avLst/>
          </a:prstGeom>
          <a:solidFill>
            <a:srgbClr val="FFFFFF"/>
          </a:solidFill>
          <a:ln w="9525">
            <a:solidFill>
              <a:srgbClr val="E2EDF2"/>
            </a:solidFill>
            <a:prstDash val="solid"/>
          </a:ln>
        </p:spPr>
      </p:sp>
      <p:sp>
        <p:nvSpPr>
          <p:cNvPr id="30" name="Shape 28"/>
          <p:cNvSpPr/>
          <p:nvPr/>
        </p:nvSpPr>
        <p:spPr>
          <a:xfrm>
            <a:off x="4800600" y="1078992"/>
            <a:ext cx="475488" cy="713232"/>
          </a:xfrm>
          <a:prstGeom prst="rect">
            <a:avLst/>
          </a:prstGeom>
          <a:solidFill>
            <a:srgbClr val="0A1931"/>
          </a:solidFill>
          <a:ln w="12700">
            <a:solidFill>
              <a:srgbClr val="0A1931"/>
            </a:solidFill>
            <a:prstDash val="solid"/>
          </a:ln>
        </p:spPr>
      </p:sp>
      <p:sp>
        <p:nvSpPr>
          <p:cNvPr id="31" name="Text 29"/>
          <p:cNvSpPr/>
          <p:nvPr/>
        </p:nvSpPr>
        <p:spPr>
          <a:xfrm>
            <a:off x="4800600" y="1078992"/>
            <a:ext cx="475488" cy="713232"/>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05</a:t>
            </a:r>
            <a:endParaRPr lang="en-US" sz="1600" dirty="0"/>
          </a:p>
        </p:txBody>
      </p:sp>
      <p:sp>
        <p:nvSpPr>
          <p:cNvPr id="32" name="Text 30"/>
          <p:cNvSpPr/>
          <p:nvPr/>
        </p:nvSpPr>
        <p:spPr>
          <a:xfrm>
            <a:off x="5367528" y="1143000"/>
            <a:ext cx="3593592" cy="274320"/>
          </a:xfrm>
          <a:prstGeom prst="rect">
            <a:avLst/>
          </a:prstGeom>
          <a:noFill/>
          <a:ln/>
        </p:spPr>
        <p:txBody>
          <a:bodyPr wrap="square" lIns="0" tIns="0" rIns="0" bIns="0" rtlCol="0" anchor="ctr"/>
          <a:lstStyle/>
          <a:p>
            <a:pPr indent="0" marL="0">
              <a:buNone/>
            </a:pPr>
            <a:r>
              <a:rPr lang="en-US" sz="1100" b="1" dirty="0">
                <a:solidFill>
                  <a:srgbClr val="0F1F2E"/>
                </a:solidFill>
                <a:latin typeface="Calibri" pitchFamily="34" charset="0"/>
                <a:ea typeface="Calibri" pitchFamily="34" charset="-122"/>
                <a:cs typeface="Calibri" pitchFamily="34" charset="-120"/>
              </a:rPr>
              <a:t>System Design &amp; UML</a:t>
            </a:r>
            <a:endParaRPr lang="en-US" sz="1100" dirty="0"/>
          </a:p>
        </p:txBody>
      </p:sp>
      <p:sp>
        <p:nvSpPr>
          <p:cNvPr id="33" name="Text 31"/>
          <p:cNvSpPr/>
          <p:nvPr/>
        </p:nvSpPr>
        <p:spPr>
          <a:xfrm>
            <a:off x="5367528" y="1417320"/>
            <a:ext cx="3593592"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Architecture, ER diagram, use cases</a:t>
            </a:r>
            <a:endParaRPr lang="en-US" sz="900" dirty="0"/>
          </a:p>
        </p:txBody>
      </p:sp>
      <p:sp>
        <p:nvSpPr>
          <p:cNvPr id="34" name="Shape 32"/>
          <p:cNvSpPr/>
          <p:nvPr/>
        </p:nvSpPr>
        <p:spPr>
          <a:xfrm>
            <a:off x="4800600" y="1938528"/>
            <a:ext cx="4251960" cy="713232"/>
          </a:xfrm>
          <a:prstGeom prst="rect">
            <a:avLst/>
          </a:prstGeom>
          <a:solidFill>
            <a:srgbClr val="FFFFFF"/>
          </a:solidFill>
          <a:ln w="9525">
            <a:solidFill>
              <a:srgbClr val="E2EDF2"/>
            </a:solidFill>
            <a:prstDash val="solid"/>
          </a:ln>
        </p:spPr>
      </p:sp>
      <p:sp>
        <p:nvSpPr>
          <p:cNvPr id="35" name="Shape 33"/>
          <p:cNvSpPr/>
          <p:nvPr/>
        </p:nvSpPr>
        <p:spPr>
          <a:xfrm>
            <a:off x="4800600" y="1938528"/>
            <a:ext cx="475488" cy="713232"/>
          </a:xfrm>
          <a:prstGeom prst="rect">
            <a:avLst/>
          </a:prstGeom>
          <a:solidFill>
            <a:srgbClr val="0A1931"/>
          </a:solidFill>
          <a:ln w="12700">
            <a:solidFill>
              <a:srgbClr val="0A1931"/>
            </a:solidFill>
            <a:prstDash val="solid"/>
          </a:ln>
        </p:spPr>
      </p:sp>
      <p:sp>
        <p:nvSpPr>
          <p:cNvPr id="36" name="Text 34"/>
          <p:cNvSpPr/>
          <p:nvPr/>
        </p:nvSpPr>
        <p:spPr>
          <a:xfrm>
            <a:off x="4800600" y="1938528"/>
            <a:ext cx="475488" cy="713232"/>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06</a:t>
            </a:r>
            <a:endParaRPr lang="en-US" sz="1600" dirty="0"/>
          </a:p>
        </p:txBody>
      </p:sp>
      <p:sp>
        <p:nvSpPr>
          <p:cNvPr id="37" name="Text 35"/>
          <p:cNvSpPr/>
          <p:nvPr/>
        </p:nvSpPr>
        <p:spPr>
          <a:xfrm>
            <a:off x="5367528" y="2002536"/>
            <a:ext cx="3593592" cy="274320"/>
          </a:xfrm>
          <a:prstGeom prst="rect">
            <a:avLst/>
          </a:prstGeom>
          <a:noFill/>
          <a:ln/>
        </p:spPr>
        <p:txBody>
          <a:bodyPr wrap="square" lIns="0" tIns="0" rIns="0" bIns="0" rtlCol="0" anchor="ctr"/>
          <a:lstStyle/>
          <a:p>
            <a:pPr indent="0" marL="0">
              <a:buNone/>
            </a:pPr>
            <a:r>
              <a:rPr lang="en-US" sz="1100" b="1" dirty="0">
                <a:solidFill>
                  <a:srgbClr val="0F1F2E"/>
                </a:solidFill>
                <a:latin typeface="Calibri" pitchFamily="34" charset="0"/>
                <a:ea typeface="Calibri" pitchFamily="34" charset="-122"/>
                <a:cs typeface="Calibri" pitchFamily="34" charset="-120"/>
              </a:rPr>
              <a:t>Implementation &amp; Demo</a:t>
            </a:r>
            <a:endParaRPr lang="en-US" sz="1100" dirty="0"/>
          </a:p>
        </p:txBody>
      </p:sp>
      <p:sp>
        <p:nvSpPr>
          <p:cNvPr id="38" name="Text 36"/>
          <p:cNvSpPr/>
          <p:nvPr/>
        </p:nvSpPr>
        <p:spPr>
          <a:xfrm>
            <a:off x="5367528" y="2276856"/>
            <a:ext cx="3593592"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Tech stack, API, and app screenshots</a:t>
            </a:r>
            <a:endParaRPr lang="en-US" sz="900" dirty="0"/>
          </a:p>
        </p:txBody>
      </p:sp>
      <p:sp>
        <p:nvSpPr>
          <p:cNvPr id="39" name="Shape 37"/>
          <p:cNvSpPr/>
          <p:nvPr/>
        </p:nvSpPr>
        <p:spPr>
          <a:xfrm>
            <a:off x="4800600" y="2798064"/>
            <a:ext cx="4251960" cy="713232"/>
          </a:xfrm>
          <a:prstGeom prst="rect">
            <a:avLst/>
          </a:prstGeom>
          <a:solidFill>
            <a:srgbClr val="FFFFFF"/>
          </a:solidFill>
          <a:ln w="9525">
            <a:solidFill>
              <a:srgbClr val="E2EDF2"/>
            </a:solidFill>
            <a:prstDash val="solid"/>
          </a:ln>
        </p:spPr>
      </p:sp>
      <p:sp>
        <p:nvSpPr>
          <p:cNvPr id="40" name="Shape 38"/>
          <p:cNvSpPr/>
          <p:nvPr/>
        </p:nvSpPr>
        <p:spPr>
          <a:xfrm>
            <a:off x="4800600" y="2798064"/>
            <a:ext cx="475488" cy="713232"/>
          </a:xfrm>
          <a:prstGeom prst="rect">
            <a:avLst/>
          </a:prstGeom>
          <a:solidFill>
            <a:srgbClr val="0A1931"/>
          </a:solidFill>
          <a:ln w="12700">
            <a:solidFill>
              <a:srgbClr val="0A1931"/>
            </a:solidFill>
            <a:prstDash val="solid"/>
          </a:ln>
        </p:spPr>
      </p:sp>
      <p:sp>
        <p:nvSpPr>
          <p:cNvPr id="41" name="Text 39"/>
          <p:cNvSpPr/>
          <p:nvPr/>
        </p:nvSpPr>
        <p:spPr>
          <a:xfrm>
            <a:off x="4800600" y="2798064"/>
            <a:ext cx="475488" cy="713232"/>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07</a:t>
            </a:r>
            <a:endParaRPr lang="en-US" sz="1600" dirty="0"/>
          </a:p>
        </p:txBody>
      </p:sp>
      <p:sp>
        <p:nvSpPr>
          <p:cNvPr id="42" name="Text 40"/>
          <p:cNvSpPr/>
          <p:nvPr/>
        </p:nvSpPr>
        <p:spPr>
          <a:xfrm>
            <a:off x="5367528" y="2862072"/>
            <a:ext cx="3593592" cy="274320"/>
          </a:xfrm>
          <a:prstGeom prst="rect">
            <a:avLst/>
          </a:prstGeom>
          <a:noFill/>
          <a:ln/>
        </p:spPr>
        <p:txBody>
          <a:bodyPr wrap="square" lIns="0" tIns="0" rIns="0" bIns="0" rtlCol="0" anchor="ctr"/>
          <a:lstStyle/>
          <a:p>
            <a:pPr indent="0" marL="0">
              <a:buNone/>
            </a:pPr>
            <a:r>
              <a:rPr lang="en-US" sz="1100" b="1" dirty="0">
                <a:solidFill>
                  <a:srgbClr val="0F1F2E"/>
                </a:solidFill>
                <a:latin typeface="Calibri" pitchFamily="34" charset="0"/>
                <a:ea typeface="Calibri" pitchFamily="34" charset="-122"/>
                <a:cs typeface="Calibri" pitchFamily="34" charset="-120"/>
              </a:rPr>
              <a:t>Key Findings</a:t>
            </a:r>
            <a:endParaRPr lang="en-US" sz="1100" dirty="0"/>
          </a:p>
        </p:txBody>
      </p:sp>
      <p:sp>
        <p:nvSpPr>
          <p:cNvPr id="43" name="Text 41"/>
          <p:cNvSpPr/>
          <p:nvPr/>
        </p:nvSpPr>
        <p:spPr>
          <a:xfrm>
            <a:off x="5367528" y="3136392"/>
            <a:ext cx="3593592"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Model performance and system results</a:t>
            </a:r>
            <a:endParaRPr lang="en-US" sz="900" dirty="0"/>
          </a:p>
        </p:txBody>
      </p:sp>
      <p:sp>
        <p:nvSpPr>
          <p:cNvPr id="44" name="Shape 42"/>
          <p:cNvSpPr/>
          <p:nvPr/>
        </p:nvSpPr>
        <p:spPr>
          <a:xfrm>
            <a:off x="4800600" y="3657600"/>
            <a:ext cx="4251960" cy="713232"/>
          </a:xfrm>
          <a:prstGeom prst="rect">
            <a:avLst/>
          </a:prstGeom>
          <a:solidFill>
            <a:srgbClr val="FFFFFF"/>
          </a:solidFill>
          <a:ln w="9525">
            <a:solidFill>
              <a:srgbClr val="E2EDF2"/>
            </a:solidFill>
            <a:prstDash val="solid"/>
          </a:ln>
        </p:spPr>
      </p:sp>
      <p:sp>
        <p:nvSpPr>
          <p:cNvPr id="45" name="Shape 43"/>
          <p:cNvSpPr/>
          <p:nvPr/>
        </p:nvSpPr>
        <p:spPr>
          <a:xfrm>
            <a:off x="4800600" y="3657600"/>
            <a:ext cx="475488" cy="713232"/>
          </a:xfrm>
          <a:prstGeom prst="rect">
            <a:avLst/>
          </a:prstGeom>
          <a:solidFill>
            <a:srgbClr val="0A1931"/>
          </a:solidFill>
          <a:ln w="12700">
            <a:solidFill>
              <a:srgbClr val="0A1931"/>
            </a:solidFill>
            <a:prstDash val="solid"/>
          </a:ln>
        </p:spPr>
      </p:sp>
      <p:sp>
        <p:nvSpPr>
          <p:cNvPr id="46" name="Text 44"/>
          <p:cNvSpPr/>
          <p:nvPr/>
        </p:nvSpPr>
        <p:spPr>
          <a:xfrm>
            <a:off x="4800600" y="3657600"/>
            <a:ext cx="475488" cy="713232"/>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08</a:t>
            </a:r>
            <a:endParaRPr lang="en-US" sz="1600" dirty="0"/>
          </a:p>
        </p:txBody>
      </p:sp>
      <p:sp>
        <p:nvSpPr>
          <p:cNvPr id="47" name="Text 45"/>
          <p:cNvSpPr/>
          <p:nvPr/>
        </p:nvSpPr>
        <p:spPr>
          <a:xfrm>
            <a:off x="5367528" y="3721608"/>
            <a:ext cx="3593592" cy="274320"/>
          </a:xfrm>
          <a:prstGeom prst="rect">
            <a:avLst/>
          </a:prstGeom>
          <a:noFill/>
          <a:ln/>
        </p:spPr>
        <p:txBody>
          <a:bodyPr wrap="square" lIns="0" tIns="0" rIns="0" bIns="0" rtlCol="0" anchor="ctr"/>
          <a:lstStyle/>
          <a:p>
            <a:pPr indent="0" marL="0">
              <a:buNone/>
            </a:pPr>
            <a:r>
              <a:rPr lang="en-US" sz="1100" b="1" dirty="0">
                <a:solidFill>
                  <a:srgbClr val="0F1F2E"/>
                </a:solidFill>
                <a:latin typeface="Calibri" pitchFamily="34" charset="0"/>
                <a:ea typeface="Calibri" pitchFamily="34" charset="-122"/>
                <a:cs typeface="Calibri" pitchFamily="34" charset="-120"/>
              </a:rPr>
              <a:t>Conclusions</a:t>
            </a:r>
            <a:endParaRPr lang="en-US" sz="1100" dirty="0"/>
          </a:p>
        </p:txBody>
      </p:sp>
      <p:sp>
        <p:nvSpPr>
          <p:cNvPr id="48" name="Text 46"/>
          <p:cNvSpPr/>
          <p:nvPr/>
        </p:nvSpPr>
        <p:spPr>
          <a:xfrm>
            <a:off x="5367528" y="3995928"/>
            <a:ext cx="3593592"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Discussion, recommendations, future work</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Background of the Study</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SME Landscape in Cameroon</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Text 7"/>
          <p:cNvSpPr/>
          <p:nvPr/>
        </p:nvSpPr>
        <p:spPr>
          <a:xfrm>
            <a:off x="320040" y="1005840"/>
            <a:ext cx="4114800" cy="1280160"/>
          </a:xfrm>
          <a:prstGeom prst="rect">
            <a:avLst/>
          </a:prstGeom>
          <a:noFill/>
          <a:ln/>
        </p:spPr>
        <p:txBody>
          <a:bodyPr wrap="square" lIns="0" tIns="0" rIns="0" bIns="0" rtlCol="0" anchor="t"/>
          <a:lstStyle/>
          <a:p>
            <a:pPr indent="0" marL="0">
              <a:buNone/>
            </a:pPr>
            <a:r>
              <a:rPr lang="en-US" sz="1400" b="1" dirty="0">
                <a:solidFill>
                  <a:srgbClr val="0A1931"/>
                </a:solidFill>
                <a:latin typeface="Calibri" pitchFamily="34" charset="0"/>
                <a:ea typeface="Calibri" pitchFamily="34" charset="-122"/>
                <a:cs typeface="Calibri" pitchFamily="34" charset="-120"/>
              </a:rPr>
              <a:t>The SME Sector in Cameroon</a:t>
            </a:r>
            <a:endParaRPr lang="en-US" sz="14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050" dirty="0">
                <a:solidFill>
                  <a:srgbClr val="3A5068"/>
                </a:solidFill>
                <a:latin typeface="Calibri" pitchFamily="34" charset="0"/>
                <a:ea typeface="Calibri" pitchFamily="34" charset="-122"/>
                <a:cs typeface="Calibri" pitchFamily="34" charset="-120"/>
              </a:rPr>
              <a:t>Small and Medium-sized Enterprises (SMEs) are the backbone of Cameroon's economy, contributing over 50% of employment across sub-Saharan Africa (African Development Bank Group, 2022).</a:t>
            </a:r>
            <a:endParaRPr lang="en-US" sz="14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050" dirty="0">
                <a:solidFill>
                  <a:srgbClr val="3A5068"/>
                </a:solidFill>
                <a:latin typeface="Calibri" pitchFamily="34" charset="0"/>
                <a:ea typeface="Calibri" pitchFamily="34" charset="-122"/>
                <a:cs typeface="Calibri" pitchFamily="34" charset="-120"/>
              </a:rPr>
              <a:t>However, the sector faces severe structural challenges:</a:t>
            </a:r>
            <a:endParaRPr lang="en-US" sz="1400" dirty="0"/>
          </a:p>
        </p:txBody>
      </p:sp>
      <p:sp>
        <p:nvSpPr>
          <p:cNvPr id="10" name="Text 8"/>
          <p:cNvSpPr/>
          <p:nvPr/>
        </p:nvSpPr>
        <p:spPr>
          <a:xfrm>
            <a:off x="320040" y="2331720"/>
            <a:ext cx="4114800" cy="1463040"/>
          </a:xfrm>
          <a:prstGeom prst="rect">
            <a:avLst/>
          </a:prstGeom>
          <a:noFill/>
          <a:ln/>
        </p:spPr>
        <p:txBody>
          <a:bodyPr wrap="square" lIns="0" tIns="0" rIns="0" bIns="0" rtlCol="0" anchor="t"/>
          <a:lstStyle/>
          <a:p>
            <a:pPr marL="342900" indent="-342900">
              <a:buSzPct val="100000"/>
              <a:buChar char="•"/>
            </a:pPr>
            <a:r>
              <a:rPr lang="en-US" sz="1000" dirty="0">
                <a:solidFill>
                  <a:srgbClr val="3A5068"/>
                </a:solidFill>
                <a:latin typeface="Calibri" pitchFamily="34" charset="0"/>
                <a:ea typeface="Calibri" pitchFamily="34" charset="-122"/>
                <a:cs typeface="Calibri" pitchFamily="34" charset="-120"/>
              </a:rPr>
              <a:t>Limited access to startup capital</a:t>
            </a:r>
            <a:endParaRPr lang="en-US" sz="1000" dirty="0"/>
          </a:p>
          <a:p>
            <a:pPr marL="342900" indent="-342900">
              <a:buSzPct val="100000"/>
              <a:buChar char="•"/>
            </a:pPr>
            <a:r>
              <a:rPr lang="en-US" sz="1000" dirty="0">
                <a:solidFill>
                  <a:srgbClr val="3A5068"/>
                </a:solidFill>
                <a:latin typeface="Calibri" pitchFamily="34" charset="0"/>
                <a:ea typeface="Calibri" pitchFamily="34" charset="-122"/>
                <a:cs typeface="Calibri" pitchFamily="34" charset="-120"/>
              </a:rPr>
              <a:t>Weak financial planning and record-keeping</a:t>
            </a:r>
            <a:endParaRPr lang="en-US" sz="1000" dirty="0"/>
          </a:p>
          <a:p>
            <a:pPr marL="342900" indent="-342900">
              <a:buSzPct val="100000"/>
              <a:buChar char="•"/>
            </a:pPr>
            <a:r>
              <a:rPr lang="en-US" sz="1000" dirty="0">
                <a:solidFill>
                  <a:srgbClr val="3A5068"/>
                </a:solidFill>
                <a:latin typeface="Calibri" pitchFamily="34" charset="0"/>
                <a:ea typeface="Calibri" pitchFamily="34" charset="-122"/>
                <a:cs typeface="Calibri" pitchFamily="34" charset="-120"/>
              </a:rPr>
              <a:t>Poor market and location analysis</a:t>
            </a:r>
            <a:endParaRPr lang="en-US" sz="1000" dirty="0"/>
          </a:p>
          <a:p>
            <a:pPr marL="342900" indent="-342900">
              <a:buSzPct val="100000"/>
              <a:buChar char="•"/>
            </a:pPr>
            <a:r>
              <a:rPr lang="en-US" sz="1000" dirty="0">
                <a:solidFill>
                  <a:srgbClr val="3A5068"/>
                </a:solidFill>
                <a:latin typeface="Calibri" pitchFamily="34" charset="0"/>
                <a:ea typeface="Calibri" pitchFamily="34" charset="-122"/>
                <a:cs typeface="Calibri" pitchFamily="34" charset="-120"/>
              </a:rPr>
              <a:t>Regulatory complexity and tax burden</a:t>
            </a:r>
            <a:endParaRPr lang="en-US" sz="1000" dirty="0"/>
          </a:p>
          <a:p>
            <a:pPr marL="342900" indent="-342900">
              <a:buSzPct val="100000"/>
              <a:buChar char="•"/>
            </a:pPr>
            <a:r>
              <a:rPr lang="en-US" sz="1000" dirty="0">
                <a:solidFill>
                  <a:srgbClr val="3A5068"/>
                </a:solidFill>
                <a:latin typeface="Calibri" pitchFamily="34" charset="0"/>
                <a:ea typeface="Calibri" pitchFamily="34" charset="-122"/>
                <a:cs typeface="Calibri" pitchFamily="34" charset="-120"/>
              </a:rPr>
              <a:t>Lack of data-driven decision tools</a:t>
            </a:r>
            <a:endParaRPr lang="en-US" sz="1000" dirty="0"/>
          </a:p>
        </p:txBody>
      </p:sp>
      <p:pic>
        <p:nvPicPr>
          <p:cNvPr id="11" name="Image 0" descr="preencoded.png">    </p:cNvPr>
          <p:cNvPicPr>
            <a:picLocks noChangeAspect="1"/>
          </p:cNvPicPr>
          <p:nvPr/>
        </p:nvPicPr>
        <p:blipFill>
          <a:blip r:embed="rId1"/>
          <a:stretch>
            <a:fillRect/>
          </a:stretch>
        </p:blipFill>
        <p:spPr>
          <a:xfrm>
            <a:off x="320040" y="3858768"/>
            <a:ext cx="256032" cy="256032"/>
          </a:xfrm>
          <a:prstGeom prst="rect">
            <a:avLst/>
          </a:prstGeom>
        </p:spPr>
      </p:pic>
      <p:sp>
        <p:nvSpPr>
          <p:cNvPr id="12" name="Text 9"/>
          <p:cNvSpPr/>
          <p:nvPr/>
        </p:nvSpPr>
        <p:spPr>
          <a:xfrm>
            <a:off x="640080" y="3858768"/>
            <a:ext cx="3749040" cy="256032"/>
          </a:xfrm>
          <a:prstGeom prst="rect">
            <a:avLst/>
          </a:prstGeom>
          <a:noFill/>
          <a:ln/>
        </p:spPr>
        <p:txBody>
          <a:bodyPr wrap="square" lIns="0" tIns="0" rIns="0" bIns="0" rtlCol="0" anchor="ctr"/>
          <a:lstStyle/>
          <a:p>
            <a:pPr indent="0" marL="0">
              <a:buNone/>
            </a:pPr>
            <a:r>
              <a:rPr lang="en-US" sz="950" b="1" i="1" dirty="0">
                <a:solidFill>
                  <a:srgbClr val="F59E0B"/>
                </a:solidFill>
                <a:latin typeface="Calibri" pitchFamily="34" charset="0"/>
                <a:ea typeface="Calibri" pitchFamily="34" charset="-122"/>
                <a:cs typeface="Calibri" pitchFamily="34" charset="-120"/>
              </a:rPr>
              <a:t>MINPMEESA (2022): ~94.6% of Cameroonian SMEs fail within 5 years</a:t>
            </a:r>
            <a:endParaRPr lang="en-US" sz="950" dirty="0"/>
          </a:p>
        </p:txBody>
      </p:sp>
      <p:sp>
        <p:nvSpPr>
          <p:cNvPr id="13" name="Shape 10"/>
          <p:cNvSpPr/>
          <p:nvPr/>
        </p:nvSpPr>
        <p:spPr>
          <a:xfrm>
            <a:off x="4754880" y="1005840"/>
            <a:ext cx="1920240" cy="1005840"/>
          </a:xfrm>
          <a:prstGeom prst="rect">
            <a:avLst/>
          </a:prstGeom>
          <a:solidFill>
            <a:srgbClr val="DC2626"/>
          </a:solidFill>
          <a:ln w="12700">
            <a:solidFill>
              <a:srgbClr val="DC2626"/>
            </a:solidFill>
            <a:prstDash val="solid"/>
          </a:ln>
          <a:effectLst>
            <a:outerShdw sx="100000" sy="100000" kx="0" ky="0" algn="bl" rotWithShape="0" blurRad="101600" dist="25400" dir="8100000">
              <a:srgbClr val="000000">
                <a:alpha val="12000"/>
              </a:srgbClr>
            </a:outerShdw>
          </a:effectLst>
        </p:spPr>
      </p:sp>
      <p:sp>
        <p:nvSpPr>
          <p:cNvPr id="14" name="Text 11"/>
          <p:cNvSpPr/>
          <p:nvPr/>
        </p:nvSpPr>
        <p:spPr>
          <a:xfrm>
            <a:off x="4800600" y="1078992"/>
            <a:ext cx="1828800" cy="553212"/>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94.6%</a:t>
            </a:r>
            <a:endParaRPr lang="en-US" sz="2800" dirty="0"/>
          </a:p>
        </p:txBody>
      </p:sp>
      <p:sp>
        <p:nvSpPr>
          <p:cNvPr id="15" name="Text 12"/>
          <p:cNvSpPr/>
          <p:nvPr/>
        </p:nvSpPr>
        <p:spPr>
          <a:xfrm>
            <a:off x="4800600" y="1559052"/>
            <a:ext cx="1828800" cy="402336"/>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5-year failure rate (MINPMEESA, 2022)</a:t>
            </a:r>
            <a:endParaRPr lang="en-US" sz="900" dirty="0"/>
          </a:p>
        </p:txBody>
      </p:sp>
      <p:sp>
        <p:nvSpPr>
          <p:cNvPr id="16" name="Shape 13"/>
          <p:cNvSpPr/>
          <p:nvPr/>
        </p:nvSpPr>
        <p:spPr>
          <a:xfrm>
            <a:off x="6903720" y="1005840"/>
            <a:ext cx="1920240" cy="1005840"/>
          </a:xfrm>
          <a:prstGeom prst="rect">
            <a:avLst/>
          </a:prstGeom>
          <a:solidFill>
            <a:srgbClr val="0D7C8F"/>
          </a:solidFill>
          <a:ln w="12700">
            <a:solidFill>
              <a:srgbClr val="0D7C8F"/>
            </a:solidFill>
            <a:prstDash val="solid"/>
          </a:ln>
          <a:effectLst>
            <a:outerShdw sx="100000" sy="100000" kx="0" ky="0" algn="bl" rotWithShape="0" blurRad="101600" dist="25400" dir="8100000">
              <a:srgbClr val="000000">
                <a:alpha val="12000"/>
              </a:srgbClr>
            </a:outerShdw>
          </a:effectLst>
        </p:spPr>
      </p:sp>
      <p:sp>
        <p:nvSpPr>
          <p:cNvPr id="17" name="Text 14"/>
          <p:cNvSpPr/>
          <p:nvPr/>
        </p:nvSpPr>
        <p:spPr>
          <a:xfrm>
            <a:off x="6949440" y="1078992"/>
            <a:ext cx="1828800" cy="553212"/>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50%+</a:t>
            </a:r>
            <a:endParaRPr lang="en-US" sz="2800" dirty="0"/>
          </a:p>
        </p:txBody>
      </p:sp>
      <p:sp>
        <p:nvSpPr>
          <p:cNvPr id="18" name="Text 15"/>
          <p:cNvSpPr/>
          <p:nvPr/>
        </p:nvSpPr>
        <p:spPr>
          <a:xfrm>
            <a:off x="6949440" y="1559052"/>
            <a:ext cx="1828800" cy="402336"/>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Employment contribution (AfDB, 2022)</a:t>
            </a:r>
            <a:endParaRPr lang="en-US" sz="900" dirty="0"/>
          </a:p>
        </p:txBody>
      </p:sp>
      <p:sp>
        <p:nvSpPr>
          <p:cNvPr id="19" name="Shape 16"/>
          <p:cNvSpPr/>
          <p:nvPr/>
        </p:nvSpPr>
        <p:spPr>
          <a:xfrm>
            <a:off x="4754880" y="2194560"/>
            <a:ext cx="1920240" cy="1005840"/>
          </a:xfrm>
          <a:prstGeom prst="rect">
            <a:avLst/>
          </a:prstGeom>
          <a:solidFill>
            <a:srgbClr val="112244"/>
          </a:solidFill>
          <a:ln w="12700">
            <a:solidFill>
              <a:srgbClr val="112244"/>
            </a:solidFill>
            <a:prstDash val="solid"/>
          </a:ln>
          <a:effectLst>
            <a:outerShdw sx="100000" sy="100000" kx="0" ky="0" algn="bl" rotWithShape="0" blurRad="101600" dist="25400" dir="8100000">
              <a:srgbClr val="000000">
                <a:alpha val="12000"/>
              </a:srgbClr>
            </a:outerShdw>
          </a:effectLst>
        </p:spPr>
      </p:sp>
      <p:sp>
        <p:nvSpPr>
          <p:cNvPr id="20" name="Text 17"/>
          <p:cNvSpPr/>
          <p:nvPr/>
        </p:nvSpPr>
        <p:spPr>
          <a:xfrm>
            <a:off x="4800600" y="2267712"/>
            <a:ext cx="1828800" cy="553212"/>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a:t>
            </a:r>
            <a:endParaRPr lang="en-US" sz="2800" dirty="0"/>
          </a:p>
        </p:txBody>
      </p:sp>
      <p:sp>
        <p:nvSpPr>
          <p:cNvPr id="21" name="Text 18"/>
          <p:cNvSpPr/>
          <p:nvPr/>
        </p:nvSpPr>
        <p:spPr>
          <a:xfrm>
            <a:off x="4800600" y="2747772"/>
            <a:ext cx="1828800" cy="402336"/>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Major cities studied</a:t>
            </a:r>
            <a:endParaRPr lang="en-US" sz="900" dirty="0"/>
          </a:p>
        </p:txBody>
      </p:sp>
      <p:sp>
        <p:nvSpPr>
          <p:cNvPr id="22" name="Shape 19"/>
          <p:cNvSpPr/>
          <p:nvPr/>
        </p:nvSpPr>
        <p:spPr>
          <a:xfrm>
            <a:off x="6903720" y="2194560"/>
            <a:ext cx="1920240" cy="1005840"/>
          </a:xfrm>
          <a:prstGeom prst="rect">
            <a:avLst/>
          </a:prstGeom>
          <a:solidFill>
            <a:srgbClr val="0D7C8F"/>
          </a:solidFill>
          <a:ln w="12700">
            <a:solidFill>
              <a:srgbClr val="0D7C8F"/>
            </a:solidFill>
            <a:prstDash val="solid"/>
          </a:ln>
          <a:effectLst>
            <a:outerShdw sx="100000" sy="100000" kx="0" ky="0" algn="bl" rotWithShape="0" blurRad="101600" dist="25400" dir="8100000">
              <a:srgbClr val="000000">
                <a:alpha val="12000"/>
              </a:srgbClr>
            </a:outerShdw>
          </a:effectLst>
        </p:spPr>
      </p:sp>
      <p:sp>
        <p:nvSpPr>
          <p:cNvPr id="23" name="Text 20"/>
          <p:cNvSpPr/>
          <p:nvPr/>
        </p:nvSpPr>
        <p:spPr>
          <a:xfrm>
            <a:off x="6949440" y="2267712"/>
            <a:ext cx="1828800" cy="553212"/>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17.7%</a:t>
            </a:r>
            <a:endParaRPr lang="en-US" sz="2800" dirty="0"/>
          </a:p>
        </p:txBody>
      </p:sp>
      <p:sp>
        <p:nvSpPr>
          <p:cNvPr id="24" name="Text 21"/>
          <p:cNvSpPr/>
          <p:nvPr/>
        </p:nvSpPr>
        <p:spPr>
          <a:xfrm>
            <a:off x="6949440" y="2747772"/>
            <a:ext cx="1828800" cy="402336"/>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Baseline survival rate in dataset</a:t>
            </a:r>
            <a:endParaRPr lang="en-US" sz="900" dirty="0"/>
          </a:p>
        </p:txBody>
      </p:sp>
      <p:sp>
        <p:nvSpPr>
          <p:cNvPr id="25" name="Shape 22"/>
          <p:cNvSpPr/>
          <p:nvPr/>
        </p:nvSpPr>
        <p:spPr>
          <a:xfrm>
            <a:off x="4754880" y="3401568"/>
            <a:ext cx="4069080" cy="804672"/>
          </a:xfrm>
          <a:prstGeom prst="rect">
            <a:avLst/>
          </a:prstGeom>
          <a:solidFill>
            <a:srgbClr val="FFFFFF"/>
          </a:solidFill>
          <a:ln w="9525">
            <a:solidFill>
              <a:srgbClr val="E2EDF2"/>
            </a:solidFill>
            <a:prstDash val="solid"/>
          </a:ln>
        </p:spPr>
      </p:sp>
      <p:pic>
        <p:nvPicPr>
          <p:cNvPr id="26" name="Image 1" descr="preencoded.png">    </p:cNvPr>
          <p:cNvPicPr>
            <a:picLocks noChangeAspect="1"/>
          </p:cNvPicPr>
          <p:nvPr/>
        </p:nvPicPr>
        <p:blipFill>
          <a:blip r:embed="rId2"/>
          <a:stretch>
            <a:fillRect/>
          </a:stretch>
        </p:blipFill>
        <p:spPr>
          <a:xfrm>
            <a:off x="4846320" y="3493008"/>
            <a:ext cx="256032" cy="256032"/>
          </a:xfrm>
          <a:prstGeom prst="rect">
            <a:avLst/>
          </a:prstGeom>
        </p:spPr>
      </p:pic>
      <p:sp>
        <p:nvSpPr>
          <p:cNvPr id="27" name="Text 23"/>
          <p:cNvSpPr/>
          <p:nvPr/>
        </p:nvSpPr>
        <p:spPr>
          <a:xfrm>
            <a:off x="5166360" y="3493008"/>
            <a:ext cx="3566160" cy="256032"/>
          </a:xfrm>
          <a:prstGeom prst="rect">
            <a:avLst/>
          </a:prstGeom>
          <a:noFill/>
          <a:ln/>
        </p:spPr>
        <p:txBody>
          <a:bodyPr wrap="square" lIns="0" tIns="0" rIns="0" bIns="0" rtlCol="0" anchor="ctr"/>
          <a:lstStyle/>
          <a:p>
            <a:pPr indent="0" marL="0">
              <a:buNone/>
            </a:pPr>
            <a:r>
              <a:rPr lang="en-US" sz="950" b="1" dirty="0">
                <a:solidFill>
                  <a:srgbClr val="0F1F2E"/>
                </a:solidFill>
                <a:latin typeface="Calibri" pitchFamily="34" charset="0"/>
                <a:ea typeface="Calibri" pitchFamily="34" charset="-122"/>
                <a:cs typeface="Calibri" pitchFamily="34" charset="-120"/>
              </a:rPr>
              <a:t>Target cities: Douala · Yaounde · Bamenda · Bafoussam · Limbe · Buea</a:t>
            </a:r>
            <a:endParaRPr lang="en-US" sz="950" dirty="0"/>
          </a:p>
        </p:txBody>
      </p:sp>
      <p:sp>
        <p:nvSpPr>
          <p:cNvPr id="28" name="Text 24"/>
          <p:cNvSpPr/>
          <p:nvPr/>
        </p:nvSpPr>
        <p:spPr>
          <a:xfrm>
            <a:off x="4846320" y="3767328"/>
            <a:ext cx="3886200" cy="34747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All major economic centres of Cameroon representing diverse market conditions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Problem Statement</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The gap between data and decision-making</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Text 7"/>
          <p:cNvSpPr/>
          <p:nvPr/>
        </p:nvSpPr>
        <p:spPr>
          <a:xfrm>
            <a:off x="320040" y="1024128"/>
            <a:ext cx="8503920" cy="640080"/>
          </a:xfrm>
          <a:prstGeom prst="rect">
            <a:avLst/>
          </a:prstGeom>
          <a:solidFill>
            <a:srgbClr val="E8F4FA"/>
          </a:solidFill>
          <a:ln/>
        </p:spPr>
        <p:txBody>
          <a:bodyPr wrap="square" lIns="76200" tIns="101600" rIns="101600" bIns="76200" rtlCol="0" anchor="ctr"/>
          <a:lstStyle/>
          <a:p>
            <a:pPr indent="0" marL="0">
              <a:buNone/>
            </a:pPr>
            <a:r>
              <a:rPr lang="en-US" sz="1100" i="1" dirty="0">
                <a:solidFill>
                  <a:srgbClr val="0F1F2E"/>
                </a:solidFill>
                <a:latin typeface="Calibri" pitchFamily="34" charset="0"/>
                <a:ea typeface="Calibri" pitchFamily="34" charset="-122"/>
                <a:cs typeface="Calibri" pitchFamily="34" charset="-120"/>
              </a:rPr>
              <a:t>Despite the economic importance of Cameroonian SMEs, entrepreneurs lack access to affordable, locally-calibrated, data-driven tools that can predict closure risk and generate actionable advisory guidance before or during business operation.</a:t>
            </a:r>
            <a:endParaRPr lang="en-US" sz="1100" dirty="0"/>
          </a:p>
        </p:txBody>
      </p:sp>
      <p:sp>
        <p:nvSpPr>
          <p:cNvPr id="10" name="Shape 8"/>
          <p:cNvSpPr/>
          <p:nvPr/>
        </p:nvSpPr>
        <p:spPr>
          <a:xfrm>
            <a:off x="320040" y="1810512"/>
            <a:ext cx="4160520" cy="1188720"/>
          </a:xfrm>
          <a:prstGeom prst="rect">
            <a:avLst/>
          </a:prstGeom>
          <a:solidFill>
            <a:srgbClr val="FFFFFF"/>
          </a:solidFill>
          <a:ln w="9525">
            <a:solidFill>
              <a:srgbClr val="E2EDF2"/>
            </a:solidFill>
            <a:prstDash val="solid"/>
          </a:ln>
        </p:spPr>
      </p:sp>
      <p:sp>
        <p:nvSpPr>
          <p:cNvPr id="11" name="Shape 9"/>
          <p:cNvSpPr/>
          <p:nvPr/>
        </p:nvSpPr>
        <p:spPr>
          <a:xfrm>
            <a:off x="320040" y="1810512"/>
            <a:ext cx="4160520" cy="54864"/>
          </a:xfrm>
          <a:prstGeom prst="rect">
            <a:avLst/>
          </a:prstGeom>
          <a:solidFill>
            <a:srgbClr val="0D7C8F"/>
          </a:solidFill>
          <a:ln w="12700">
            <a:solidFill>
              <a:srgbClr val="0D7C8F"/>
            </a:solidFill>
            <a:prstDash val="solid"/>
          </a:ln>
        </p:spPr>
      </p:sp>
      <p:pic>
        <p:nvPicPr>
          <p:cNvPr id="12" name="Image 0" descr="preencoded.png">    </p:cNvPr>
          <p:cNvPicPr>
            <a:picLocks noChangeAspect="1"/>
          </p:cNvPicPr>
          <p:nvPr/>
        </p:nvPicPr>
        <p:blipFill>
          <a:blip r:embed="rId1"/>
          <a:stretch>
            <a:fillRect/>
          </a:stretch>
        </p:blipFill>
        <p:spPr>
          <a:xfrm>
            <a:off x="457200" y="1993392"/>
            <a:ext cx="320040" cy="320040"/>
          </a:xfrm>
          <a:prstGeom prst="rect">
            <a:avLst/>
          </a:prstGeom>
        </p:spPr>
      </p:pic>
      <p:sp>
        <p:nvSpPr>
          <p:cNvPr id="13" name="Text 10"/>
          <p:cNvSpPr/>
          <p:nvPr/>
        </p:nvSpPr>
        <p:spPr>
          <a:xfrm>
            <a:off x="886968" y="1920240"/>
            <a:ext cx="3474720" cy="292608"/>
          </a:xfrm>
          <a:prstGeom prst="rect">
            <a:avLst/>
          </a:prstGeom>
          <a:noFill/>
          <a:ln/>
        </p:spPr>
        <p:txBody>
          <a:bodyPr wrap="square" lIns="0" tIns="0" rIns="0" bIns="0" rtlCol="0" anchor="ctr"/>
          <a:lstStyle/>
          <a:p>
            <a:pPr indent="0" marL="0">
              <a:buNone/>
            </a:pPr>
            <a:r>
              <a:rPr lang="en-US" sz="1100" b="1" dirty="0">
                <a:solidFill>
                  <a:srgbClr val="0A1931"/>
                </a:solidFill>
                <a:latin typeface="Calibri" pitchFamily="34" charset="0"/>
                <a:ea typeface="Calibri" pitchFamily="34" charset="-122"/>
                <a:cs typeface="Calibri" pitchFamily="34" charset="-120"/>
              </a:rPr>
              <a:t>No Predictive Tools</a:t>
            </a:r>
            <a:endParaRPr lang="en-US" sz="1100" dirty="0"/>
          </a:p>
        </p:txBody>
      </p:sp>
      <p:sp>
        <p:nvSpPr>
          <p:cNvPr id="14" name="Text 11"/>
          <p:cNvSpPr/>
          <p:nvPr/>
        </p:nvSpPr>
        <p:spPr>
          <a:xfrm>
            <a:off x="457200" y="2340864"/>
            <a:ext cx="3886200" cy="594360"/>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Entrepreneurs rely on intuition rather than evidence when making critical investment and location decisions.</a:t>
            </a:r>
            <a:endParaRPr lang="en-US" sz="950" dirty="0"/>
          </a:p>
        </p:txBody>
      </p:sp>
      <p:sp>
        <p:nvSpPr>
          <p:cNvPr id="15" name="Shape 12"/>
          <p:cNvSpPr/>
          <p:nvPr/>
        </p:nvSpPr>
        <p:spPr>
          <a:xfrm>
            <a:off x="4754880" y="1810512"/>
            <a:ext cx="4160520" cy="1188720"/>
          </a:xfrm>
          <a:prstGeom prst="rect">
            <a:avLst/>
          </a:prstGeom>
          <a:solidFill>
            <a:srgbClr val="FFFFFF"/>
          </a:solidFill>
          <a:ln w="9525">
            <a:solidFill>
              <a:srgbClr val="E2EDF2"/>
            </a:solidFill>
            <a:prstDash val="solid"/>
          </a:ln>
        </p:spPr>
      </p:sp>
      <p:sp>
        <p:nvSpPr>
          <p:cNvPr id="16" name="Shape 13"/>
          <p:cNvSpPr/>
          <p:nvPr/>
        </p:nvSpPr>
        <p:spPr>
          <a:xfrm>
            <a:off x="4754880" y="1810512"/>
            <a:ext cx="4160520" cy="54864"/>
          </a:xfrm>
          <a:prstGeom prst="rect">
            <a:avLst/>
          </a:prstGeom>
          <a:solidFill>
            <a:srgbClr val="0D7C8F"/>
          </a:solidFill>
          <a:ln w="12700">
            <a:solidFill>
              <a:srgbClr val="0D7C8F"/>
            </a:solidFill>
            <a:prstDash val="solid"/>
          </a:ln>
        </p:spPr>
      </p:sp>
      <p:pic>
        <p:nvPicPr>
          <p:cNvPr id="17" name="Image 1" descr="preencoded.png">    </p:cNvPr>
          <p:cNvPicPr>
            <a:picLocks noChangeAspect="1"/>
          </p:cNvPicPr>
          <p:nvPr/>
        </p:nvPicPr>
        <p:blipFill>
          <a:blip r:embed="rId2"/>
          <a:stretch>
            <a:fillRect/>
          </a:stretch>
        </p:blipFill>
        <p:spPr>
          <a:xfrm>
            <a:off x="4892040" y="1993392"/>
            <a:ext cx="320040" cy="320040"/>
          </a:xfrm>
          <a:prstGeom prst="rect">
            <a:avLst/>
          </a:prstGeom>
        </p:spPr>
      </p:pic>
      <p:sp>
        <p:nvSpPr>
          <p:cNvPr id="18" name="Text 14"/>
          <p:cNvSpPr/>
          <p:nvPr/>
        </p:nvSpPr>
        <p:spPr>
          <a:xfrm>
            <a:off x="5321808" y="1920240"/>
            <a:ext cx="3474720" cy="292608"/>
          </a:xfrm>
          <a:prstGeom prst="rect">
            <a:avLst/>
          </a:prstGeom>
          <a:noFill/>
          <a:ln/>
        </p:spPr>
        <p:txBody>
          <a:bodyPr wrap="square" lIns="0" tIns="0" rIns="0" bIns="0" rtlCol="0" anchor="ctr"/>
          <a:lstStyle/>
          <a:p>
            <a:pPr indent="0" marL="0">
              <a:buNone/>
            </a:pPr>
            <a:r>
              <a:rPr lang="en-US" sz="1100" b="1" dirty="0">
                <a:solidFill>
                  <a:srgbClr val="0A1931"/>
                </a:solidFill>
                <a:latin typeface="Calibri" pitchFamily="34" charset="0"/>
                <a:ea typeface="Calibri" pitchFamily="34" charset="-122"/>
                <a:cs typeface="Calibri" pitchFamily="34" charset="-120"/>
              </a:rPr>
              <a:t>Generic Platforms</a:t>
            </a:r>
            <a:endParaRPr lang="en-US" sz="1100" dirty="0"/>
          </a:p>
        </p:txBody>
      </p:sp>
      <p:sp>
        <p:nvSpPr>
          <p:cNvPr id="19" name="Text 15"/>
          <p:cNvSpPr/>
          <p:nvPr/>
        </p:nvSpPr>
        <p:spPr>
          <a:xfrm>
            <a:off x="4892040" y="2340864"/>
            <a:ext cx="3886200" cy="594360"/>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Existing analytics platforms (SAP, Oracle, CB Insights) are calibrated for Western markets and institutional users — not informal African SMEs.</a:t>
            </a:r>
            <a:endParaRPr lang="en-US" sz="950" dirty="0"/>
          </a:p>
        </p:txBody>
      </p:sp>
      <p:sp>
        <p:nvSpPr>
          <p:cNvPr id="20" name="Shape 16"/>
          <p:cNvSpPr/>
          <p:nvPr/>
        </p:nvSpPr>
        <p:spPr>
          <a:xfrm>
            <a:off x="320040" y="3218688"/>
            <a:ext cx="4160520" cy="1188720"/>
          </a:xfrm>
          <a:prstGeom prst="rect">
            <a:avLst/>
          </a:prstGeom>
          <a:solidFill>
            <a:srgbClr val="FFFFFF"/>
          </a:solidFill>
          <a:ln w="9525">
            <a:solidFill>
              <a:srgbClr val="E2EDF2"/>
            </a:solidFill>
            <a:prstDash val="solid"/>
          </a:ln>
        </p:spPr>
      </p:sp>
      <p:sp>
        <p:nvSpPr>
          <p:cNvPr id="21" name="Shape 17"/>
          <p:cNvSpPr/>
          <p:nvPr/>
        </p:nvSpPr>
        <p:spPr>
          <a:xfrm>
            <a:off x="320040" y="3218688"/>
            <a:ext cx="4160520" cy="54864"/>
          </a:xfrm>
          <a:prstGeom prst="rect">
            <a:avLst/>
          </a:prstGeom>
          <a:solidFill>
            <a:srgbClr val="0D7C8F"/>
          </a:solidFill>
          <a:ln w="12700">
            <a:solidFill>
              <a:srgbClr val="0D7C8F"/>
            </a:solidFill>
            <a:prstDash val="solid"/>
          </a:ln>
        </p:spPr>
      </p:sp>
      <p:pic>
        <p:nvPicPr>
          <p:cNvPr id="22" name="Image 2" descr="preencoded.png">    </p:cNvPr>
          <p:cNvPicPr>
            <a:picLocks noChangeAspect="1"/>
          </p:cNvPicPr>
          <p:nvPr/>
        </p:nvPicPr>
        <p:blipFill>
          <a:blip r:embed="rId3"/>
          <a:stretch>
            <a:fillRect/>
          </a:stretch>
        </p:blipFill>
        <p:spPr>
          <a:xfrm>
            <a:off x="457200" y="3401568"/>
            <a:ext cx="320040" cy="320040"/>
          </a:xfrm>
          <a:prstGeom prst="rect">
            <a:avLst/>
          </a:prstGeom>
        </p:spPr>
      </p:pic>
      <p:sp>
        <p:nvSpPr>
          <p:cNvPr id="23" name="Text 18"/>
          <p:cNvSpPr/>
          <p:nvPr/>
        </p:nvSpPr>
        <p:spPr>
          <a:xfrm>
            <a:off x="886968" y="3328416"/>
            <a:ext cx="3474720" cy="292608"/>
          </a:xfrm>
          <a:prstGeom prst="rect">
            <a:avLst/>
          </a:prstGeom>
          <a:noFill/>
          <a:ln/>
        </p:spPr>
        <p:txBody>
          <a:bodyPr wrap="square" lIns="0" tIns="0" rIns="0" bIns="0" rtlCol="0" anchor="ctr"/>
          <a:lstStyle/>
          <a:p>
            <a:pPr indent="0" marL="0">
              <a:buNone/>
            </a:pPr>
            <a:r>
              <a:rPr lang="en-US" sz="1100" b="1" dirty="0">
                <a:solidFill>
                  <a:srgbClr val="0A1931"/>
                </a:solidFill>
                <a:latin typeface="Calibri" pitchFamily="34" charset="0"/>
                <a:ea typeface="Calibri" pitchFamily="34" charset="-122"/>
                <a:cs typeface="Calibri" pitchFamily="34" charset="-120"/>
              </a:rPr>
              <a:t>No Mobile-First Access</a:t>
            </a:r>
            <a:endParaRPr lang="en-US" sz="1100" dirty="0"/>
          </a:p>
        </p:txBody>
      </p:sp>
      <p:sp>
        <p:nvSpPr>
          <p:cNvPr id="24" name="Text 19"/>
          <p:cNvSpPr/>
          <p:nvPr/>
        </p:nvSpPr>
        <p:spPr>
          <a:xfrm>
            <a:off x="457200" y="3749040"/>
            <a:ext cx="3886200" cy="594360"/>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Available platforms require desktops, subscriptions, and technical expertise — barriers for SME owners in cities like Bamenda and Bafoussam.</a:t>
            </a:r>
            <a:endParaRPr lang="en-US" sz="950" dirty="0"/>
          </a:p>
        </p:txBody>
      </p:sp>
      <p:sp>
        <p:nvSpPr>
          <p:cNvPr id="25" name="Shape 20"/>
          <p:cNvSpPr/>
          <p:nvPr/>
        </p:nvSpPr>
        <p:spPr>
          <a:xfrm>
            <a:off x="4754880" y="3218688"/>
            <a:ext cx="4160520" cy="1188720"/>
          </a:xfrm>
          <a:prstGeom prst="rect">
            <a:avLst/>
          </a:prstGeom>
          <a:solidFill>
            <a:srgbClr val="FFFFFF"/>
          </a:solidFill>
          <a:ln w="9525">
            <a:solidFill>
              <a:srgbClr val="E2EDF2"/>
            </a:solidFill>
            <a:prstDash val="solid"/>
          </a:ln>
        </p:spPr>
      </p:sp>
      <p:sp>
        <p:nvSpPr>
          <p:cNvPr id="26" name="Shape 21"/>
          <p:cNvSpPr/>
          <p:nvPr/>
        </p:nvSpPr>
        <p:spPr>
          <a:xfrm>
            <a:off x="4754880" y="3218688"/>
            <a:ext cx="4160520" cy="54864"/>
          </a:xfrm>
          <a:prstGeom prst="rect">
            <a:avLst/>
          </a:prstGeom>
          <a:solidFill>
            <a:srgbClr val="0D7C8F"/>
          </a:solidFill>
          <a:ln w="12700">
            <a:solidFill>
              <a:srgbClr val="0D7C8F"/>
            </a:solidFill>
            <a:prstDash val="solid"/>
          </a:ln>
        </p:spPr>
      </p:sp>
      <p:pic>
        <p:nvPicPr>
          <p:cNvPr id="27" name="Image 3" descr="preencoded.png">    </p:cNvPr>
          <p:cNvPicPr>
            <a:picLocks noChangeAspect="1"/>
          </p:cNvPicPr>
          <p:nvPr/>
        </p:nvPicPr>
        <p:blipFill>
          <a:blip r:embed="rId4"/>
          <a:stretch>
            <a:fillRect/>
          </a:stretch>
        </p:blipFill>
        <p:spPr>
          <a:xfrm>
            <a:off x="4892040" y="3401568"/>
            <a:ext cx="320040" cy="320040"/>
          </a:xfrm>
          <a:prstGeom prst="rect">
            <a:avLst/>
          </a:prstGeom>
        </p:spPr>
      </p:pic>
      <p:sp>
        <p:nvSpPr>
          <p:cNvPr id="28" name="Text 22"/>
          <p:cNvSpPr/>
          <p:nvPr/>
        </p:nvSpPr>
        <p:spPr>
          <a:xfrm>
            <a:off x="5321808" y="3328416"/>
            <a:ext cx="3474720" cy="292608"/>
          </a:xfrm>
          <a:prstGeom prst="rect">
            <a:avLst/>
          </a:prstGeom>
          <a:noFill/>
          <a:ln/>
        </p:spPr>
        <p:txBody>
          <a:bodyPr wrap="square" lIns="0" tIns="0" rIns="0" bIns="0" rtlCol="0" anchor="ctr"/>
          <a:lstStyle/>
          <a:p>
            <a:pPr indent="0" marL="0">
              <a:buNone/>
            </a:pPr>
            <a:r>
              <a:rPr lang="en-US" sz="1100" b="1" dirty="0">
                <a:solidFill>
                  <a:srgbClr val="0A1931"/>
                </a:solidFill>
                <a:latin typeface="Calibri" pitchFamily="34" charset="0"/>
                <a:ea typeface="Calibri" pitchFamily="34" charset="-122"/>
                <a:cs typeface="Calibri" pitchFamily="34" charset="-120"/>
              </a:rPr>
              <a:t>Missing LLM Advisory</a:t>
            </a:r>
            <a:endParaRPr lang="en-US" sz="1100" dirty="0"/>
          </a:p>
        </p:txBody>
      </p:sp>
      <p:sp>
        <p:nvSpPr>
          <p:cNvPr id="29" name="Text 23"/>
          <p:cNvSpPr/>
          <p:nvPr/>
        </p:nvSpPr>
        <p:spPr>
          <a:xfrm>
            <a:off x="4892040" y="3749040"/>
            <a:ext cx="3886200" cy="594360"/>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No existing system combines ML predictions with natural language advisory reports tailored to Cameroon's tax and regulatory context.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Research Objectives</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What this study set out to achieve</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320040" y="1024128"/>
            <a:ext cx="8503920" cy="566928"/>
          </a:xfrm>
          <a:prstGeom prst="rect">
            <a:avLst/>
          </a:prstGeom>
          <a:solidFill>
            <a:srgbClr val="0A1931"/>
          </a:solidFill>
          <a:ln w="12700">
            <a:solidFill>
              <a:srgbClr val="0A1931"/>
            </a:solidFill>
            <a:prstDash val="solid"/>
          </a:ln>
        </p:spPr>
      </p:sp>
      <p:pic>
        <p:nvPicPr>
          <p:cNvPr id="10" name="Image 0" descr="preencoded.png">    </p:cNvPr>
          <p:cNvPicPr>
            <a:picLocks noChangeAspect="1"/>
          </p:cNvPicPr>
          <p:nvPr/>
        </p:nvPicPr>
        <p:blipFill>
          <a:blip r:embed="rId1"/>
          <a:stretch>
            <a:fillRect/>
          </a:stretch>
        </p:blipFill>
        <p:spPr>
          <a:xfrm>
            <a:off x="438912" y="1078992"/>
            <a:ext cx="329184" cy="329184"/>
          </a:xfrm>
          <a:prstGeom prst="rect">
            <a:avLst/>
          </a:prstGeom>
        </p:spPr>
      </p:pic>
      <p:sp>
        <p:nvSpPr>
          <p:cNvPr id="11" name="Text 8"/>
          <p:cNvSpPr/>
          <p:nvPr/>
        </p:nvSpPr>
        <p:spPr>
          <a:xfrm>
            <a:off x="841248" y="1024128"/>
            <a:ext cx="1828800" cy="274320"/>
          </a:xfrm>
          <a:prstGeom prst="rect">
            <a:avLst/>
          </a:prstGeom>
          <a:noFill/>
          <a:ln/>
        </p:spPr>
        <p:txBody>
          <a:bodyPr wrap="square" lIns="0" tIns="0" rIns="0" bIns="0" rtlCol="0" anchor="ctr"/>
          <a:lstStyle/>
          <a:p>
            <a:pPr indent="0" marL="0">
              <a:buNone/>
            </a:pPr>
            <a:r>
              <a:rPr lang="en-US" sz="900" b="1" dirty="0">
                <a:solidFill>
                  <a:srgbClr val="06B6D4"/>
                </a:solidFill>
                <a:latin typeface="Calibri" pitchFamily="34" charset="0"/>
                <a:ea typeface="Calibri" pitchFamily="34" charset="-122"/>
                <a:cs typeface="Calibri" pitchFamily="34" charset="-120"/>
              </a:rPr>
              <a:t>General Objective</a:t>
            </a:r>
            <a:endParaRPr lang="en-US" sz="900" dirty="0"/>
          </a:p>
        </p:txBody>
      </p:sp>
      <p:sp>
        <p:nvSpPr>
          <p:cNvPr id="12" name="Text 9"/>
          <p:cNvSpPr/>
          <p:nvPr/>
        </p:nvSpPr>
        <p:spPr>
          <a:xfrm>
            <a:off x="841248" y="1261872"/>
            <a:ext cx="777240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Design and implement a data-driven smart SME analytics platform that predicts business survival, growth, and risk in Cameroon.</a:t>
            </a:r>
            <a:endParaRPr lang="en-US" sz="1000" dirty="0"/>
          </a:p>
        </p:txBody>
      </p:sp>
      <p:sp>
        <p:nvSpPr>
          <p:cNvPr id="13" name="Shape 10"/>
          <p:cNvSpPr/>
          <p:nvPr/>
        </p:nvSpPr>
        <p:spPr>
          <a:xfrm>
            <a:off x="320040" y="1737360"/>
            <a:ext cx="8503920" cy="530352"/>
          </a:xfrm>
          <a:prstGeom prst="rect">
            <a:avLst/>
          </a:prstGeom>
          <a:solidFill>
            <a:srgbClr val="FFFFFF"/>
          </a:solidFill>
          <a:ln w="9525">
            <a:solidFill>
              <a:srgbClr val="E2EDF2"/>
            </a:solidFill>
            <a:prstDash val="solid"/>
          </a:ln>
        </p:spPr>
      </p:sp>
      <p:sp>
        <p:nvSpPr>
          <p:cNvPr id="14" name="Shape 11"/>
          <p:cNvSpPr/>
          <p:nvPr/>
        </p:nvSpPr>
        <p:spPr>
          <a:xfrm>
            <a:off x="320040" y="1737360"/>
            <a:ext cx="502920" cy="530352"/>
          </a:xfrm>
          <a:prstGeom prst="rect">
            <a:avLst/>
          </a:prstGeom>
          <a:solidFill>
            <a:srgbClr val="0D7C8F"/>
          </a:solidFill>
          <a:ln w="12700">
            <a:solidFill>
              <a:srgbClr val="0D7C8F"/>
            </a:solidFill>
            <a:prstDash val="solid"/>
          </a:ln>
        </p:spPr>
      </p:sp>
      <p:sp>
        <p:nvSpPr>
          <p:cNvPr id="15" name="Text 12"/>
          <p:cNvSpPr/>
          <p:nvPr/>
        </p:nvSpPr>
        <p:spPr>
          <a:xfrm>
            <a:off x="320040" y="1737360"/>
            <a:ext cx="502920"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SO1</a:t>
            </a:r>
            <a:endParaRPr lang="en-US" sz="900" dirty="0"/>
          </a:p>
        </p:txBody>
      </p:sp>
      <p:sp>
        <p:nvSpPr>
          <p:cNvPr id="16" name="Text 13"/>
          <p:cNvSpPr/>
          <p:nvPr/>
        </p:nvSpPr>
        <p:spPr>
          <a:xfrm>
            <a:off x="932688" y="1773936"/>
            <a:ext cx="2377440" cy="237744"/>
          </a:xfrm>
          <a:prstGeom prst="rect">
            <a:avLst/>
          </a:prstGeom>
          <a:noFill/>
          <a:ln/>
        </p:spPr>
        <p:txBody>
          <a:bodyPr wrap="square" lIns="0" tIns="0" rIns="0" bIns="0" rtlCol="0" anchor="ctr"/>
          <a:lstStyle/>
          <a:p>
            <a:pPr indent="0" marL="0">
              <a:buNone/>
            </a:pPr>
            <a:r>
              <a:rPr lang="en-US" sz="1000" b="1" dirty="0">
                <a:solidFill>
                  <a:srgbClr val="0A1931"/>
                </a:solidFill>
                <a:latin typeface="Calibri" pitchFamily="34" charset="0"/>
                <a:ea typeface="Calibri" pitchFamily="34" charset="-122"/>
                <a:cs typeface="Calibri" pitchFamily="34" charset="-120"/>
              </a:rPr>
              <a:t>Data Collection &amp; Preprocessing</a:t>
            </a:r>
            <a:endParaRPr lang="en-US" sz="1000" dirty="0"/>
          </a:p>
        </p:txBody>
      </p:sp>
      <p:sp>
        <p:nvSpPr>
          <p:cNvPr id="17" name="Text 14"/>
          <p:cNvSpPr/>
          <p:nvPr/>
        </p:nvSpPr>
        <p:spPr>
          <a:xfrm>
            <a:off x="932688" y="2011680"/>
            <a:ext cx="7772400" cy="228600"/>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Collect and preprocess SME data from major Cameroonian cities including both primary survey responses and World Bank Enterprise Survey microdata.</a:t>
            </a:r>
            <a:endParaRPr lang="en-US" sz="900" dirty="0"/>
          </a:p>
        </p:txBody>
      </p:sp>
      <p:sp>
        <p:nvSpPr>
          <p:cNvPr id="18" name="Shape 15"/>
          <p:cNvSpPr/>
          <p:nvPr/>
        </p:nvSpPr>
        <p:spPr>
          <a:xfrm>
            <a:off x="320040" y="2350008"/>
            <a:ext cx="8503920" cy="530352"/>
          </a:xfrm>
          <a:prstGeom prst="rect">
            <a:avLst/>
          </a:prstGeom>
          <a:solidFill>
            <a:srgbClr val="FFFFFF"/>
          </a:solidFill>
          <a:ln w="9525">
            <a:solidFill>
              <a:srgbClr val="E2EDF2"/>
            </a:solidFill>
            <a:prstDash val="solid"/>
          </a:ln>
        </p:spPr>
      </p:sp>
      <p:sp>
        <p:nvSpPr>
          <p:cNvPr id="19" name="Shape 16"/>
          <p:cNvSpPr/>
          <p:nvPr/>
        </p:nvSpPr>
        <p:spPr>
          <a:xfrm>
            <a:off x="320040" y="2350008"/>
            <a:ext cx="502920" cy="530352"/>
          </a:xfrm>
          <a:prstGeom prst="rect">
            <a:avLst/>
          </a:prstGeom>
          <a:solidFill>
            <a:srgbClr val="0D7C8F"/>
          </a:solidFill>
          <a:ln w="12700">
            <a:solidFill>
              <a:srgbClr val="0D7C8F"/>
            </a:solidFill>
            <a:prstDash val="solid"/>
          </a:ln>
        </p:spPr>
      </p:sp>
      <p:sp>
        <p:nvSpPr>
          <p:cNvPr id="20" name="Text 17"/>
          <p:cNvSpPr/>
          <p:nvPr/>
        </p:nvSpPr>
        <p:spPr>
          <a:xfrm>
            <a:off x="320040" y="2350008"/>
            <a:ext cx="502920"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SO2</a:t>
            </a:r>
            <a:endParaRPr lang="en-US" sz="900" dirty="0"/>
          </a:p>
        </p:txBody>
      </p:sp>
      <p:sp>
        <p:nvSpPr>
          <p:cNvPr id="21" name="Text 18"/>
          <p:cNvSpPr/>
          <p:nvPr/>
        </p:nvSpPr>
        <p:spPr>
          <a:xfrm>
            <a:off x="932688" y="2386584"/>
            <a:ext cx="2377440" cy="237744"/>
          </a:xfrm>
          <a:prstGeom prst="rect">
            <a:avLst/>
          </a:prstGeom>
          <a:noFill/>
          <a:ln/>
        </p:spPr>
        <p:txBody>
          <a:bodyPr wrap="square" lIns="0" tIns="0" rIns="0" bIns="0" rtlCol="0" anchor="ctr"/>
          <a:lstStyle/>
          <a:p>
            <a:pPr indent="0" marL="0">
              <a:buNone/>
            </a:pPr>
            <a:r>
              <a:rPr lang="en-US" sz="1000" b="1" dirty="0">
                <a:solidFill>
                  <a:srgbClr val="0A1931"/>
                </a:solidFill>
                <a:latin typeface="Calibri" pitchFamily="34" charset="0"/>
                <a:ea typeface="Calibri" pitchFamily="34" charset="-122"/>
                <a:cs typeface="Calibri" pitchFamily="34" charset="-120"/>
              </a:rPr>
              <a:t>ML Survival Prediction</a:t>
            </a:r>
            <a:endParaRPr lang="en-US" sz="1000" dirty="0"/>
          </a:p>
        </p:txBody>
      </p:sp>
      <p:sp>
        <p:nvSpPr>
          <p:cNvPr id="22" name="Text 19"/>
          <p:cNvSpPr/>
          <p:nvPr/>
        </p:nvSpPr>
        <p:spPr>
          <a:xfrm>
            <a:off x="932688" y="2624328"/>
            <a:ext cx="7772400" cy="228600"/>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Apply CatBoost and LightGBM ensemble models to predict SME survival probability with calibrated probability outputs.</a:t>
            </a:r>
            <a:endParaRPr lang="en-US" sz="900" dirty="0"/>
          </a:p>
        </p:txBody>
      </p:sp>
      <p:sp>
        <p:nvSpPr>
          <p:cNvPr id="23" name="Shape 20"/>
          <p:cNvSpPr/>
          <p:nvPr/>
        </p:nvSpPr>
        <p:spPr>
          <a:xfrm>
            <a:off x="320040" y="2962656"/>
            <a:ext cx="8503920" cy="530352"/>
          </a:xfrm>
          <a:prstGeom prst="rect">
            <a:avLst/>
          </a:prstGeom>
          <a:solidFill>
            <a:srgbClr val="FFFFFF"/>
          </a:solidFill>
          <a:ln w="9525">
            <a:solidFill>
              <a:srgbClr val="E2EDF2"/>
            </a:solidFill>
            <a:prstDash val="solid"/>
          </a:ln>
        </p:spPr>
      </p:sp>
      <p:sp>
        <p:nvSpPr>
          <p:cNvPr id="24" name="Shape 21"/>
          <p:cNvSpPr/>
          <p:nvPr/>
        </p:nvSpPr>
        <p:spPr>
          <a:xfrm>
            <a:off x="320040" y="2962656"/>
            <a:ext cx="502920" cy="530352"/>
          </a:xfrm>
          <a:prstGeom prst="rect">
            <a:avLst/>
          </a:prstGeom>
          <a:solidFill>
            <a:srgbClr val="0D7C8F"/>
          </a:solidFill>
          <a:ln w="12700">
            <a:solidFill>
              <a:srgbClr val="0D7C8F"/>
            </a:solidFill>
            <a:prstDash val="solid"/>
          </a:ln>
        </p:spPr>
      </p:sp>
      <p:sp>
        <p:nvSpPr>
          <p:cNvPr id="25" name="Text 22"/>
          <p:cNvSpPr/>
          <p:nvPr/>
        </p:nvSpPr>
        <p:spPr>
          <a:xfrm>
            <a:off x="320040" y="2962656"/>
            <a:ext cx="502920"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SO3</a:t>
            </a:r>
            <a:endParaRPr lang="en-US" sz="900" dirty="0"/>
          </a:p>
        </p:txBody>
      </p:sp>
      <p:sp>
        <p:nvSpPr>
          <p:cNvPr id="26" name="Text 23"/>
          <p:cNvSpPr/>
          <p:nvPr/>
        </p:nvSpPr>
        <p:spPr>
          <a:xfrm>
            <a:off x="932688" y="2999232"/>
            <a:ext cx="2377440" cy="237744"/>
          </a:xfrm>
          <a:prstGeom prst="rect">
            <a:avLst/>
          </a:prstGeom>
          <a:noFill/>
          <a:ln/>
        </p:spPr>
        <p:txBody>
          <a:bodyPr wrap="square" lIns="0" tIns="0" rIns="0" bIns="0" rtlCol="0" anchor="ctr"/>
          <a:lstStyle/>
          <a:p>
            <a:pPr indent="0" marL="0">
              <a:buNone/>
            </a:pPr>
            <a:r>
              <a:rPr lang="en-US" sz="1000" b="1" dirty="0">
                <a:solidFill>
                  <a:srgbClr val="0A1931"/>
                </a:solidFill>
                <a:latin typeface="Calibri" pitchFamily="34" charset="0"/>
                <a:ea typeface="Calibri" pitchFamily="34" charset="-122"/>
                <a:cs typeface="Calibri" pitchFamily="34" charset="-120"/>
              </a:rPr>
              <a:t>Growth &amp; Income Projection</a:t>
            </a:r>
            <a:endParaRPr lang="en-US" sz="1000" dirty="0"/>
          </a:p>
        </p:txBody>
      </p:sp>
      <p:sp>
        <p:nvSpPr>
          <p:cNvPr id="27" name="Text 24"/>
          <p:cNvSpPr/>
          <p:nvPr/>
        </p:nvSpPr>
        <p:spPr>
          <a:xfrm>
            <a:off x="932688" y="3236976"/>
            <a:ext cx="7772400" cy="228600"/>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Estimate business growth and monthly income projections using XGBoost regression with SHAP explainability.</a:t>
            </a:r>
            <a:endParaRPr lang="en-US" sz="900" dirty="0"/>
          </a:p>
        </p:txBody>
      </p:sp>
      <p:sp>
        <p:nvSpPr>
          <p:cNvPr id="28" name="Shape 25"/>
          <p:cNvSpPr/>
          <p:nvPr/>
        </p:nvSpPr>
        <p:spPr>
          <a:xfrm>
            <a:off x="320040" y="3575304"/>
            <a:ext cx="8503920" cy="530352"/>
          </a:xfrm>
          <a:prstGeom prst="rect">
            <a:avLst/>
          </a:prstGeom>
          <a:solidFill>
            <a:srgbClr val="FFFFFF"/>
          </a:solidFill>
          <a:ln w="9525">
            <a:solidFill>
              <a:srgbClr val="E2EDF2"/>
            </a:solidFill>
            <a:prstDash val="solid"/>
          </a:ln>
        </p:spPr>
      </p:sp>
      <p:sp>
        <p:nvSpPr>
          <p:cNvPr id="29" name="Shape 26"/>
          <p:cNvSpPr/>
          <p:nvPr/>
        </p:nvSpPr>
        <p:spPr>
          <a:xfrm>
            <a:off x="320040" y="3575304"/>
            <a:ext cx="502920" cy="530352"/>
          </a:xfrm>
          <a:prstGeom prst="rect">
            <a:avLst/>
          </a:prstGeom>
          <a:solidFill>
            <a:srgbClr val="0D7C8F"/>
          </a:solidFill>
          <a:ln w="12700">
            <a:solidFill>
              <a:srgbClr val="0D7C8F"/>
            </a:solidFill>
            <a:prstDash val="solid"/>
          </a:ln>
        </p:spPr>
      </p:sp>
      <p:sp>
        <p:nvSpPr>
          <p:cNvPr id="30" name="Text 27"/>
          <p:cNvSpPr/>
          <p:nvPr/>
        </p:nvSpPr>
        <p:spPr>
          <a:xfrm>
            <a:off x="320040" y="3575304"/>
            <a:ext cx="502920"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SO4</a:t>
            </a:r>
            <a:endParaRPr lang="en-US" sz="900" dirty="0"/>
          </a:p>
        </p:txBody>
      </p:sp>
      <p:sp>
        <p:nvSpPr>
          <p:cNvPr id="31" name="Text 28"/>
          <p:cNvSpPr/>
          <p:nvPr/>
        </p:nvSpPr>
        <p:spPr>
          <a:xfrm>
            <a:off x="932688" y="3611880"/>
            <a:ext cx="2377440" cy="237744"/>
          </a:xfrm>
          <a:prstGeom prst="rect">
            <a:avLst/>
          </a:prstGeom>
          <a:noFill/>
          <a:ln/>
        </p:spPr>
        <p:txBody>
          <a:bodyPr wrap="square" lIns="0" tIns="0" rIns="0" bIns="0" rtlCol="0" anchor="ctr"/>
          <a:lstStyle/>
          <a:p>
            <a:pPr indent="0" marL="0">
              <a:buNone/>
            </a:pPr>
            <a:r>
              <a:rPr lang="en-US" sz="1000" b="1" dirty="0">
                <a:solidFill>
                  <a:srgbClr val="0A1931"/>
                </a:solidFill>
                <a:latin typeface="Calibri" pitchFamily="34" charset="0"/>
                <a:ea typeface="Calibri" pitchFamily="34" charset="-122"/>
                <a:cs typeface="Calibri" pitchFamily="34" charset="-120"/>
              </a:rPr>
              <a:t>Mobile-First &amp; Web Delivery</a:t>
            </a:r>
            <a:endParaRPr lang="en-US" sz="1000" dirty="0"/>
          </a:p>
        </p:txBody>
      </p:sp>
      <p:sp>
        <p:nvSpPr>
          <p:cNvPr id="32" name="Text 29"/>
          <p:cNvSpPr/>
          <p:nvPr/>
        </p:nvSpPr>
        <p:spPr>
          <a:xfrm>
            <a:off x="932688" y="3849624"/>
            <a:ext cx="7772400" cy="228600"/>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Develop a React Native mobile app and Next.js web dashboard delivering real-time analytics to entrepreneurs.</a:t>
            </a:r>
            <a:endParaRPr lang="en-US" sz="900" dirty="0"/>
          </a:p>
        </p:txBody>
      </p:sp>
      <p:sp>
        <p:nvSpPr>
          <p:cNvPr id="33" name="Shape 30"/>
          <p:cNvSpPr/>
          <p:nvPr/>
        </p:nvSpPr>
        <p:spPr>
          <a:xfrm>
            <a:off x="320040" y="4187952"/>
            <a:ext cx="8503920" cy="530352"/>
          </a:xfrm>
          <a:prstGeom prst="rect">
            <a:avLst/>
          </a:prstGeom>
          <a:solidFill>
            <a:srgbClr val="FFFFFF"/>
          </a:solidFill>
          <a:ln w="9525">
            <a:solidFill>
              <a:srgbClr val="E2EDF2"/>
            </a:solidFill>
            <a:prstDash val="solid"/>
          </a:ln>
        </p:spPr>
      </p:sp>
      <p:sp>
        <p:nvSpPr>
          <p:cNvPr id="34" name="Shape 31"/>
          <p:cNvSpPr/>
          <p:nvPr/>
        </p:nvSpPr>
        <p:spPr>
          <a:xfrm>
            <a:off x="320040" y="4187952"/>
            <a:ext cx="502920" cy="530352"/>
          </a:xfrm>
          <a:prstGeom prst="rect">
            <a:avLst/>
          </a:prstGeom>
          <a:solidFill>
            <a:srgbClr val="0D7C8F"/>
          </a:solidFill>
          <a:ln w="12700">
            <a:solidFill>
              <a:srgbClr val="0D7C8F"/>
            </a:solidFill>
            <a:prstDash val="solid"/>
          </a:ln>
        </p:spPr>
      </p:sp>
      <p:sp>
        <p:nvSpPr>
          <p:cNvPr id="35" name="Text 32"/>
          <p:cNvSpPr/>
          <p:nvPr/>
        </p:nvSpPr>
        <p:spPr>
          <a:xfrm>
            <a:off x="320040" y="4187952"/>
            <a:ext cx="502920"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SO5</a:t>
            </a:r>
            <a:endParaRPr lang="en-US" sz="900" dirty="0"/>
          </a:p>
        </p:txBody>
      </p:sp>
      <p:sp>
        <p:nvSpPr>
          <p:cNvPr id="36" name="Text 33"/>
          <p:cNvSpPr/>
          <p:nvPr/>
        </p:nvSpPr>
        <p:spPr>
          <a:xfrm>
            <a:off x="932688" y="4224528"/>
            <a:ext cx="2377440" cy="237744"/>
          </a:xfrm>
          <a:prstGeom prst="rect">
            <a:avLst/>
          </a:prstGeom>
          <a:noFill/>
          <a:ln/>
        </p:spPr>
        <p:txBody>
          <a:bodyPr wrap="square" lIns="0" tIns="0" rIns="0" bIns="0" rtlCol="0" anchor="ctr"/>
          <a:lstStyle/>
          <a:p>
            <a:pPr indent="0" marL="0">
              <a:buNone/>
            </a:pPr>
            <a:r>
              <a:rPr lang="en-US" sz="1000" b="1" dirty="0">
                <a:solidFill>
                  <a:srgbClr val="0A1931"/>
                </a:solidFill>
                <a:latin typeface="Calibri" pitchFamily="34" charset="0"/>
                <a:ea typeface="Calibri" pitchFamily="34" charset="-122"/>
                <a:cs typeface="Calibri" pitchFamily="34" charset="-120"/>
              </a:rPr>
              <a:t>LLM Advisory Integration</a:t>
            </a:r>
            <a:endParaRPr lang="en-US" sz="1000" dirty="0"/>
          </a:p>
        </p:txBody>
      </p:sp>
      <p:sp>
        <p:nvSpPr>
          <p:cNvPr id="37" name="Text 34"/>
          <p:cNvSpPr/>
          <p:nvPr/>
        </p:nvSpPr>
        <p:spPr>
          <a:xfrm>
            <a:off x="932688" y="4462272"/>
            <a:ext cx="7772400" cy="228600"/>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Integrate the Groq LLM (llama-3.3-70b) to generate personalised, context-aware advisory reports for each SME prediction.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Research Questions</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The core questions guiding this study</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320040" y="1005840"/>
            <a:ext cx="8503920" cy="676656"/>
          </a:xfrm>
          <a:prstGeom prst="rect">
            <a:avLst/>
          </a:prstGeom>
          <a:solidFill>
            <a:srgbClr val="FFFFFF"/>
          </a:solidFill>
          <a:ln w="9525">
            <a:solidFill>
              <a:srgbClr val="E2EDF2"/>
            </a:solidFill>
            <a:prstDash val="solid"/>
          </a:ln>
        </p:spPr>
      </p:sp>
      <p:sp>
        <p:nvSpPr>
          <p:cNvPr id="10" name="Shape 8"/>
          <p:cNvSpPr/>
          <p:nvPr/>
        </p:nvSpPr>
        <p:spPr>
          <a:xfrm>
            <a:off x="347472" y="1115568"/>
            <a:ext cx="475488" cy="475488"/>
          </a:xfrm>
          <a:prstGeom prst="ellipse">
            <a:avLst/>
          </a:prstGeom>
          <a:solidFill>
            <a:srgbClr val="0A1931"/>
          </a:solidFill>
          <a:ln w="12700">
            <a:solidFill>
              <a:srgbClr val="0A1931"/>
            </a:solidFill>
            <a:prstDash val="solid"/>
          </a:ln>
        </p:spPr>
      </p:sp>
      <p:sp>
        <p:nvSpPr>
          <p:cNvPr id="11" name="Text 9"/>
          <p:cNvSpPr/>
          <p:nvPr/>
        </p:nvSpPr>
        <p:spPr>
          <a:xfrm>
            <a:off x="347472" y="1115568"/>
            <a:ext cx="475488" cy="475488"/>
          </a:xfrm>
          <a:prstGeom prst="rect">
            <a:avLst/>
          </a:prstGeom>
          <a:noFill/>
          <a:ln/>
        </p:spPr>
        <p:txBody>
          <a:bodyPr wrap="square" lIns="0" tIns="0" rIns="0" bIns="0" rtlCol="0" anchor="ctr"/>
          <a:lstStyle/>
          <a:p>
            <a:pPr algn="ctr" indent="0" marL="0">
              <a:buNone/>
            </a:pPr>
            <a:r>
              <a:rPr lang="en-US" sz="900" b="1" dirty="0">
                <a:solidFill>
                  <a:srgbClr val="06B6D4"/>
                </a:solidFill>
                <a:latin typeface="Calibri" pitchFamily="34" charset="0"/>
                <a:ea typeface="Calibri" pitchFamily="34" charset="-122"/>
                <a:cs typeface="Calibri" pitchFamily="34" charset="-120"/>
              </a:rPr>
              <a:t>RQ1</a:t>
            </a:r>
            <a:endParaRPr lang="en-US" sz="900" dirty="0"/>
          </a:p>
        </p:txBody>
      </p:sp>
      <p:sp>
        <p:nvSpPr>
          <p:cNvPr id="12" name="Text 10"/>
          <p:cNvSpPr/>
          <p:nvPr/>
        </p:nvSpPr>
        <p:spPr>
          <a:xfrm>
            <a:off x="932688" y="1097280"/>
            <a:ext cx="7772400" cy="493776"/>
          </a:xfrm>
          <a:prstGeom prst="rect">
            <a:avLst/>
          </a:prstGeom>
          <a:noFill/>
          <a:ln/>
        </p:spPr>
        <p:txBody>
          <a:bodyPr wrap="square" lIns="0" tIns="0" rIns="0" bIns="0" rtlCol="0" anchor="ctr"/>
          <a:lstStyle/>
          <a:p>
            <a:pPr indent="0" marL="0">
              <a:buNone/>
            </a:pPr>
            <a:r>
              <a:rPr lang="en-US" sz="1000" dirty="0">
                <a:solidFill>
                  <a:srgbClr val="0F1F2E"/>
                </a:solidFill>
                <a:latin typeface="Calibri" pitchFamily="34" charset="0"/>
                <a:ea typeface="Calibri" pitchFamily="34" charset="-122"/>
                <a:cs typeface="Calibri" pitchFamily="34" charset="-120"/>
              </a:rPr>
              <a:t>Can machine learning models trained on locally calibrated Cameroonian SME data reliably predict business survival probability beyond three years of operation?</a:t>
            </a:r>
            <a:endParaRPr lang="en-US" sz="1000" dirty="0"/>
          </a:p>
        </p:txBody>
      </p:sp>
      <p:sp>
        <p:nvSpPr>
          <p:cNvPr id="13" name="Shape 11"/>
          <p:cNvSpPr/>
          <p:nvPr/>
        </p:nvSpPr>
        <p:spPr>
          <a:xfrm>
            <a:off x="320040" y="1773936"/>
            <a:ext cx="8503920" cy="676656"/>
          </a:xfrm>
          <a:prstGeom prst="rect">
            <a:avLst/>
          </a:prstGeom>
          <a:solidFill>
            <a:srgbClr val="FFFFFF"/>
          </a:solidFill>
          <a:ln w="9525">
            <a:solidFill>
              <a:srgbClr val="E2EDF2"/>
            </a:solidFill>
            <a:prstDash val="solid"/>
          </a:ln>
        </p:spPr>
      </p:sp>
      <p:sp>
        <p:nvSpPr>
          <p:cNvPr id="14" name="Shape 12"/>
          <p:cNvSpPr/>
          <p:nvPr/>
        </p:nvSpPr>
        <p:spPr>
          <a:xfrm>
            <a:off x="347472" y="1883664"/>
            <a:ext cx="475488" cy="475488"/>
          </a:xfrm>
          <a:prstGeom prst="ellipse">
            <a:avLst/>
          </a:prstGeom>
          <a:solidFill>
            <a:srgbClr val="0A1931"/>
          </a:solidFill>
          <a:ln w="12700">
            <a:solidFill>
              <a:srgbClr val="0A1931"/>
            </a:solidFill>
            <a:prstDash val="solid"/>
          </a:ln>
        </p:spPr>
      </p:sp>
      <p:sp>
        <p:nvSpPr>
          <p:cNvPr id="15" name="Text 13"/>
          <p:cNvSpPr/>
          <p:nvPr/>
        </p:nvSpPr>
        <p:spPr>
          <a:xfrm>
            <a:off x="347472" y="1883664"/>
            <a:ext cx="475488" cy="475488"/>
          </a:xfrm>
          <a:prstGeom prst="rect">
            <a:avLst/>
          </a:prstGeom>
          <a:noFill/>
          <a:ln/>
        </p:spPr>
        <p:txBody>
          <a:bodyPr wrap="square" lIns="0" tIns="0" rIns="0" bIns="0" rtlCol="0" anchor="ctr"/>
          <a:lstStyle/>
          <a:p>
            <a:pPr algn="ctr" indent="0" marL="0">
              <a:buNone/>
            </a:pPr>
            <a:r>
              <a:rPr lang="en-US" sz="900" b="1" dirty="0">
                <a:solidFill>
                  <a:srgbClr val="06B6D4"/>
                </a:solidFill>
                <a:latin typeface="Calibri" pitchFamily="34" charset="0"/>
                <a:ea typeface="Calibri" pitchFamily="34" charset="-122"/>
                <a:cs typeface="Calibri" pitchFamily="34" charset="-120"/>
              </a:rPr>
              <a:t>RQ2</a:t>
            </a:r>
            <a:endParaRPr lang="en-US" sz="900" dirty="0"/>
          </a:p>
        </p:txBody>
      </p:sp>
      <p:sp>
        <p:nvSpPr>
          <p:cNvPr id="16" name="Text 14"/>
          <p:cNvSpPr/>
          <p:nvPr/>
        </p:nvSpPr>
        <p:spPr>
          <a:xfrm>
            <a:off x="932688" y="1865376"/>
            <a:ext cx="7772400" cy="493776"/>
          </a:xfrm>
          <a:prstGeom prst="rect">
            <a:avLst/>
          </a:prstGeom>
          <a:noFill/>
          <a:ln/>
        </p:spPr>
        <p:txBody>
          <a:bodyPr wrap="square" lIns="0" tIns="0" rIns="0" bIns="0" rtlCol="0" anchor="ctr"/>
          <a:lstStyle/>
          <a:p>
            <a:pPr indent="0" marL="0">
              <a:buNone/>
            </a:pPr>
            <a:r>
              <a:rPr lang="en-US" sz="1000" dirty="0">
                <a:solidFill>
                  <a:srgbClr val="0F1F2E"/>
                </a:solidFill>
                <a:latin typeface="Calibri" pitchFamily="34" charset="0"/>
                <a:ea typeface="Calibri" pitchFamily="34" charset="-122"/>
                <a:cs typeface="Calibri" pitchFamily="34" charset="-120"/>
              </a:rPr>
              <a:t>How can a Cox Proportional Hazards model provide entrepreneurs with actionable time-to-failure estimates rather than a single binary outcome?</a:t>
            </a:r>
            <a:endParaRPr lang="en-US" sz="1000" dirty="0"/>
          </a:p>
        </p:txBody>
      </p:sp>
      <p:sp>
        <p:nvSpPr>
          <p:cNvPr id="17" name="Shape 15"/>
          <p:cNvSpPr/>
          <p:nvPr/>
        </p:nvSpPr>
        <p:spPr>
          <a:xfrm>
            <a:off x="320040" y="2542032"/>
            <a:ext cx="8503920" cy="676656"/>
          </a:xfrm>
          <a:prstGeom prst="rect">
            <a:avLst/>
          </a:prstGeom>
          <a:solidFill>
            <a:srgbClr val="FFFFFF"/>
          </a:solidFill>
          <a:ln w="9525">
            <a:solidFill>
              <a:srgbClr val="E2EDF2"/>
            </a:solidFill>
            <a:prstDash val="solid"/>
          </a:ln>
        </p:spPr>
      </p:sp>
      <p:sp>
        <p:nvSpPr>
          <p:cNvPr id="18" name="Shape 16"/>
          <p:cNvSpPr/>
          <p:nvPr/>
        </p:nvSpPr>
        <p:spPr>
          <a:xfrm>
            <a:off x="347472" y="2651760"/>
            <a:ext cx="475488" cy="475488"/>
          </a:xfrm>
          <a:prstGeom prst="ellipse">
            <a:avLst/>
          </a:prstGeom>
          <a:solidFill>
            <a:srgbClr val="0A1931"/>
          </a:solidFill>
          <a:ln w="12700">
            <a:solidFill>
              <a:srgbClr val="0A1931"/>
            </a:solidFill>
            <a:prstDash val="solid"/>
          </a:ln>
        </p:spPr>
      </p:sp>
      <p:sp>
        <p:nvSpPr>
          <p:cNvPr id="19" name="Text 17"/>
          <p:cNvSpPr/>
          <p:nvPr/>
        </p:nvSpPr>
        <p:spPr>
          <a:xfrm>
            <a:off x="347472" y="2651760"/>
            <a:ext cx="475488" cy="475488"/>
          </a:xfrm>
          <a:prstGeom prst="rect">
            <a:avLst/>
          </a:prstGeom>
          <a:noFill/>
          <a:ln/>
        </p:spPr>
        <p:txBody>
          <a:bodyPr wrap="square" lIns="0" tIns="0" rIns="0" bIns="0" rtlCol="0" anchor="ctr"/>
          <a:lstStyle/>
          <a:p>
            <a:pPr algn="ctr" indent="0" marL="0">
              <a:buNone/>
            </a:pPr>
            <a:r>
              <a:rPr lang="en-US" sz="900" b="1" dirty="0">
                <a:solidFill>
                  <a:srgbClr val="06B6D4"/>
                </a:solidFill>
                <a:latin typeface="Calibri" pitchFamily="34" charset="0"/>
                <a:ea typeface="Calibri" pitchFamily="34" charset="-122"/>
                <a:cs typeface="Calibri" pitchFamily="34" charset="-120"/>
              </a:rPr>
              <a:t>RQ3</a:t>
            </a:r>
            <a:endParaRPr lang="en-US" sz="900" dirty="0"/>
          </a:p>
        </p:txBody>
      </p:sp>
      <p:sp>
        <p:nvSpPr>
          <p:cNvPr id="20" name="Text 18"/>
          <p:cNvSpPr/>
          <p:nvPr/>
        </p:nvSpPr>
        <p:spPr>
          <a:xfrm>
            <a:off x="932688" y="2633472"/>
            <a:ext cx="7772400" cy="493776"/>
          </a:xfrm>
          <a:prstGeom prst="rect">
            <a:avLst/>
          </a:prstGeom>
          <a:noFill/>
          <a:ln/>
        </p:spPr>
        <p:txBody>
          <a:bodyPr wrap="square" lIns="0" tIns="0" rIns="0" bIns="0" rtlCol="0" anchor="ctr"/>
          <a:lstStyle/>
          <a:p>
            <a:pPr indent="0" marL="0">
              <a:buNone/>
            </a:pPr>
            <a:r>
              <a:rPr lang="en-US" sz="1000" dirty="0">
                <a:solidFill>
                  <a:srgbClr val="0F1F2E"/>
                </a:solidFill>
                <a:latin typeface="Calibri" pitchFamily="34" charset="0"/>
                <a:ea typeface="Calibri" pitchFamily="34" charset="-122"/>
                <a:cs typeface="Calibri" pitchFamily="34" charset="-120"/>
              </a:rPr>
              <a:t>To what extent can SHAP-based model explainability translate ensemble predictions into understandable advisory factors for non-technical entrepreneurs?</a:t>
            </a:r>
            <a:endParaRPr lang="en-US" sz="1000" dirty="0"/>
          </a:p>
        </p:txBody>
      </p:sp>
      <p:sp>
        <p:nvSpPr>
          <p:cNvPr id="21" name="Shape 19"/>
          <p:cNvSpPr/>
          <p:nvPr/>
        </p:nvSpPr>
        <p:spPr>
          <a:xfrm>
            <a:off x="320040" y="3310128"/>
            <a:ext cx="8503920" cy="676656"/>
          </a:xfrm>
          <a:prstGeom prst="rect">
            <a:avLst/>
          </a:prstGeom>
          <a:solidFill>
            <a:srgbClr val="FFFFFF"/>
          </a:solidFill>
          <a:ln w="9525">
            <a:solidFill>
              <a:srgbClr val="E2EDF2"/>
            </a:solidFill>
            <a:prstDash val="solid"/>
          </a:ln>
        </p:spPr>
      </p:sp>
      <p:sp>
        <p:nvSpPr>
          <p:cNvPr id="22" name="Shape 20"/>
          <p:cNvSpPr/>
          <p:nvPr/>
        </p:nvSpPr>
        <p:spPr>
          <a:xfrm>
            <a:off x="347472" y="3419856"/>
            <a:ext cx="475488" cy="475488"/>
          </a:xfrm>
          <a:prstGeom prst="ellipse">
            <a:avLst/>
          </a:prstGeom>
          <a:solidFill>
            <a:srgbClr val="0A1931"/>
          </a:solidFill>
          <a:ln w="12700">
            <a:solidFill>
              <a:srgbClr val="0A1931"/>
            </a:solidFill>
            <a:prstDash val="solid"/>
          </a:ln>
        </p:spPr>
      </p:sp>
      <p:sp>
        <p:nvSpPr>
          <p:cNvPr id="23" name="Text 21"/>
          <p:cNvSpPr/>
          <p:nvPr/>
        </p:nvSpPr>
        <p:spPr>
          <a:xfrm>
            <a:off x="347472" y="3419856"/>
            <a:ext cx="475488" cy="475488"/>
          </a:xfrm>
          <a:prstGeom prst="rect">
            <a:avLst/>
          </a:prstGeom>
          <a:noFill/>
          <a:ln/>
        </p:spPr>
        <p:txBody>
          <a:bodyPr wrap="square" lIns="0" tIns="0" rIns="0" bIns="0" rtlCol="0" anchor="ctr"/>
          <a:lstStyle/>
          <a:p>
            <a:pPr algn="ctr" indent="0" marL="0">
              <a:buNone/>
            </a:pPr>
            <a:r>
              <a:rPr lang="en-US" sz="900" b="1" dirty="0">
                <a:solidFill>
                  <a:srgbClr val="06B6D4"/>
                </a:solidFill>
                <a:latin typeface="Calibri" pitchFamily="34" charset="0"/>
                <a:ea typeface="Calibri" pitchFamily="34" charset="-122"/>
                <a:cs typeface="Calibri" pitchFamily="34" charset="-120"/>
              </a:rPr>
              <a:t>RQ4</a:t>
            </a:r>
            <a:endParaRPr lang="en-US" sz="900" dirty="0"/>
          </a:p>
        </p:txBody>
      </p:sp>
      <p:sp>
        <p:nvSpPr>
          <p:cNvPr id="24" name="Text 22"/>
          <p:cNvSpPr/>
          <p:nvPr/>
        </p:nvSpPr>
        <p:spPr>
          <a:xfrm>
            <a:off x="932688" y="3401568"/>
            <a:ext cx="7772400" cy="493776"/>
          </a:xfrm>
          <a:prstGeom prst="rect">
            <a:avLst/>
          </a:prstGeom>
          <a:noFill/>
          <a:ln/>
        </p:spPr>
        <p:txBody>
          <a:bodyPr wrap="square" lIns="0" tIns="0" rIns="0" bIns="0" rtlCol="0" anchor="ctr"/>
          <a:lstStyle/>
          <a:p>
            <a:pPr indent="0" marL="0">
              <a:buNone/>
            </a:pPr>
            <a:r>
              <a:rPr lang="en-US" sz="1000" dirty="0">
                <a:solidFill>
                  <a:srgbClr val="0F1F2E"/>
                </a:solidFill>
                <a:latin typeface="Calibri" pitchFamily="34" charset="0"/>
                <a:ea typeface="Calibri" pitchFamily="34" charset="-122"/>
                <a:cs typeface="Calibri" pitchFamily="34" charset="-120"/>
              </a:rPr>
              <a:t>Can a Groq-powered large language model generate localised, structured advisory reports within operationally acceptable response times on a free-tier API plan?</a:t>
            </a:r>
            <a:endParaRPr lang="en-US" sz="1000" dirty="0"/>
          </a:p>
        </p:txBody>
      </p:sp>
      <p:sp>
        <p:nvSpPr>
          <p:cNvPr id="25" name="Shape 23"/>
          <p:cNvSpPr/>
          <p:nvPr/>
        </p:nvSpPr>
        <p:spPr>
          <a:xfrm>
            <a:off x="320040" y="4078224"/>
            <a:ext cx="8503920" cy="676656"/>
          </a:xfrm>
          <a:prstGeom prst="rect">
            <a:avLst/>
          </a:prstGeom>
          <a:solidFill>
            <a:srgbClr val="FFFFFF"/>
          </a:solidFill>
          <a:ln w="9525">
            <a:solidFill>
              <a:srgbClr val="E2EDF2"/>
            </a:solidFill>
            <a:prstDash val="solid"/>
          </a:ln>
        </p:spPr>
      </p:sp>
      <p:sp>
        <p:nvSpPr>
          <p:cNvPr id="26" name="Shape 24"/>
          <p:cNvSpPr/>
          <p:nvPr/>
        </p:nvSpPr>
        <p:spPr>
          <a:xfrm>
            <a:off x="347472" y="4187952"/>
            <a:ext cx="475488" cy="475488"/>
          </a:xfrm>
          <a:prstGeom prst="ellipse">
            <a:avLst/>
          </a:prstGeom>
          <a:solidFill>
            <a:srgbClr val="0A1931"/>
          </a:solidFill>
          <a:ln w="12700">
            <a:solidFill>
              <a:srgbClr val="0A1931"/>
            </a:solidFill>
            <a:prstDash val="solid"/>
          </a:ln>
        </p:spPr>
      </p:sp>
      <p:sp>
        <p:nvSpPr>
          <p:cNvPr id="27" name="Text 25"/>
          <p:cNvSpPr/>
          <p:nvPr/>
        </p:nvSpPr>
        <p:spPr>
          <a:xfrm>
            <a:off x="347472" y="4187952"/>
            <a:ext cx="475488" cy="475488"/>
          </a:xfrm>
          <a:prstGeom prst="rect">
            <a:avLst/>
          </a:prstGeom>
          <a:noFill/>
          <a:ln/>
        </p:spPr>
        <p:txBody>
          <a:bodyPr wrap="square" lIns="0" tIns="0" rIns="0" bIns="0" rtlCol="0" anchor="ctr"/>
          <a:lstStyle/>
          <a:p>
            <a:pPr algn="ctr" indent="0" marL="0">
              <a:buNone/>
            </a:pPr>
            <a:r>
              <a:rPr lang="en-US" sz="900" b="1" dirty="0">
                <a:solidFill>
                  <a:srgbClr val="06B6D4"/>
                </a:solidFill>
                <a:latin typeface="Calibri" pitchFamily="34" charset="0"/>
                <a:ea typeface="Calibri" pitchFamily="34" charset="-122"/>
                <a:cs typeface="Calibri" pitchFamily="34" charset="-120"/>
              </a:rPr>
              <a:t>RQ5</a:t>
            </a:r>
            <a:endParaRPr lang="en-US" sz="900" dirty="0"/>
          </a:p>
        </p:txBody>
      </p:sp>
      <p:sp>
        <p:nvSpPr>
          <p:cNvPr id="28" name="Text 26"/>
          <p:cNvSpPr/>
          <p:nvPr/>
        </p:nvSpPr>
        <p:spPr>
          <a:xfrm>
            <a:off x="932688" y="4169664"/>
            <a:ext cx="7772400" cy="493776"/>
          </a:xfrm>
          <a:prstGeom prst="rect">
            <a:avLst/>
          </a:prstGeom>
          <a:noFill/>
          <a:ln/>
        </p:spPr>
        <p:txBody>
          <a:bodyPr wrap="square" lIns="0" tIns="0" rIns="0" bIns="0" rtlCol="0" anchor="ctr"/>
          <a:lstStyle/>
          <a:p>
            <a:pPr indent="0" marL="0">
              <a:buNone/>
            </a:pPr>
            <a:r>
              <a:rPr lang="en-US" sz="1000" dirty="0">
                <a:solidFill>
                  <a:srgbClr val="0F1F2E"/>
                </a:solidFill>
                <a:latin typeface="Calibri" pitchFamily="34" charset="0"/>
                <a:ea typeface="Calibri" pitchFamily="34" charset="-122"/>
                <a:cs typeface="Calibri" pitchFamily="34" charset="-120"/>
              </a:rPr>
              <a:t>Does a mobile-first, Redis-cached platform architecture deliver prediction results at response times suitable for entrepreneurs on mobile data connections?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Significance of the Study</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Who benefits and how</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274320" y="1024128"/>
            <a:ext cx="2743200" cy="2907792"/>
          </a:xfrm>
          <a:prstGeom prst="rect">
            <a:avLst/>
          </a:prstGeom>
          <a:solidFill>
            <a:srgbClr val="FFFFFF"/>
          </a:solidFill>
          <a:ln w="9525">
            <a:solidFill>
              <a:srgbClr val="E2EDF2"/>
            </a:solidFill>
            <a:prstDash val="solid"/>
          </a:ln>
        </p:spPr>
      </p:sp>
      <p:sp>
        <p:nvSpPr>
          <p:cNvPr id="10" name="Shape 8"/>
          <p:cNvSpPr/>
          <p:nvPr/>
        </p:nvSpPr>
        <p:spPr>
          <a:xfrm>
            <a:off x="274320" y="1024128"/>
            <a:ext cx="2743200" cy="658368"/>
          </a:xfrm>
          <a:prstGeom prst="rect">
            <a:avLst/>
          </a:prstGeom>
          <a:solidFill>
            <a:srgbClr val="0D7C8F"/>
          </a:solidFill>
          <a:ln w="12700">
            <a:solidFill>
              <a:srgbClr val="0D7C8F"/>
            </a:solidFill>
            <a:prstDash val="solid"/>
          </a:ln>
        </p:spPr>
      </p:sp>
      <p:pic>
        <p:nvPicPr>
          <p:cNvPr id="11" name="Image 0" descr="preencoded.png">    </p:cNvPr>
          <p:cNvPicPr>
            <a:picLocks noChangeAspect="1"/>
          </p:cNvPicPr>
          <p:nvPr/>
        </p:nvPicPr>
        <p:blipFill>
          <a:blip r:embed="rId1"/>
          <a:stretch>
            <a:fillRect/>
          </a:stretch>
        </p:blipFill>
        <p:spPr>
          <a:xfrm>
            <a:off x="384048" y="1115568"/>
            <a:ext cx="347472" cy="347472"/>
          </a:xfrm>
          <a:prstGeom prst="rect">
            <a:avLst/>
          </a:prstGeom>
        </p:spPr>
      </p:pic>
      <p:sp>
        <p:nvSpPr>
          <p:cNvPr id="12" name="Text 9"/>
          <p:cNvSpPr/>
          <p:nvPr/>
        </p:nvSpPr>
        <p:spPr>
          <a:xfrm>
            <a:off x="804672" y="1115568"/>
            <a:ext cx="2103120"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Entrepreneurs &amp; SME Owners</a:t>
            </a:r>
            <a:endParaRPr lang="en-US" sz="1050" dirty="0"/>
          </a:p>
        </p:txBody>
      </p:sp>
      <p:sp>
        <p:nvSpPr>
          <p:cNvPr id="13" name="Text 10"/>
          <p:cNvSpPr/>
          <p:nvPr/>
        </p:nvSpPr>
        <p:spPr>
          <a:xfrm>
            <a:off x="384048" y="1773936"/>
            <a:ext cx="2514600" cy="210312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3A5068"/>
                </a:solidFill>
                <a:latin typeface="Calibri" pitchFamily="34" charset="0"/>
                <a:ea typeface="Calibri" pitchFamily="34" charset="-122"/>
                <a:cs typeface="Calibri" pitchFamily="34" charset="-120"/>
              </a:rPr>
              <a:t>Evidence-based survival probability before and during operation</a:t>
            </a:r>
            <a:endParaRPr lang="en-US" sz="950" dirty="0"/>
          </a:p>
          <a:p>
            <a:pPr marL="342900" indent="-342900">
              <a:spcAft>
                <a:spcPts val="400"/>
              </a:spcAft>
              <a:buSzPct val="100000"/>
              <a:buChar char="•"/>
            </a:pPr>
            <a:r>
              <a:rPr lang="en-US" sz="950" dirty="0">
                <a:solidFill>
                  <a:srgbClr val="3A5068"/>
                </a:solidFill>
                <a:latin typeface="Calibri" pitchFamily="34" charset="0"/>
                <a:ea typeface="Calibri" pitchFamily="34" charset="-122"/>
                <a:cs typeface="Calibri" pitchFamily="34" charset="-120"/>
              </a:rPr>
              <a:t>Time-to-failure estimates to plan pivots or exits proactively</a:t>
            </a:r>
            <a:endParaRPr lang="en-US" sz="950" dirty="0"/>
          </a:p>
          <a:p>
            <a:pPr marL="342900" indent="-342900">
              <a:spcAft>
                <a:spcPts val="400"/>
              </a:spcAft>
              <a:buSzPct val="100000"/>
              <a:buChar char="•"/>
            </a:pPr>
            <a:r>
              <a:rPr lang="en-US" sz="950" dirty="0">
                <a:solidFill>
                  <a:srgbClr val="3A5068"/>
                </a:solidFill>
                <a:latin typeface="Calibri" pitchFamily="34" charset="0"/>
                <a:ea typeface="Calibri" pitchFamily="34" charset="-122"/>
                <a:cs typeface="Calibri" pitchFamily="34" charset="-120"/>
              </a:rPr>
              <a:t>Personalised advisory reports in plain language via LLM</a:t>
            </a:r>
            <a:endParaRPr lang="en-US" sz="950" dirty="0"/>
          </a:p>
          <a:p>
            <a:pPr marL="342900" indent="-342900">
              <a:spcAft>
                <a:spcPts val="400"/>
              </a:spcAft>
              <a:buSzPct val="100000"/>
              <a:buChar char="•"/>
            </a:pPr>
            <a:r>
              <a:rPr lang="en-US" sz="950" dirty="0">
                <a:solidFill>
                  <a:srgbClr val="3A5068"/>
                </a:solidFill>
                <a:latin typeface="Calibri" pitchFamily="34" charset="0"/>
                <a:ea typeface="Calibri" pitchFamily="34" charset="-122"/>
                <a:cs typeface="Calibri" pitchFamily="34" charset="-120"/>
              </a:rPr>
              <a:t>Free access via a mobile-first interface on Android and iOS</a:t>
            </a:r>
            <a:endParaRPr lang="en-US" sz="950" dirty="0"/>
          </a:p>
        </p:txBody>
      </p:sp>
      <p:sp>
        <p:nvSpPr>
          <p:cNvPr id="14" name="Shape 11"/>
          <p:cNvSpPr/>
          <p:nvPr/>
        </p:nvSpPr>
        <p:spPr>
          <a:xfrm>
            <a:off x="3200400" y="1024128"/>
            <a:ext cx="2743200" cy="2907792"/>
          </a:xfrm>
          <a:prstGeom prst="rect">
            <a:avLst/>
          </a:prstGeom>
          <a:solidFill>
            <a:srgbClr val="FFFFFF"/>
          </a:solidFill>
          <a:ln w="9525">
            <a:solidFill>
              <a:srgbClr val="E2EDF2"/>
            </a:solidFill>
            <a:prstDash val="solid"/>
          </a:ln>
        </p:spPr>
      </p:sp>
      <p:sp>
        <p:nvSpPr>
          <p:cNvPr id="15" name="Shape 12"/>
          <p:cNvSpPr/>
          <p:nvPr/>
        </p:nvSpPr>
        <p:spPr>
          <a:xfrm>
            <a:off x="3200400" y="1024128"/>
            <a:ext cx="2743200" cy="658368"/>
          </a:xfrm>
          <a:prstGeom prst="rect">
            <a:avLst/>
          </a:prstGeom>
          <a:solidFill>
            <a:srgbClr val="112244"/>
          </a:solidFill>
          <a:ln w="12700">
            <a:solidFill>
              <a:srgbClr val="112244"/>
            </a:solidFill>
            <a:prstDash val="solid"/>
          </a:ln>
        </p:spPr>
      </p:sp>
      <p:pic>
        <p:nvPicPr>
          <p:cNvPr id="16" name="Image 1" descr="preencoded.png">    </p:cNvPr>
          <p:cNvPicPr>
            <a:picLocks noChangeAspect="1"/>
          </p:cNvPicPr>
          <p:nvPr/>
        </p:nvPicPr>
        <p:blipFill>
          <a:blip r:embed="rId2"/>
          <a:stretch>
            <a:fillRect/>
          </a:stretch>
        </p:blipFill>
        <p:spPr>
          <a:xfrm>
            <a:off x="3310128" y="1115568"/>
            <a:ext cx="347472" cy="347472"/>
          </a:xfrm>
          <a:prstGeom prst="rect">
            <a:avLst/>
          </a:prstGeom>
        </p:spPr>
      </p:pic>
      <p:sp>
        <p:nvSpPr>
          <p:cNvPr id="17" name="Text 13"/>
          <p:cNvSpPr/>
          <p:nvPr/>
        </p:nvSpPr>
        <p:spPr>
          <a:xfrm>
            <a:off x="3730752" y="1115568"/>
            <a:ext cx="2103120"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Investors &amp; Financial Institutions</a:t>
            </a:r>
            <a:endParaRPr lang="en-US" sz="1050" dirty="0"/>
          </a:p>
        </p:txBody>
      </p:sp>
      <p:sp>
        <p:nvSpPr>
          <p:cNvPr id="18" name="Text 14"/>
          <p:cNvSpPr/>
          <p:nvPr/>
        </p:nvSpPr>
        <p:spPr>
          <a:xfrm>
            <a:off x="3310128" y="1773936"/>
            <a:ext cx="2514600" cy="210312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3A5068"/>
                </a:solidFill>
                <a:latin typeface="Calibri" pitchFamily="34" charset="0"/>
                <a:ea typeface="Calibri" pitchFamily="34" charset="-122"/>
                <a:cs typeface="Calibri" pitchFamily="34" charset="-120"/>
              </a:rPr>
              <a:t>Data-backed risk scores for SME lending decisions</a:t>
            </a:r>
            <a:endParaRPr lang="en-US" sz="950" dirty="0"/>
          </a:p>
          <a:p>
            <a:pPr marL="342900" indent="-342900">
              <a:spcAft>
                <a:spcPts val="400"/>
              </a:spcAft>
              <a:buSzPct val="100000"/>
              <a:buChar char="•"/>
            </a:pPr>
            <a:r>
              <a:rPr lang="en-US" sz="950" dirty="0">
                <a:solidFill>
                  <a:srgbClr val="3A5068"/>
                </a:solidFill>
                <a:latin typeface="Calibri" pitchFamily="34" charset="0"/>
                <a:ea typeface="Calibri" pitchFamily="34" charset="-122"/>
                <a:cs typeface="Calibri" pitchFamily="34" charset="-120"/>
              </a:rPr>
              <a:t>Standardised business viability profiles across cities</a:t>
            </a:r>
            <a:endParaRPr lang="en-US" sz="950" dirty="0"/>
          </a:p>
          <a:p>
            <a:pPr marL="342900" indent="-342900">
              <a:spcAft>
                <a:spcPts val="400"/>
              </a:spcAft>
              <a:buSzPct val="100000"/>
              <a:buChar char="•"/>
            </a:pPr>
            <a:r>
              <a:rPr lang="en-US" sz="950" dirty="0">
                <a:solidFill>
                  <a:srgbClr val="3A5068"/>
                </a:solidFill>
                <a:latin typeface="Calibri" pitchFamily="34" charset="0"/>
                <a:ea typeface="Calibri" pitchFamily="34" charset="-122"/>
                <a:cs typeface="Calibri" pitchFamily="34" charset="-120"/>
              </a:rPr>
              <a:t>Growth and profit forecasts grounded in ML inference</a:t>
            </a:r>
            <a:endParaRPr lang="en-US" sz="950" dirty="0"/>
          </a:p>
          <a:p>
            <a:pPr marL="342900" indent="-342900">
              <a:spcAft>
                <a:spcPts val="400"/>
              </a:spcAft>
              <a:buSzPct val="100000"/>
              <a:buChar char="•"/>
            </a:pPr>
            <a:r>
              <a:rPr lang="en-US" sz="950" dirty="0">
                <a:solidFill>
                  <a:srgbClr val="3A5068"/>
                </a:solidFill>
                <a:latin typeface="Calibri" pitchFamily="34" charset="0"/>
                <a:ea typeface="Calibri" pitchFamily="34" charset="-122"/>
                <a:cs typeface="Calibri" pitchFamily="34" charset="-120"/>
              </a:rPr>
              <a:t>PDF advisory reports for due diligence documentation</a:t>
            </a:r>
            <a:endParaRPr lang="en-US" sz="950" dirty="0"/>
          </a:p>
        </p:txBody>
      </p:sp>
      <p:sp>
        <p:nvSpPr>
          <p:cNvPr id="19" name="Shape 15"/>
          <p:cNvSpPr/>
          <p:nvPr/>
        </p:nvSpPr>
        <p:spPr>
          <a:xfrm>
            <a:off x="6126480" y="1024128"/>
            <a:ext cx="2743200" cy="2907792"/>
          </a:xfrm>
          <a:prstGeom prst="rect">
            <a:avLst/>
          </a:prstGeom>
          <a:solidFill>
            <a:srgbClr val="FFFFFF"/>
          </a:solidFill>
          <a:ln w="9525">
            <a:solidFill>
              <a:srgbClr val="E2EDF2"/>
            </a:solidFill>
            <a:prstDash val="solid"/>
          </a:ln>
        </p:spPr>
      </p:sp>
      <p:sp>
        <p:nvSpPr>
          <p:cNvPr id="20" name="Shape 16"/>
          <p:cNvSpPr/>
          <p:nvPr/>
        </p:nvSpPr>
        <p:spPr>
          <a:xfrm>
            <a:off x="6126480" y="1024128"/>
            <a:ext cx="2743200" cy="658368"/>
          </a:xfrm>
          <a:prstGeom prst="rect">
            <a:avLst/>
          </a:prstGeom>
          <a:solidFill>
            <a:srgbClr val="DC2626"/>
          </a:solidFill>
          <a:ln w="12700">
            <a:solidFill>
              <a:srgbClr val="DC2626"/>
            </a:solidFill>
            <a:prstDash val="solid"/>
          </a:ln>
        </p:spPr>
      </p:sp>
      <p:pic>
        <p:nvPicPr>
          <p:cNvPr id="21" name="Image 2" descr="preencoded.png">    </p:cNvPr>
          <p:cNvPicPr>
            <a:picLocks noChangeAspect="1"/>
          </p:cNvPicPr>
          <p:nvPr/>
        </p:nvPicPr>
        <p:blipFill>
          <a:blip r:embed="rId3"/>
          <a:stretch>
            <a:fillRect/>
          </a:stretch>
        </p:blipFill>
        <p:spPr>
          <a:xfrm>
            <a:off x="6236208" y="1115568"/>
            <a:ext cx="347472" cy="347472"/>
          </a:xfrm>
          <a:prstGeom prst="rect">
            <a:avLst/>
          </a:prstGeom>
        </p:spPr>
      </p:pic>
      <p:sp>
        <p:nvSpPr>
          <p:cNvPr id="22" name="Text 17"/>
          <p:cNvSpPr/>
          <p:nvPr/>
        </p:nvSpPr>
        <p:spPr>
          <a:xfrm>
            <a:off x="6656832" y="1115568"/>
            <a:ext cx="2103120"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Policymakers &amp; Researchers</a:t>
            </a:r>
            <a:endParaRPr lang="en-US" sz="1050" dirty="0"/>
          </a:p>
        </p:txBody>
      </p:sp>
      <p:sp>
        <p:nvSpPr>
          <p:cNvPr id="23" name="Text 18"/>
          <p:cNvSpPr/>
          <p:nvPr/>
        </p:nvSpPr>
        <p:spPr>
          <a:xfrm>
            <a:off x="6236208" y="1773936"/>
            <a:ext cx="2514600" cy="210312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3A5068"/>
                </a:solidFill>
                <a:latin typeface="Calibri" pitchFamily="34" charset="0"/>
                <a:ea typeface="Calibri" pitchFamily="34" charset="-122"/>
                <a:cs typeface="Calibri" pitchFamily="34" charset="-120"/>
              </a:rPr>
              <a:t>Citywide analytics on business risk distribution</a:t>
            </a:r>
            <a:endParaRPr lang="en-US" sz="950" dirty="0"/>
          </a:p>
          <a:p>
            <a:pPr marL="342900" indent="-342900">
              <a:spcAft>
                <a:spcPts val="400"/>
              </a:spcAft>
              <a:buSzPct val="100000"/>
              <a:buChar char="•"/>
            </a:pPr>
            <a:r>
              <a:rPr lang="en-US" sz="950" dirty="0">
                <a:solidFill>
                  <a:srgbClr val="3A5068"/>
                </a:solidFill>
                <a:latin typeface="Calibri" pitchFamily="34" charset="0"/>
                <a:ea typeface="Calibri" pitchFamily="34" charset="-122"/>
                <a:cs typeface="Calibri" pitchFamily="34" charset="-120"/>
              </a:rPr>
              <a:t>Empirical evidence on survival patterns across sectors</a:t>
            </a:r>
            <a:endParaRPr lang="en-US" sz="950" dirty="0"/>
          </a:p>
          <a:p>
            <a:pPr marL="342900" indent="-342900">
              <a:spcAft>
                <a:spcPts val="400"/>
              </a:spcAft>
              <a:buSzPct val="100000"/>
              <a:buChar char="•"/>
            </a:pPr>
            <a:r>
              <a:rPr lang="en-US" sz="950" dirty="0">
                <a:solidFill>
                  <a:srgbClr val="3A5068"/>
                </a:solidFill>
                <a:latin typeface="Calibri" pitchFamily="34" charset="0"/>
                <a:ea typeface="Calibri" pitchFamily="34" charset="-122"/>
                <a:cs typeface="Calibri" pitchFamily="34" charset="-120"/>
              </a:rPr>
              <a:t>Foundation for national SME analytics infrastructure</a:t>
            </a:r>
            <a:endParaRPr lang="en-US" sz="950" dirty="0"/>
          </a:p>
          <a:p>
            <a:pPr marL="342900" indent="-342900">
              <a:spcAft>
                <a:spcPts val="400"/>
              </a:spcAft>
              <a:buSzPct val="100000"/>
              <a:buChar char="•"/>
            </a:pPr>
            <a:r>
              <a:rPr lang="en-US" sz="950" dirty="0">
                <a:solidFill>
                  <a:srgbClr val="3A5068"/>
                </a:solidFill>
                <a:latin typeface="Calibri" pitchFamily="34" charset="0"/>
                <a:ea typeface="Calibri" pitchFamily="34" charset="-122"/>
                <a:cs typeface="Calibri" pitchFamily="34" charset="-120"/>
              </a:rPr>
              <a:t>Open architecture enabling future dataset integration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Literature Review — Key Concepts</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Theoretical building blocks of BizSense OS</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274320" y="1024128"/>
            <a:ext cx="4224528" cy="1188720"/>
          </a:xfrm>
          <a:prstGeom prst="rect">
            <a:avLst/>
          </a:prstGeom>
          <a:solidFill>
            <a:srgbClr val="FFFFFF"/>
          </a:solidFill>
          <a:ln w="9525">
            <a:solidFill>
              <a:srgbClr val="E2EDF2"/>
            </a:solidFill>
            <a:prstDash val="solid"/>
          </a:ln>
        </p:spPr>
      </p:sp>
      <p:sp>
        <p:nvSpPr>
          <p:cNvPr id="10" name="Shape 8"/>
          <p:cNvSpPr/>
          <p:nvPr/>
        </p:nvSpPr>
        <p:spPr>
          <a:xfrm>
            <a:off x="274320" y="1024128"/>
            <a:ext cx="4224528" cy="54864"/>
          </a:xfrm>
          <a:prstGeom prst="rect">
            <a:avLst/>
          </a:prstGeom>
          <a:solidFill>
            <a:srgbClr val="0D7C8F"/>
          </a:solidFill>
          <a:ln w="12700">
            <a:solidFill>
              <a:srgbClr val="0D7C8F"/>
            </a:solidFill>
            <a:prstDash val="solid"/>
          </a:ln>
        </p:spPr>
      </p:sp>
      <p:pic>
        <p:nvPicPr>
          <p:cNvPr id="11" name="Image 0" descr="preencoded.png">    </p:cNvPr>
          <p:cNvPicPr>
            <a:picLocks noChangeAspect="1"/>
          </p:cNvPicPr>
          <p:nvPr/>
        </p:nvPicPr>
        <p:blipFill>
          <a:blip r:embed="rId1"/>
          <a:stretch>
            <a:fillRect/>
          </a:stretch>
        </p:blipFill>
        <p:spPr>
          <a:xfrm>
            <a:off x="384048" y="1133856"/>
            <a:ext cx="320040" cy="320040"/>
          </a:xfrm>
          <a:prstGeom prst="rect">
            <a:avLst/>
          </a:prstGeom>
        </p:spPr>
      </p:pic>
      <p:sp>
        <p:nvSpPr>
          <p:cNvPr id="12" name="Text 9"/>
          <p:cNvSpPr/>
          <p:nvPr/>
        </p:nvSpPr>
        <p:spPr>
          <a:xfrm>
            <a:off x="804672" y="1115568"/>
            <a:ext cx="3566160" cy="292608"/>
          </a:xfrm>
          <a:prstGeom prst="rect">
            <a:avLst/>
          </a:prstGeom>
          <a:noFill/>
          <a:ln/>
        </p:spPr>
        <p:txBody>
          <a:bodyPr wrap="square" lIns="0" tIns="0" rIns="0" bIns="0" rtlCol="0" anchor="ctr"/>
          <a:lstStyle/>
          <a:p>
            <a:pPr indent="0" marL="0">
              <a:buNone/>
            </a:pPr>
            <a:r>
              <a:rPr lang="en-US" sz="1050" b="1" dirty="0">
                <a:solidFill>
                  <a:srgbClr val="0A1931"/>
                </a:solidFill>
                <a:latin typeface="Calibri" pitchFamily="34" charset="0"/>
                <a:ea typeface="Calibri" pitchFamily="34" charset="-122"/>
                <a:cs typeface="Calibri" pitchFamily="34" charset="-120"/>
              </a:rPr>
              <a:t>SME Analytics</a:t>
            </a:r>
            <a:endParaRPr lang="en-US" sz="1050" dirty="0"/>
          </a:p>
        </p:txBody>
      </p:sp>
      <p:sp>
        <p:nvSpPr>
          <p:cNvPr id="13" name="Text 10"/>
          <p:cNvSpPr/>
          <p:nvPr/>
        </p:nvSpPr>
        <p:spPr>
          <a:xfrm>
            <a:off x="384048" y="1499616"/>
            <a:ext cx="3977640" cy="640080"/>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SMEs contribute 50%+ of African employment yet 94.6% fail in 5 years (MINPMEESA, 2022). Data-driven analytics can transform decision quality.</a:t>
            </a:r>
            <a:endParaRPr lang="en-US" sz="900" dirty="0"/>
          </a:p>
        </p:txBody>
      </p:sp>
      <p:sp>
        <p:nvSpPr>
          <p:cNvPr id="14" name="Shape 11"/>
          <p:cNvSpPr/>
          <p:nvPr/>
        </p:nvSpPr>
        <p:spPr>
          <a:xfrm>
            <a:off x="4754880" y="1024128"/>
            <a:ext cx="4224528" cy="1188720"/>
          </a:xfrm>
          <a:prstGeom prst="rect">
            <a:avLst/>
          </a:prstGeom>
          <a:solidFill>
            <a:srgbClr val="FFFFFF"/>
          </a:solidFill>
          <a:ln w="9525">
            <a:solidFill>
              <a:srgbClr val="E2EDF2"/>
            </a:solidFill>
            <a:prstDash val="solid"/>
          </a:ln>
        </p:spPr>
      </p:sp>
      <p:sp>
        <p:nvSpPr>
          <p:cNvPr id="15" name="Shape 12"/>
          <p:cNvSpPr/>
          <p:nvPr/>
        </p:nvSpPr>
        <p:spPr>
          <a:xfrm>
            <a:off x="4754880" y="1024128"/>
            <a:ext cx="4224528" cy="54864"/>
          </a:xfrm>
          <a:prstGeom prst="rect">
            <a:avLst/>
          </a:prstGeom>
          <a:solidFill>
            <a:srgbClr val="0D7C8F"/>
          </a:solidFill>
          <a:ln w="12700">
            <a:solidFill>
              <a:srgbClr val="0D7C8F"/>
            </a:solidFill>
            <a:prstDash val="solid"/>
          </a:ln>
        </p:spPr>
      </p:sp>
      <p:pic>
        <p:nvPicPr>
          <p:cNvPr id="16" name="Image 1" descr="preencoded.png">    </p:cNvPr>
          <p:cNvPicPr>
            <a:picLocks noChangeAspect="1"/>
          </p:cNvPicPr>
          <p:nvPr/>
        </p:nvPicPr>
        <p:blipFill>
          <a:blip r:embed="rId2"/>
          <a:stretch>
            <a:fillRect/>
          </a:stretch>
        </p:blipFill>
        <p:spPr>
          <a:xfrm>
            <a:off x="4864608" y="1133856"/>
            <a:ext cx="320040" cy="320040"/>
          </a:xfrm>
          <a:prstGeom prst="rect">
            <a:avLst/>
          </a:prstGeom>
        </p:spPr>
      </p:pic>
      <p:sp>
        <p:nvSpPr>
          <p:cNvPr id="17" name="Text 13"/>
          <p:cNvSpPr/>
          <p:nvPr/>
        </p:nvSpPr>
        <p:spPr>
          <a:xfrm>
            <a:off x="5285232" y="1115568"/>
            <a:ext cx="3566160" cy="292608"/>
          </a:xfrm>
          <a:prstGeom prst="rect">
            <a:avLst/>
          </a:prstGeom>
          <a:noFill/>
          <a:ln/>
        </p:spPr>
        <p:txBody>
          <a:bodyPr wrap="square" lIns="0" tIns="0" rIns="0" bIns="0" rtlCol="0" anchor="ctr"/>
          <a:lstStyle/>
          <a:p>
            <a:pPr indent="0" marL="0">
              <a:buNone/>
            </a:pPr>
            <a:r>
              <a:rPr lang="en-US" sz="1050" b="1" dirty="0">
                <a:solidFill>
                  <a:srgbClr val="0A1931"/>
                </a:solidFill>
                <a:latin typeface="Calibri" pitchFamily="34" charset="0"/>
                <a:ea typeface="Calibri" pitchFamily="34" charset="-122"/>
                <a:cs typeface="Calibri" pitchFamily="34" charset="-120"/>
              </a:rPr>
              <a:t>ML Business Failure Prediction</a:t>
            </a:r>
            <a:endParaRPr lang="en-US" sz="1050" dirty="0"/>
          </a:p>
        </p:txBody>
      </p:sp>
      <p:sp>
        <p:nvSpPr>
          <p:cNvPr id="18" name="Text 14"/>
          <p:cNvSpPr/>
          <p:nvPr/>
        </p:nvSpPr>
        <p:spPr>
          <a:xfrm>
            <a:off x="4864608" y="1499616"/>
            <a:ext cx="3977640" cy="640080"/>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Binary classification of survival/failure using structured business attributes. Challenge: severe class imbalance requires calibrated models.</a:t>
            </a:r>
            <a:endParaRPr lang="en-US" sz="900" dirty="0"/>
          </a:p>
        </p:txBody>
      </p:sp>
      <p:sp>
        <p:nvSpPr>
          <p:cNvPr id="19" name="Shape 15"/>
          <p:cNvSpPr/>
          <p:nvPr/>
        </p:nvSpPr>
        <p:spPr>
          <a:xfrm>
            <a:off x="274320" y="2350008"/>
            <a:ext cx="4224528" cy="1188720"/>
          </a:xfrm>
          <a:prstGeom prst="rect">
            <a:avLst/>
          </a:prstGeom>
          <a:solidFill>
            <a:srgbClr val="FFFFFF"/>
          </a:solidFill>
          <a:ln w="9525">
            <a:solidFill>
              <a:srgbClr val="E2EDF2"/>
            </a:solidFill>
            <a:prstDash val="solid"/>
          </a:ln>
        </p:spPr>
      </p:sp>
      <p:sp>
        <p:nvSpPr>
          <p:cNvPr id="20" name="Shape 16"/>
          <p:cNvSpPr/>
          <p:nvPr/>
        </p:nvSpPr>
        <p:spPr>
          <a:xfrm>
            <a:off x="274320" y="2350008"/>
            <a:ext cx="4224528" cy="54864"/>
          </a:xfrm>
          <a:prstGeom prst="rect">
            <a:avLst/>
          </a:prstGeom>
          <a:solidFill>
            <a:srgbClr val="0D7C8F"/>
          </a:solidFill>
          <a:ln w="12700">
            <a:solidFill>
              <a:srgbClr val="0D7C8F"/>
            </a:solidFill>
            <a:prstDash val="solid"/>
          </a:ln>
        </p:spPr>
      </p:sp>
      <p:pic>
        <p:nvPicPr>
          <p:cNvPr id="21" name="Image 2" descr="preencoded.png">    </p:cNvPr>
          <p:cNvPicPr>
            <a:picLocks noChangeAspect="1"/>
          </p:cNvPicPr>
          <p:nvPr/>
        </p:nvPicPr>
        <p:blipFill>
          <a:blip r:embed="rId3"/>
          <a:stretch>
            <a:fillRect/>
          </a:stretch>
        </p:blipFill>
        <p:spPr>
          <a:xfrm>
            <a:off x="384048" y="2459736"/>
            <a:ext cx="320040" cy="320040"/>
          </a:xfrm>
          <a:prstGeom prst="rect">
            <a:avLst/>
          </a:prstGeom>
        </p:spPr>
      </p:pic>
      <p:sp>
        <p:nvSpPr>
          <p:cNvPr id="22" name="Text 17"/>
          <p:cNvSpPr/>
          <p:nvPr/>
        </p:nvSpPr>
        <p:spPr>
          <a:xfrm>
            <a:off x="804672" y="2441448"/>
            <a:ext cx="3566160" cy="292608"/>
          </a:xfrm>
          <a:prstGeom prst="rect">
            <a:avLst/>
          </a:prstGeom>
          <a:noFill/>
          <a:ln/>
        </p:spPr>
        <p:txBody>
          <a:bodyPr wrap="square" lIns="0" tIns="0" rIns="0" bIns="0" rtlCol="0" anchor="ctr"/>
          <a:lstStyle/>
          <a:p>
            <a:pPr indent="0" marL="0">
              <a:buNone/>
            </a:pPr>
            <a:r>
              <a:rPr lang="en-US" sz="1050" b="1" dirty="0">
                <a:solidFill>
                  <a:srgbClr val="0A1931"/>
                </a:solidFill>
                <a:latin typeface="Calibri" pitchFamily="34" charset="0"/>
                <a:ea typeface="Calibri" pitchFamily="34" charset="-122"/>
                <a:cs typeface="Calibri" pitchFamily="34" charset="-120"/>
              </a:rPr>
              <a:t>Survival Analysis / Cox PH</a:t>
            </a:r>
            <a:endParaRPr lang="en-US" sz="1050" dirty="0"/>
          </a:p>
        </p:txBody>
      </p:sp>
      <p:sp>
        <p:nvSpPr>
          <p:cNvPr id="23" name="Text 18"/>
          <p:cNvSpPr/>
          <p:nvPr/>
        </p:nvSpPr>
        <p:spPr>
          <a:xfrm>
            <a:off x="384048" y="2825496"/>
            <a:ext cx="3977640" cy="640080"/>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Models TIME to event, not just binary outcome (Cox, 1972). Outputs survival curves at 1, 2, and 3 years — giving forward-looking timelines.</a:t>
            </a:r>
            <a:endParaRPr lang="en-US" sz="900" dirty="0"/>
          </a:p>
        </p:txBody>
      </p:sp>
      <p:sp>
        <p:nvSpPr>
          <p:cNvPr id="24" name="Shape 19"/>
          <p:cNvSpPr/>
          <p:nvPr/>
        </p:nvSpPr>
        <p:spPr>
          <a:xfrm>
            <a:off x="4754880" y="2350008"/>
            <a:ext cx="4224528" cy="1188720"/>
          </a:xfrm>
          <a:prstGeom prst="rect">
            <a:avLst/>
          </a:prstGeom>
          <a:solidFill>
            <a:srgbClr val="FFFFFF"/>
          </a:solidFill>
          <a:ln w="9525">
            <a:solidFill>
              <a:srgbClr val="E2EDF2"/>
            </a:solidFill>
            <a:prstDash val="solid"/>
          </a:ln>
        </p:spPr>
      </p:sp>
      <p:sp>
        <p:nvSpPr>
          <p:cNvPr id="25" name="Shape 20"/>
          <p:cNvSpPr/>
          <p:nvPr/>
        </p:nvSpPr>
        <p:spPr>
          <a:xfrm>
            <a:off x="4754880" y="2350008"/>
            <a:ext cx="4224528" cy="54864"/>
          </a:xfrm>
          <a:prstGeom prst="rect">
            <a:avLst/>
          </a:prstGeom>
          <a:solidFill>
            <a:srgbClr val="0D7C8F"/>
          </a:solidFill>
          <a:ln w="12700">
            <a:solidFill>
              <a:srgbClr val="0D7C8F"/>
            </a:solidFill>
            <a:prstDash val="solid"/>
          </a:ln>
        </p:spPr>
      </p:sp>
      <p:pic>
        <p:nvPicPr>
          <p:cNvPr id="26" name="Image 3" descr="preencoded.png">    </p:cNvPr>
          <p:cNvPicPr>
            <a:picLocks noChangeAspect="1"/>
          </p:cNvPicPr>
          <p:nvPr/>
        </p:nvPicPr>
        <p:blipFill>
          <a:blip r:embed="rId4"/>
          <a:stretch>
            <a:fillRect/>
          </a:stretch>
        </p:blipFill>
        <p:spPr>
          <a:xfrm>
            <a:off x="4864608" y="2459736"/>
            <a:ext cx="320040" cy="320040"/>
          </a:xfrm>
          <a:prstGeom prst="rect">
            <a:avLst/>
          </a:prstGeom>
        </p:spPr>
      </p:pic>
      <p:sp>
        <p:nvSpPr>
          <p:cNvPr id="27" name="Text 21"/>
          <p:cNvSpPr/>
          <p:nvPr/>
        </p:nvSpPr>
        <p:spPr>
          <a:xfrm>
            <a:off x="5285232" y="2441448"/>
            <a:ext cx="3566160" cy="292608"/>
          </a:xfrm>
          <a:prstGeom prst="rect">
            <a:avLst/>
          </a:prstGeom>
          <a:noFill/>
          <a:ln/>
        </p:spPr>
        <p:txBody>
          <a:bodyPr wrap="square" lIns="0" tIns="0" rIns="0" bIns="0" rtlCol="0" anchor="ctr"/>
          <a:lstStyle/>
          <a:p>
            <a:pPr indent="0" marL="0">
              <a:buNone/>
            </a:pPr>
            <a:r>
              <a:rPr lang="en-US" sz="1050" b="1" dirty="0">
                <a:solidFill>
                  <a:srgbClr val="0A1931"/>
                </a:solidFill>
                <a:latin typeface="Calibri" pitchFamily="34" charset="0"/>
                <a:ea typeface="Calibri" pitchFamily="34" charset="-122"/>
                <a:cs typeface="Calibri" pitchFamily="34" charset="-120"/>
              </a:rPr>
              <a:t>Gradient Boosting Ensembles</a:t>
            </a:r>
            <a:endParaRPr lang="en-US" sz="1050" dirty="0"/>
          </a:p>
        </p:txBody>
      </p:sp>
      <p:sp>
        <p:nvSpPr>
          <p:cNvPr id="28" name="Text 22"/>
          <p:cNvSpPr/>
          <p:nvPr/>
        </p:nvSpPr>
        <p:spPr>
          <a:xfrm>
            <a:off x="4864608" y="2825496"/>
            <a:ext cx="3977640" cy="640080"/>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LightGBM uses histogram-based leaf-wise growth (Ke et al., 2017). CatBoost handles categoricals via ordered boosting (Prokhorenkova et al., 2018). Soft-voting combines both.</a:t>
            </a:r>
            <a:endParaRPr lang="en-US" sz="900" dirty="0"/>
          </a:p>
        </p:txBody>
      </p:sp>
      <p:sp>
        <p:nvSpPr>
          <p:cNvPr id="29" name="Shape 23"/>
          <p:cNvSpPr/>
          <p:nvPr/>
        </p:nvSpPr>
        <p:spPr>
          <a:xfrm>
            <a:off x="274320" y="3675888"/>
            <a:ext cx="4224528" cy="1188720"/>
          </a:xfrm>
          <a:prstGeom prst="rect">
            <a:avLst/>
          </a:prstGeom>
          <a:solidFill>
            <a:srgbClr val="FFFFFF"/>
          </a:solidFill>
          <a:ln w="9525">
            <a:solidFill>
              <a:srgbClr val="E2EDF2"/>
            </a:solidFill>
            <a:prstDash val="solid"/>
          </a:ln>
        </p:spPr>
      </p:sp>
      <p:sp>
        <p:nvSpPr>
          <p:cNvPr id="30" name="Shape 24"/>
          <p:cNvSpPr/>
          <p:nvPr/>
        </p:nvSpPr>
        <p:spPr>
          <a:xfrm>
            <a:off x="274320" y="3675888"/>
            <a:ext cx="4224528" cy="54864"/>
          </a:xfrm>
          <a:prstGeom prst="rect">
            <a:avLst/>
          </a:prstGeom>
          <a:solidFill>
            <a:srgbClr val="0D7C8F"/>
          </a:solidFill>
          <a:ln w="12700">
            <a:solidFill>
              <a:srgbClr val="0D7C8F"/>
            </a:solidFill>
            <a:prstDash val="solid"/>
          </a:ln>
        </p:spPr>
      </p:sp>
      <p:pic>
        <p:nvPicPr>
          <p:cNvPr id="31" name="Image 4" descr="preencoded.png">    </p:cNvPr>
          <p:cNvPicPr>
            <a:picLocks noChangeAspect="1"/>
          </p:cNvPicPr>
          <p:nvPr/>
        </p:nvPicPr>
        <p:blipFill>
          <a:blip r:embed="rId5"/>
          <a:stretch>
            <a:fillRect/>
          </a:stretch>
        </p:blipFill>
        <p:spPr>
          <a:xfrm>
            <a:off x="384048" y="3785616"/>
            <a:ext cx="320040" cy="320040"/>
          </a:xfrm>
          <a:prstGeom prst="rect">
            <a:avLst/>
          </a:prstGeom>
        </p:spPr>
      </p:pic>
      <p:sp>
        <p:nvSpPr>
          <p:cNvPr id="32" name="Text 25"/>
          <p:cNvSpPr/>
          <p:nvPr/>
        </p:nvSpPr>
        <p:spPr>
          <a:xfrm>
            <a:off x="804672" y="3767328"/>
            <a:ext cx="3566160" cy="292608"/>
          </a:xfrm>
          <a:prstGeom prst="rect">
            <a:avLst/>
          </a:prstGeom>
          <a:noFill/>
          <a:ln/>
        </p:spPr>
        <p:txBody>
          <a:bodyPr wrap="square" lIns="0" tIns="0" rIns="0" bIns="0" rtlCol="0" anchor="ctr"/>
          <a:lstStyle/>
          <a:p>
            <a:pPr indent="0" marL="0">
              <a:buNone/>
            </a:pPr>
            <a:r>
              <a:rPr lang="en-US" sz="1050" b="1" dirty="0">
                <a:solidFill>
                  <a:srgbClr val="0A1931"/>
                </a:solidFill>
                <a:latin typeface="Calibri" pitchFamily="34" charset="0"/>
                <a:ea typeface="Calibri" pitchFamily="34" charset="-122"/>
                <a:cs typeface="Calibri" pitchFamily="34" charset="-120"/>
              </a:rPr>
              <a:t>SHAP Explainability</a:t>
            </a:r>
            <a:endParaRPr lang="en-US" sz="1050" dirty="0"/>
          </a:p>
        </p:txBody>
      </p:sp>
      <p:sp>
        <p:nvSpPr>
          <p:cNvPr id="33" name="Text 26"/>
          <p:cNvSpPr/>
          <p:nvPr/>
        </p:nvSpPr>
        <p:spPr>
          <a:xfrm>
            <a:off x="384048" y="4151376"/>
            <a:ext cx="3977640" cy="640080"/>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Shapley Additive Explanations attribute each prediction to individual features (Lundberg &amp; Lee, 2017). Translates black-box models into transparent advisory factors.</a:t>
            </a:r>
            <a:endParaRPr lang="en-US" sz="900" dirty="0"/>
          </a:p>
        </p:txBody>
      </p:sp>
      <p:sp>
        <p:nvSpPr>
          <p:cNvPr id="34" name="Shape 27"/>
          <p:cNvSpPr/>
          <p:nvPr/>
        </p:nvSpPr>
        <p:spPr>
          <a:xfrm>
            <a:off x="4754880" y="3675888"/>
            <a:ext cx="4224528" cy="1188720"/>
          </a:xfrm>
          <a:prstGeom prst="rect">
            <a:avLst/>
          </a:prstGeom>
          <a:solidFill>
            <a:srgbClr val="FFFFFF"/>
          </a:solidFill>
          <a:ln w="9525">
            <a:solidFill>
              <a:srgbClr val="E2EDF2"/>
            </a:solidFill>
            <a:prstDash val="solid"/>
          </a:ln>
        </p:spPr>
      </p:sp>
      <p:sp>
        <p:nvSpPr>
          <p:cNvPr id="35" name="Shape 28"/>
          <p:cNvSpPr/>
          <p:nvPr/>
        </p:nvSpPr>
        <p:spPr>
          <a:xfrm>
            <a:off x="4754880" y="3675888"/>
            <a:ext cx="4224528" cy="54864"/>
          </a:xfrm>
          <a:prstGeom prst="rect">
            <a:avLst/>
          </a:prstGeom>
          <a:solidFill>
            <a:srgbClr val="0D7C8F"/>
          </a:solidFill>
          <a:ln w="12700">
            <a:solidFill>
              <a:srgbClr val="0D7C8F"/>
            </a:solidFill>
            <a:prstDash val="solid"/>
          </a:ln>
        </p:spPr>
      </p:sp>
      <p:pic>
        <p:nvPicPr>
          <p:cNvPr id="36" name="Image 5" descr="preencoded.png">    </p:cNvPr>
          <p:cNvPicPr>
            <a:picLocks noChangeAspect="1"/>
          </p:cNvPicPr>
          <p:nvPr/>
        </p:nvPicPr>
        <p:blipFill>
          <a:blip r:embed="rId6"/>
          <a:stretch>
            <a:fillRect/>
          </a:stretch>
        </p:blipFill>
        <p:spPr>
          <a:xfrm>
            <a:off x="4864608" y="3785616"/>
            <a:ext cx="320040" cy="320040"/>
          </a:xfrm>
          <a:prstGeom prst="rect">
            <a:avLst/>
          </a:prstGeom>
        </p:spPr>
      </p:pic>
      <p:sp>
        <p:nvSpPr>
          <p:cNvPr id="37" name="Text 29"/>
          <p:cNvSpPr/>
          <p:nvPr/>
        </p:nvSpPr>
        <p:spPr>
          <a:xfrm>
            <a:off x="5285232" y="3767328"/>
            <a:ext cx="3566160" cy="292608"/>
          </a:xfrm>
          <a:prstGeom prst="rect">
            <a:avLst/>
          </a:prstGeom>
          <a:noFill/>
          <a:ln/>
        </p:spPr>
        <p:txBody>
          <a:bodyPr wrap="square" lIns="0" tIns="0" rIns="0" bIns="0" rtlCol="0" anchor="ctr"/>
          <a:lstStyle/>
          <a:p>
            <a:pPr indent="0" marL="0">
              <a:buNone/>
            </a:pPr>
            <a:r>
              <a:rPr lang="en-US" sz="1050" b="1" dirty="0">
                <a:solidFill>
                  <a:srgbClr val="0A1931"/>
                </a:solidFill>
                <a:latin typeface="Calibri" pitchFamily="34" charset="0"/>
                <a:ea typeface="Calibri" pitchFamily="34" charset="-122"/>
                <a:cs typeface="Calibri" pitchFamily="34" charset="-120"/>
              </a:rPr>
              <a:t>LLM Advisory Generation</a:t>
            </a:r>
            <a:endParaRPr lang="en-US" sz="1050" dirty="0"/>
          </a:p>
        </p:txBody>
      </p:sp>
      <p:sp>
        <p:nvSpPr>
          <p:cNvPr id="38" name="Text 30"/>
          <p:cNvSpPr/>
          <p:nvPr/>
        </p:nvSpPr>
        <p:spPr>
          <a:xfrm>
            <a:off x="4864608" y="4151376"/>
            <a:ext cx="3977640" cy="640080"/>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Groq API (llama-3.3-70b-versatile) generates structured JSON advisory reports in ~1.8 seconds at temperature 0.3 for consistent output.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Literature Review — Theoretical Framework</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How the theories interconnect in BizSense OS</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274320" y="1051560"/>
            <a:ext cx="1554480" cy="822960"/>
          </a:xfrm>
          <a:prstGeom prst="rect">
            <a:avLst/>
          </a:prstGeom>
          <a:solidFill>
            <a:srgbClr val="112244"/>
          </a:solidFill>
          <a:ln w="12700">
            <a:solidFill>
              <a:srgbClr val="112244"/>
            </a:solidFill>
            <a:prstDash val="solid"/>
          </a:ln>
        </p:spPr>
      </p:sp>
      <p:sp>
        <p:nvSpPr>
          <p:cNvPr id="10" name="Text 8"/>
          <p:cNvSpPr/>
          <p:nvPr/>
        </p:nvSpPr>
        <p:spPr>
          <a:xfrm>
            <a:off x="320040" y="1106424"/>
            <a:ext cx="14630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SME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Business Data</a:t>
            </a:r>
            <a:endParaRPr lang="en-US" sz="900" dirty="0"/>
          </a:p>
        </p:txBody>
      </p:sp>
      <p:sp>
        <p:nvSpPr>
          <p:cNvPr id="11" name="Text 9"/>
          <p:cNvSpPr/>
          <p:nvPr/>
        </p:nvSpPr>
        <p:spPr>
          <a:xfrm>
            <a:off x="320040" y="1490472"/>
            <a:ext cx="1463040" cy="347472"/>
          </a:xfrm>
          <a:prstGeom prst="rect">
            <a:avLst/>
          </a:prstGeom>
          <a:noFill/>
          <a:ln/>
        </p:spPr>
        <p:txBody>
          <a:bodyPr wrap="square" lIns="0" tIns="0" rIns="0" bIns="0" rtlCol="0" anchor="ctr"/>
          <a:lstStyle/>
          <a:p>
            <a:pPr algn="ctr" indent="0" marL="0">
              <a:buNone/>
            </a:pPr>
            <a:r>
              <a:rPr lang="en-US" sz="800" dirty="0">
                <a:solidFill>
                  <a:srgbClr val="C8E6F0"/>
                </a:solidFill>
                <a:latin typeface="Calibri" pitchFamily="34" charset="0"/>
                <a:ea typeface="Calibri" pitchFamily="34" charset="-122"/>
                <a:cs typeface="Calibri" pitchFamily="34" charset="-120"/>
              </a:rPr>
              <a:t>12 structured</a:t>
            </a:r>
            <a:endParaRPr lang="en-US" sz="800" dirty="0"/>
          </a:p>
          <a:p>
            <a:pPr algn="ctr" indent="0" marL="0">
              <a:buNone/>
            </a:pPr>
            <a:r>
              <a:rPr lang="en-US" sz="800" dirty="0">
                <a:solidFill>
                  <a:srgbClr val="C8E6F0"/>
                </a:solidFill>
                <a:latin typeface="Calibri" pitchFamily="34" charset="0"/>
                <a:ea typeface="Calibri" pitchFamily="34" charset="-122"/>
                <a:cs typeface="Calibri" pitchFamily="34" charset="-120"/>
              </a:rPr>
              <a:t>features</a:t>
            </a:r>
            <a:endParaRPr lang="en-US" sz="800" dirty="0"/>
          </a:p>
        </p:txBody>
      </p:sp>
      <p:sp>
        <p:nvSpPr>
          <p:cNvPr id="12" name="Shape 10"/>
          <p:cNvSpPr/>
          <p:nvPr/>
        </p:nvSpPr>
        <p:spPr>
          <a:xfrm>
            <a:off x="2057400" y="1051560"/>
            <a:ext cx="1554480" cy="822960"/>
          </a:xfrm>
          <a:prstGeom prst="rect">
            <a:avLst/>
          </a:prstGeom>
          <a:solidFill>
            <a:srgbClr val="0D7C8F"/>
          </a:solidFill>
          <a:ln w="12700">
            <a:solidFill>
              <a:srgbClr val="0D7C8F"/>
            </a:solidFill>
            <a:prstDash val="solid"/>
          </a:ln>
        </p:spPr>
      </p:sp>
      <p:sp>
        <p:nvSpPr>
          <p:cNvPr id="13" name="Text 11"/>
          <p:cNvSpPr/>
          <p:nvPr/>
        </p:nvSpPr>
        <p:spPr>
          <a:xfrm>
            <a:off x="2103120" y="1106424"/>
            <a:ext cx="14630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Feature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Engineering</a:t>
            </a:r>
            <a:endParaRPr lang="en-US" sz="900" dirty="0"/>
          </a:p>
        </p:txBody>
      </p:sp>
      <p:sp>
        <p:nvSpPr>
          <p:cNvPr id="14" name="Text 12"/>
          <p:cNvSpPr/>
          <p:nvPr/>
        </p:nvSpPr>
        <p:spPr>
          <a:xfrm>
            <a:off x="2103120" y="1490472"/>
            <a:ext cx="1463040" cy="347472"/>
          </a:xfrm>
          <a:prstGeom prst="rect">
            <a:avLst/>
          </a:prstGeom>
          <a:noFill/>
          <a:ln/>
        </p:spPr>
        <p:txBody>
          <a:bodyPr wrap="square" lIns="0" tIns="0" rIns="0" bIns="0" rtlCol="0" anchor="ctr"/>
          <a:lstStyle/>
          <a:p>
            <a:pPr algn="ctr" indent="0" marL="0">
              <a:buNone/>
            </a:pPr>
            <a:r>
              <a:rPr lang="en-US" sz="800" dirty="0">
                <a:solidFill>
                  <a:srgbClr val="C8E6F0"/>
                </a:solidFill>
                <a:latin typeface="Calibri" pitchFamily="34" charset="0"/>
                <a:ea typeface="Calibri" pitchFamily="34" charset="-122"/>
                <a:cs typeface="Calibri" pitchFamily="34" charset="-120"/>
              </a:rPr>
              <a:t>Overhead burden,</a:t>
            </a:r>
            <a:endParaRPr lang="en-US" sz="800" dirty="0"/>
          </a:p>
          <a:p>
            <a:pPr algn="ctr" indent="0" marL="0">
              <a:buNone/>
            </a:pPr>
            <a:r>
              <a:rPr lang="en-US" sz="800" dirty="0">
                <a:solidFill>
                  <a:srgbClr val="C8E6F0"/>
                </a:solidFill>
                <a:latin typeface="Calibri" pitchFamily="34" charset="0"/>
                <a:ea typeface="Calibri" pitchFamily="34" charset="-122"/>
                <a:cs typeface="Calibri" pitchFamily="34" charset="-120"/>
              </a:rPr>
              <a:t>capital/employee</a:t>
            </a:r>
            <a:endParaRPr lang="en-US" sz="800" dirty="0"/>
          </a:p>
        </p:txBody>
      </p:sp>
      <p:sp>
        <p:nvSpPr>
          <p:cNvPr id="15" name="Shape 13"/>
          <p:cNvSpPr/>
          <p:nvPr/>
        </p:nvSpPr>
        <p:spPr>
          <a:xfrm>
            <a:off x="3840480" y="1051560"/>
            <a:ext cx="1554480" cy="822960"/>
          </a:xfrm>
          <a:prstGeom prst="rect">
            <a:avLst/>
          </a:prstGeom>
          <a:solidFill>
            <a:srgbClr val="0D7C8F"/>
          </a:solidFill>
          <a:ln w="12700">
            <a:solidFill>
              <a:srgbClr val="0D7C8F"/>
            </a:solidFill>
            <a:prstDash val="solid"/>
          </a:ln>
        </p:spPr>
      </p:sp>
      <p:sp>
        <p:nvSpPr>
          <p:cNvPr id="16" name="Text 14"/>
          <p:cNvSpPr/>
          <p:nvPr/>
        </p:nvSpPr>
        <p:spPr>
          <a:xfrm>
            <a:off x="3886200" y="1106424"/>
            <a:ext cx="14630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ML Ensemble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LightGBM + CatBoost</a:t>
            </a:r>
            <a:endParaRPr lang="en-US" sz="900" dirty="0"/>
          </a:p>
        </p:txBody>
      </p:sp>
      <p:sp>
        <p:nvSpPr>
          <p:cNvPr id="17" name="Text 15"/>
          <p:cNvSpPr/>
          <p:nvPr/>
        </p:nvSpPr>
        <p:spPr>
          <a:xfrm>
            <a:off x="3886200" y="1490472"/>
            <a:ext cx="1463040" cy="347472"/>
          </a:xfrm>
          <a:prstGeom prst="rect">
            <a:avLst/>
          </a:prstGeom>
          <a:noFill/>
          <a:ln/>
        </p:spPr>
        <p:txBody>
          <a:bodyPr wrap="square" lIns="0" tIns="0" rIns="0" bIns="0" rtlCol="0" anchor="ctr"/>
          <a:lstStyle/>
          <a:p>
            <a:pPr algn="ctr" indent="0" marL="0">
              <a:buNone/>
            </a:pPr>
            <a:r>
              <a:rPr lang="en-US" sz="800" dirty="0">
                <a:solidFill>
                  <a:srgbClr val="C8E6F0"/>
                </a:solidFill>
                <a:latin typeface="Calibri" pitchFamily="34" charset="0"/>
                <a:ea typeface="Calibri" pitchFamily="34" charset="-122"/>
                <a:cs typeface="Calibri" pitchFamily="34" charset="-120"/>
              </a:rPr>
              <a:t>Soft-voting,</a:t>
            </a:r>
            <a:endParaRPr lang="en-US" sz="800" dirty="0"/>
          </a:p>
          <a:p>
            <a:pPr algn="ctr" indent="0" marL="0">
              <a:buNone/>
            </a:pPr>
            <a:r>
              <a:rPr lang="en-US" sz="800" dirty="0">
                <a:solidFill>
                  <a:srgbClr val="C8E6F0"/>
                </a:solidFill>
                <a:latin typeface="Calibri" pitchFamily="34" charset="0"/>
                <a:ea typeface="Calibri" pitchFamily="34" charset="-122"/>
                <a:cs typeface="Calibri" pitchFamily="34" charset="-120"/>
              </a:rPr>
              <a:t>Isotonic calibration</a:t>
            </a:r>
            <a:endParaRPr lang="en-US" sz="800" dirty="0"/>
          </a:p>
        </p:txBody>
      </p:sp>
      <p:sp>
        <p:nvSpPr>
          <p:cNvPr id="18" name="Shape 16"/>
          <p:cNvSpPr/>
          <p:nvPr/>
        </p:nvSpPr>
        <p:spPr>
          <a:xfrm>
            <a:off x="5623560" y="1051560"/>
            <a:ext cx="1554480" cy="822960"/>
          </a:xfrm>
          <a:prstGeom prst="rect">
            <a:avLst/>
          </a:prstGeom>
          <a:solidFill>
            <a:srgbClr val="112244"/>
          </a:solidFill>
          <a:ln w="12700">
            <a:solidFill>
              <a:srgbClr val="112244"/>
            </a:solidFill>
            <a:prstDash val="solid"/>
          </a:ln>
        </p:spPr>
      </p:sp>
      <p:sp>
        <p:nvSpPr>
          <p:cNvPr id="19" name="Text 17"/>
          <p:cNvSpPr/>
          <p:nvPr/>
        </p:nvSpPr>
        <p:spPr>
          <a:xfrm>
            <a:off x="5669280" y="1106424"/>
            <a:ext cx="14630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Cox PH Model</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(lifelines 0.29)</a:t>
            </a:r>
            <a:endParaRPr lang="en-US" sz="900" dirty="0"/>
          </a:p>
        </p:txBody>
      </p:sp>
      <p:sp>
        <p:nvSpPr>
          <p:cNvPr id="20" name="Text 18"/>
          <p:cNvSpPr/>
          <p:nvPr/>
        </p:nvSpPr>
        <p:spPr>
          <a:xfrm>
            <a:off x="5669280" y="1490472"/>
            <a:ext cx="1463040" cy="347472"/>
          </a:xfrm>
          <a:prstGeom prst="rect">
            <a:avLst/>
          </a:prstGeom>
          <a:noFill/>
          <a:ln/>
        </p:spPr>
        <p:txBody>
          <a:bodyPr wrap="square" lIns="0" tIns="0" rIns="0" bIns="0" rtlCol="0" anchor="ctr"/>
          <a:lstStyle/>
          <a:p>
            <a:pPr algn="ctr" indent="0" marL="0">
              <a:buNone/>
            </a:pPr>
            <a:r>
              <a:rPr lang="en-US" sz="800" dirty="0">
                <a:solidFill>
                  <a:srgbClr val="C8E6F0"/>
                </a:solidFill>
                <a:latin typeface="Calibri" pitchFamily="34" charset="0"/>
                <a:ea typeface="Calibri" pitchFamily="34" charset="-122"/>
                <a:cs typeface="Calibri" pitchFamily="34" charset="-120"/>
              </a:rPr>
              <a:t>Survival curve</a:t>
            </a:r>
            <a:endParaRPr lang="en-US" sz="800" dirty="0"/>
          </a:p>
          <a:p>
            <a:pPr algn="ctr" indent="0" marL="0">
              <a:buNone/>
            </a:pPr>
            <a:r>
              <a:rPr lang="en-US" sz="800" dirty="0">
                <a:solidFill>
                  <a:srgbClr val="C8E6F0"/>
                </a:solidFill>
                <a:latin typeface="Calibri" pitchFamily="34" charset="0"/>
                <a:ea typeface="Calibri" pitchFamily="34" charset="-122"/>
                <a:cs typeface="Calibri" pitchFamily="34" charset="-120"/>
              </a:rPr>
              <a:t>1-2-3 year</a:t>
            </a:r>
            <a:endParaRPr lang="en-US" sz="800" dirty="0"/>
          </a:p>
        </p:txBody>
      </p:sp>
      <p:sp>
        <p:nvSpPr>
          <p:cNvPr id="21" name="Shape 19"/>
          <p:cNvSpPr/>
          <p:nvPr/>
        </p:nvSpPr>
        <p:spPr>
          <a:xfrm>
            <a:off x="7406640" y="1051560"/>
            <a:ext cx="1554480" cy="822960"/>
          </a:xfrm>
          <a:prstGeom prst="rect">
            <a:avLst/>
          </a:prstGeom>
          <a:solidFill>
            <a:srgbClr val="0D7C8F"/>
          </a:solidFill>
          <a:ln w="12700">
            <a:solidFill>
              <a:srgbClr val="0D7C8F"/>
            </a:solidFill>
            <a:prstDash val="solid"/>
          </a:ln>
        </p:spPr>
      </p:sp>
      <p:sp>
        <p:nvSpPr>
          <p:cNvPr id="22" name="Text 20"/>
          <p:cNvSpPr/>
          <p:nvPr/>
        </p:nvSpPr>
        <p:spPr>
          <a:xfrm>
            <a:off x="7452360" y="1106424"/>
            <a:ext cx="14630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XGBoost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Regressor</a:t>
            </a:r>
            <a:endParaRPr lang="en-US" sz="900" dirty="0"/>
          </a:p>
        </p:txBody>
      </p:sp>
      <p:sp>
        <p:nvSpPr>
          <p:cNvPr id="23" name="Text 21"/>
          <p:cNvSpPr/>
          <p:nvPr/>
        </p:nvSpPr>
        <p:spPr>
          <a:xfrm>
            <a:off x="7452360" y="1490472"/>
            <a:ext cx="1463040" cy="347472"/>
          </a:xfrm>
          <a:prstGeom prst="rect">
            <a:avLst/>
          </a:prstGeom>
          <a:noFill/>
          <a:ln/>
        </p:spPr>
        <p:txBody>
          <a:bodyPr wrap="square" lIns="0" tIns="0" rIns="0" bIns="0" rtlCol="0" anchor="ctr"/>
          <a:lstStyle/>
          <a:p>
            <a:pPr algn="ctr" indent="0" marL="0">
              <a:buNone/>
            </a:pPr>
            <a:r>
              <a:rPr lang="en-US" sz="800" dirty="0">
                <a:solidFill>
                  <a:srgbClr val="C8E6F0"/>
                </a:solidFill>
                <a:latin typeface="Calibri" pitchFamily="34" charset="0"/>
                <a:ea typeface="Calibri" pitchFamily="34" charset="-122"/>
                <a:cs typeface="Calibri" pitchFamily="34" charset="-120"/>
              </a:rPr>
              <a:t>Profit projection</a:t>
            </a:r>
            <a:endParaRPr lang="en-US" sz="800" dirty="0"/>
          </a:p>
          <a:p>
            <a:pPr algn="ctr" indent="0" marL="0">
              <a:buNone/>
            </a:pPr>
            <a:r>
              <a:rPr lang="en-US" sz="800" dirty="0">
                <a:solidFill>
                  <a:srgbClr val="C8E6F0"/>
                </a:solidFill>
                <a:latin typeface="Calibri" pitchFamily="34" charset="0"/>
                <a:ea typeface="Calibri" pitchFamily="34" charset="-122"/>
                <a:cs typeface="Calibri" pitchFamily="34" charset="-120"/>
              </a:rPr>
              <a:t>+ SHAP top-5</a:t>
            </a:r>
            <a:endParaRPr lang="en-US" sz="800" dirty="0"/>
          </a:p>
        </p:txBody>
      </p:sp>
      <p:sp>
        <p:nvSpPr>
          <p:cNvPr id="24" name="Shape 22"/>
          <p:cNvSpPr/>
          <p:nvPr/>
        </p:nvSpPr>
        <p:spPr>
          <a:xfrm>
            <a:off x="1828800" y="1463040"/>
            <a:ext cx="228600" cy="0"/>
          </a:xfrm>
          <a:prstGeom prst="line">
            <a:avLst/>
          </a:prstGeom>
          <a:noFill/>
          <a:ln w="25400">
            <a:solidFill>
              <a:srgbClr val="06B6D4"/>
            </a:solidFill>
            <a:prstDash val="solid"/>
          </a:ln>
        </p:spPr>
      </p:sp>
      <p:sp>
        <p:nvSpPr>
          <p:cNvPr id="25" name="Shape 23"/>
          <p:cNvSpPr/>
          <p:nvPr/>
        </p:nvSpPr>
        <p:spPr>
          <a:xfrm>
            <a:off x="3611880" y="1463040"/>
            <a:ext cx="228600" cy="0"/>
          </a:xfrm>
          <a:prstGeom prst="line">
            <a:avLst/>
          </a:prstGeom>
          <a:noFill/>
          <a:ln w="25400">
            <a:solidFill>
              <a:srgbClr val="06B6D4"/>
            </a:solidFill>
            <a:prstDash val="solid"/>
          </a:ln>
        </p:spPr>
      </p:sp>
      <p:sp>
        <p:nvSpPr>
          <p:cNvPr id="26" name="Shape 24"/>
          <p:cNvSpPr/>
          <p:nvPr/>
        </p:nvSpPr>
        <p:spPr>
          <a:xfrm>
            <a:off x="5394960" y="1463040"/>
            <a:ext cx="228600" cy="0"/>
          </a:xfrm>
          <a:prstGeom prst="line">
            <a:avLst/>
          </a:prstGeom>
          <a:noFill/>
          <a:ln w="25400">
            <a:solidFill>
              <a:srgbClr val="06B6D4"/>
            </a:solidFill>
            <a:prstDash val="solid"/>
          </a:ln>
        </p:spPr>
      </p:sp>
      <p:sp>
        <p:nvSpPr>
          <p:cNvPr id="27" name="Shape 25"/>
          <p:cNvSpPr/>
          <p:nvPr/>
        </p:nvSpPr>
        <p:spPr>
          <a:xfrm>
            <a:off x="7178040" y="1463040"/>
            <a:ext cx="228600" cy="0"/>
          </a:xfrm>
          <a:prstGeom prst="line">
            <a:avLst/>
          </a:prstGeom>
          <a:noFill/>
          <a:ln w="25400">
            <a:solidFill>
              <a:srgbClr val="06B6D4"/>
            </a:solidFill>
            <a:prstDash val="solid"/>
          </a:ln>
        </p:spPr>
      </p:sp>
      <p:sp>
        <p:nvSpPr>
          <p:cNvPr id="28" name="Shape 26"/>
          <p:cNvSpPr/>
          <p:nvPr/>
        </p:nvSpPr>
        <p:spPr>
          <a:xfrm>
            <a:off x="274320" y="2148840"/>
            <a:ext cx="2468880" cy="731520"/>
          </a:xfrm>
          <a:prstGeom prst="rect">
            <a:avLst/>
          </a:prstGeom>
          <a:solidFill>
            <a:srgbClr val="1E4060"/>
          </a:solidFill>
          <a:ln w="12700">
            <a:solidFill>
              <a:srgbClr val="1E4060"/>
            </a:solidFill>
            <a:prstDash val="solid"/>
          </a:ln>
        </p:spPr>
      </p:sp>
      <p:sp>
        <p:nvSpPr>
          <p:cNvPr id="29" name="Text 27"/>
          <p:cNvSpPr/>
          <p:nvPr/>
        </p:nvSpPr>
        <p:spPr>
          <a:xfrm>
            <a:off x="320040" y="2194560"/>
            <a:ext cx="237744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Probability</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Calibration</a:t>
            </a:r>
            <a:endParaRPr lang="en-US" sz="950" dirty="0"/>
          </a:p>
        </p:txBody>
      </p:sp>
      <p:sp>
        <p:nvSpPr>
          <p:cNvPr id="30" name="Text 28"/>
          <p:cNvSpPr/>
          <p:nvPr/>
        </p:nvSpPr>
        <p:spPr>
          <a:xfrm>
            <a:off x="320040" y="2551176"/>
            <a:ext cx="2377440" cy="274320"/>
          </a:xfrm>
          <a:prstGeom prst="rect">
            <a:avLst/>
          </a:prstGeom>
          <a:noFill/>
          <a:ln/>
        </p:spPr>
        <p:txBody>
          <a:bodyPr wrap="square" lIns="0" tIns="0" rIns="0" bIns="0" rtlCol="0" anchor="ctr"/>
          <a:lstStyle/>
          <a:p>
            <a:pPr algn="ctr" indent="0" marL="0">
              <a:buNone/>
            </a:pPr>
            <a:r>
              <a:rPr lang="en-US" sz="800" dirty="0">
                <a:solidFill>
                  <a:srgbClr val="C8E6F0"/>
                </a:solidFill>
                <a:latin typeface="Calibri" pitchFamily="34" charset="0"/>
                <a:ea typeface="Calibri" pitchFamily="34" charset="-122"/>
                <a:cs typeface="Calibri" pitchFamily="34" charset="-120"/>
              </a:rPr>
              <a:t>CalibratedClassifierCV</a:t>
            </a:r>
            <a:endParaRPr lang="en-US" sz="800" dirty="0"/>
          </a:p>
          <a:p>
            <a:pPr algn="ctr" indent="0" marL="0">
              <a:buNone/>
            </a:pPr>
            <a:r>
              <a:rPr lang="en-US" sz="800" dirty="0">
                <a:solidFill>
                  <a:srgbClr val="C8E6F0"/>
                </a:solidFill>
                <a:latin typeface="Calibri" pitchFamily="34" charset="0"/>
                <a:ea typeface="Calibri" pitchFamily="34" charset="-122"/>
                <a:cs typeface="Calibri" pitchFamily="34" charset="-120"/>
              </a:rPr>
              <a:t>Isotonic regression → Brier 0.14</a:t>
            </a:r>
            <a:endParaRPr lang="en-US" sz="800" dirty="0"/>
          </a:p>
        </p:txBody>
      </p:sp>
      <p:sp>
        <p:nvSpPr>
          <p:cNvPr id="31" name="Shape 29"/>
          <p:cNvSpPr/>
          <p:nvPr/>
        </p:nvSpPr>
        <p:spPr>
          <a:xfrm>
            <a:off x="3017520" y="2148840"/>
            <a:ext cx="2468880" cy="731520"/>
          </a:xfrm>
          <a:prstGeom prst="rect">
            <a:avLst/>
          </a:prstGeom>
          <a:solidFill>
            <a:srgbClr val="1E4060"/>
          </a:solidFill>
          <a:ln w="12700">
            <a:solidFill>
              <a:srgbClr val="1E4060"/>
            </a:solidFill>
            <a:prstDash val="solid"/>
          </a:ln>
        </p:spPr>
      </p:sp>
      <p:sp>
        <p:nvSpPr>
          <p:cNvPr id="32" name="Text 30"/>
          <p:cNvSpPr/>
          <p:nvPr/>
        </p:nvSpPr>
        <p:spPr>
          <a:xfrm>
            <a:off x="3063240" y="2194560"/>
            <a:ext cx="237744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SHAP</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Explainability</a:t>
            </a:r>
            <a:endParaRPr lang="en-US" sz="950" dirty="0"/>
          </a:p>
        </p:txBody>
      </p:sp>
      <p:sp>
        <p:nvSpPr>
          <p:cNvPr id="33" name="Text 31"/>
          <p:cNvSpPr/>
          <p:nvPr/>
        </p:nvSpPr>
        <p:spPr>
          <a:xfrm>
            <a:off x="3063240" y="2551176"/>
            <a:ext cx="2377440" cy="274320"/>
          </a:xfrm>
          <a:prstGeom prst="rect">
            <a:avLst/>
          </a:prstGeom>
          <a:noFill/>
          <a:ln/>
        </p:spPr>
        <p:txBody>
          <a:bodyPr wrap="square" lIns="0" tIns="0" rIns="0" bIns="0" rtlCol="0" anchor="ctr"/>
          <a:lstStyle/>
          <a:p>
            <a:pPr algn="ctr" indent="0" marL="0">
              <a:buNone/>
            </a:pPr>
            <a:r>
              <a:rPr lang="en-US" sz="800" dirty="0">
                <a:solidFill>
                  <a:srgbClr val="C8E6F0"/>
                </a:solidFill>
                <a:latin typeface="Calibri" pitchFamily="34" charset="0"/>
                <a:ea typeface="Calibri" pitchFamily="34" charset="-122"/>
                <a:cs typeface="Calibri" pitchFamily="34" charset="-120"/>
              </a:rPr>
              <a:t>Top-5 feature contributions</a:t>
            </a:r>
            <a:endParaRPr lang="en-US" sz="800" dirty="0"/>
          </a:p>
          <a:p>
            <a:pPr algn="ctr" indent="0" marL="0">
              <a:buNone/>
            </a:pPr>
            <a:r>
              <a:rPr lang="en-US" sz="800" dirty="0">
                <a:solidFill>
                  <a:srgbClr val="C8E6F0"/>
                </a:solidFill>
                <a:latin typeface="Calibri" pitchFamily="34" charset="0"/>
                <a:ea typeface="Calibri" pitchFamily="34" charset="-122"/>
                <a:cs typeface="Calibri" pitchFamily="34" charset="-120"/>
              </a:rPr>
              <a:t>Attributed in natural language</a:t>
            </a:r>
            <a:endParaRPr lang="en-US" sz="800" dirty="0"/>
          </a:p>
        </p:txBody>
      </p:sp>
      <p:sp>
        <p:nvSpPr>
          <p:cNvPr id="34" name="Shape 32"/>
          <p:cNvSpPr/>
          <p:nvPr/>
        </p:nvSpPr>
        <p:spPr>
          <a:xfrm>
            <a:off x="5760720" y="2148840"/>
            <a:ext cx="3108960" cy="731520"/>
          </a:xfrm>
          <a:prstGeom prst="rect">
            <a:avLst/>
          </a:prstGeom>
          <a:solidFill>
            <a:srgbClr val="0D7C8F"/>
          </a:solidFill>
          <a:ln w="12700">
            <a:solidFill>
              <a:srgbClr val="0D7C8F"/>
            </a:solidFill>
            <a:prstDash val="solid"/>
          </a:ln>
        </p:spPr>
      </p:sp>
      <p:sp>
        <p:nvSpPr>
          <p:cNvPr id="35" name="Text 33"/>
          <p:cNvSpPr/>
          <p:nvPr/>
        </p:nvSpPr>
        <p:spPr>
          <a:xfrm>
            <a:off x="5806440" y="2194560"/>
            <a:ext cx="301752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Groq LLM Advisory</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(llama-3.3-70b)</a:t>
            </a:r>
            <a:endParaRPr lang="en-US" sz="950" dirty="0"/>
          </a:p>
        </p:txBody>
      </p:sp>
      <p:sp>
        <p:nvSpPr>
          <p:cNvPr id="36" name="Text 34"/>
          <p:cNvSpPr/>
          <p:nvPr/>
        </p:nvSpPr>
        <p:spPr>
          <a:xfrm>
            <a:off x="5806440" y="2551176"/>
            <a:ext cx="3017520" cy="274320"/>
          </a:xfrm>
          <a:prstGeom prst="rect">
            <a:avLst/>
          </a:prstGeom>
          <a:noFill/>
          <a:ln/>
        </p:spPr>
        <p:txBody>
          <a:bodyPr wrap="square" lIns="0" tIns="0" rIns="0" bIns="0" rtlCol="0" anchor="ctr"/>
          <a:lstStyle/>
          <a:p>
            <a:pPr algn="ctr" indent="0" marL="0">
              <a:buNone/>
            </a:pPr>
            <a:r>
              <a:rPr lang="en-US" sz="800" dirty="0">
                <a:solidFill>
                  <a:srgbClr val="C8E6F0"/>
                </a:solidFill>
                <a:latin typeface="Calibri" pitchFamily="34" charset="0"/>
                <a:ea typeface="Calibri" pitchFamily="34" charset="-122"/>
                <a:cs typeface="Calibri" pitchFamily="34" charset="-120"/>
              </a:rPr>
              <a:t>Structured JSON → Executive summary,</a:t>
            </a:r>
            <a:endParaRPr lang="en-US" sz="800" dirty="0"/>
          </a:p>
          <a:p>
            <a:pPr algn="ctr" indent="0" marL="0">
              <a:buNone/>
            </a:pPr>
            <a:r>
              <a:rPr lang="en-US" sz="800" dirty="0">
                <a:solidFill>
                  <a:srgbClr val="C8E6F0"/>
                </a:solidFill>
                <a:latin typeface="Calibri" pitchFamily="34" charset="0"/>
                <a:ea typeface="Calibri" pitchFamily="34" charset="-122"/>
                <a:cs typeface="Calibri" pitchFamily="34" charset="-120"/>
              </a:rPr>
              <a:t>tax breakdown, actionable steps</a:t>
            </a:r>
            <a:endParaRPr lang="en-US" sz="800" dirty="0"/>
          </a:p>
        </p:txBody>
      </p:sp>
      <p:sp>
        <p:nvSpPr>
          <p:cNvPr id="37" name="Shape 35"/>
          <p:cNvSpPr/>
          <p:nvPr/>
        </p:nvSpPr>
        <p:spPr>
          <a:xfrm>
            <a:off x="274320" y="3127248"/>
            <a:ext cx="8595360" cy="658368"/>
          </a:xfrm>
          <a:prstGeom prst="rect">
            <a:avLst/>
          </a:prstGeom>
          <a:solidFill>
            <a:srgbClr val="F59E0B"/>
          </a:solidFill>
          <a:ln w="12700">
            <a:solidFill>
              <a:srgbClr val="F59E0B"/>
            </a:solidFill>
            <a:prstDash val="solid"/>
          </a:ln>
        </p:spPr>
      </p:sp>
      <p:sp>
        <p:nvSpPr>
          <p:cNvPr id="38" name="Text 36"/>
          <p:cNvSpPr/>
          <p:nvPr/>
        </p:nvSpPr>
        <p:spPr>
          <a:xfrm>
            <a:off x="274320" y="3127248"/>
            <a:ext cx="8595360" cy="658368"/>
          </a:xfrm>
          <a:prstGeom prst="rect">
            <a:avLst/>
          </a:prstGeom>
          <a:noFill/>
          <a:ln/>
        </p:spPr>
        <p:txBody>
          <a:bodyPr wrap="square" lIns="0" tIns="0" rIns="0" bIns="0" rtlCol="0" anchor="ctr"/>
          <a:lstStyle/>
          <a:p>
            <a:pPr algn="ctr" indent="0" marL="0">
              <a:buNone/>
            </a:pPr>
            <a:r>
              <a:rPr lang="en-US" sz="1050" b="1" dirty="0">
                <a:solidFill>
                  <a:srgbClr val="0A1931"/>
                </a:solidFill>
                <a:latin typeface="Calibri" pitchFamily="34" charset="0"/>
                <a:ea typeface="Calibri" pitchFamily="34" charset="-122"/>
                <a:cs typeface="Calibri" pitchFamily="34" charset="-120"/>
              </a:rPr>
              <a:t>FINAL OUTPUT TO ENTREPRENEUR  →  Survival Probability  |  Time-to-Failure Curve  |  Profit Forecast  |  PDF Advisory Report  |  Push Notification</a:t>
            </a:r>
            <a:endParaRPr lang="en-US" sz="1050" dirty="0"/>
          </a:p>
        </p:txBody>
      </p:sp>
      <p:sp>
        <p:nvSpPr>
          <p:cNvPr id="39" name="Shape 37"/>
          <p:cNvSpPr/>
          <p:nvPr/>
        </p:nvSpPr>
        <p:spPr>
          <a:xfrm>
            <a:off x="274320" y="3950208"/>
            <a:ext cx="2331720" cy="621792"/>
          </a:xfrm>
          <a:prstGeom prst="rect">
            <a:avLst/>
          </a:prstGeom>
          <a:solidFill>
            <a:srgbClr val="FFFFFF"/>
          </a:solidFill>
          <a:ln w="9525">
            <a:solidFill>
              <a:srgbClr val="E2EDF2"/>
            </a:solidFill>
            <a:prstDash val="solid"/>
          </a:ln>
        </p:spPr>
      </p:sp>
      <p:sp>
        <p:nvSpPr>
          <p:cNvPr id="40" name="Text 38"/>
          <p:cNvSpPr/>
          <p:nvPr/>
        </p:nvSpPr>
        <p:spPr>
          <a:xfrm>
            <a:off x="274320" y="3950208"/>
            <a:ext cx="2331720" cy="621792"/>
          </a:xfrm>
          <a:prstGeom prst="rect">
            <a:avLst/>
          </a:prstGeom>
          <a:noFill/>
          <a:ln/>
        </p:spPr>
        <p:txBody>
          <a:bodyPr wrap="square" lIns="0" tIns="0" rIns="0" bIns="0" rtlCol="0" anchor="ctr"/>
          <a:lstStyle/>
          <a:p>
            <a:pPr algn="ctr" indent="0" marL="0">
              <a:buNone/>
            </a:pPr>
            <a:r>
              <a:rPr lang="en-US" sz="900" dirty="0">
                <a:solidFill>
                  <a:srgbClr val="3A5068"/>
                </a:solidFill>
                <a:latin typeface="Calibri" pitchFamily="34" charset="0"/>
                <a:ea typeface="Calibri" pitchFamily="34" charset="-122"/>
                <a:cs typeface="Calibri" pitchFamily="34" charset="-120"/>
              </a:rPr>
              <a:t>Machine Learning</a:t>
            </a:r>
            <a:endParaRPr lang="en-US" sz="900" dirty="0"/>
          </a:p>
          <a:p>
            <a:pPr algn="ctr" indent="0" marL="0">
              <a:buNone/>
            </a:pPr>
            <a:r>
              <a:rPr lang="en-US" sz="900" dirty="0">
                <a:solidFill>
                  <a:srgbClr val="3A5068"/>
                </a:solidFill>
                <a:latin typeface="Calibri" pitchFamily="34" charset="0"/>
                <a:ea typeface="Calibri" pitchFamily="34" charset="-122"/>
                <a:cs typeface="Calibri" pitchFamily="34" charset="-120"/>
              </a:rPr>
              <a:t>Business Failure Theory</a:t>
            </a:r>
            <a:endParaRPr lang="en-US" sz="900" dirty="0"/>
          </a:p>
        </p:txBody>
      </p:sp>
      <p:sp>
        <p:nvSpPr>
          <p:cNvPr id="41" name="Shape 39"/>
          <p:cNvSpPr/>
          <p:nvPr/>
        </p:nvSpPr>
        <p:spPr>
          <a:xfrm>
            <a:off x="2834640" y="3950208"/>
            <a:ext cx="2331720" cy="621792"/>
          </a:xfrm>
          <a:prstGeom prst="rect">
            <a:avLst/>
          </a:prstGeom>
          <a:solidFill>
            <a:srgbClr val="FFFFFF"/>
          </a:solidFill>
          <a:ln w="9525">
            <a:solidFill>
              <a:srgbClr val="E2EDF2"/>
            </a:solidFill>
            <a:prstDash val="solid"/>
          </a:ln>
        </p:spPr>
      </p:sp>
      <p:sp>
        <p:nvSpPr>
          <p:cNvPr id="42" name="Text 40"/>
          <p:cNvSpPr/>
          <p:nvPr/>
        </p:nvSpPr>
        <p:spPr>
          <a:xfrm>
            <a:off x="2834640" y="3950208"/>
            <a:ext cx="2331720" cy="621792"/>
          </a:xfrm>
          <a:prstGeom prst="rect">
            <a:avLst/>
          </a:prstGeom>
          <a:noFill/>
          <a:ln/>
        </p:spPr>
        <p:txBody>
          <a:bodyPr wrap="square" lIns="0" tIns="0" rIns="0" bIns="0" rtlCol="0" anchor="ctr"/>
          <a:lstStyle/>
          <a:p>
            <a:pPr algn="ctr" indent="0" marL="0">
              <a:buNone/>
            </a:pPr>
            <a:r>
              <a:rPr lang="en-US" sz="900" dirty="0">
                <a:solidFill>
                  <a:srgbClr val="3A5068"/>
                </a:solidFill>
                <a:latin typeface="Calibri" pitchFamily="34" charset="0"/>
                <a:ea typeface="Calibri" pitchFamily="34" charset="-122"/>
                <a:cs typeface="Calibri" pitchFamily="34" charset="-120"/>
              </a:rPr>
              <a:t>Survival Analysis</a:t>
            </a:r>
            <a:endParaRPr lang="en-US" sz="900" dirty="0"/>
          </a:p>
          <a:p>
            <a:pPr algn="ctr" indent="0" marL="0">
              <a:buNone/>
            </a:pPr>
            <a:r>
              <a:rPr lang="en-US" sz="900" dirty="0">
                <a:solidFill>
                  <a:srgbClr val="3A5068"/>
                </a:solidFill>
                <a:latin typeface="Calibri" pitchFamily="34" charset="0"/>
                <a:ea typeface="Calibri" pitchFamily="34" charset="-122"/>
                <a:cs typeface="Calibri" pitchFamily="34" charset="-120"/>
              </a:rPr>
              <a:t>Cox (1972)</a:t>
            </a:r>
            <a:endParaRPr lang="en-US" sz="900" dirty="0"/>
          </a:p>
        </p:txBody>
      </p:sp>
      <p:sp>
        <p:nvSpPr>
          <p:cNvPr id="43" name="Shape 41"/>
          <p:cNvSpPr/>
          <p:nvPr/>
        </p:nvSpPr>
        <p:spPr>
          <a:xfrm>
            <a:off x="5760720" y="3950208"/>
            <a:ext cx="2331720" cy="621792"/>
          </a:xfrm>
          <a:prstGeom prst="rect">
            <a:avLst/>
          </a:prstGeom>
          <a:solidFill>
            <a:srgbClr val="FFFFFF"/>
          </a:solidFill>
          <a:ln w="9525">
            <a:solidFill>
              <a:srgbClr val="E2EDF2"/>
            </a:solidFill>
            <a:prstDash val="solid"/>
          </a:ln>
        </p:spPr>
      </p:sp>
      <p:sp>
        <p:nvSpPr>
          <p:cNvPr id="44" name="Text 42"/>
          <p:cNvSpPr/>
          <p:nvPr/>
        </p:nvSpPr>
        <p:spPr>
          <a:xfrm>
            <a:off x="5760720" y="3950208"/>
            <a:ext cx="2331720" cy="621792"/>
          </a:xfrm>
          <a:prstGeom prst="rect">
            <a:avLst/>
          </a:prstGeom>
          <a:noFill/>
          <a:ln/>
        </p:spPr>
        <p:txBody>
          <a:bodyPr wrap="square" lIns="0" tIns="0" rIns="0" bIns="0" rtlCol="0" anchor="ctr"/>
          <a:lstStyle/>
          <a:p>
            <a:pPr algn="ctr" indent="0" marL="0">
              <a:buNone/>
            </a:pPr>
            <a:r>
              <a:rPr lang="en-US" sz="900" dirty="0">
                <a:solidFill>
                  <a:srgbClr val="3A5068"/>
                </a:solidFill>
                <a:latin typeface="Calibri" pitchFamily="34" charset="0"/>
                <a:ea typeface="Calibri" pitchFamily="34" charset="-122"/>
                <a:cs typeface="Calibri" pitchFamily="34" charset="-120"/>
              </a:rPr>
              <a:t>SHAP / Explainable AI</a:t>
            </a:r>
            <a:endParaRPr lang="en-US" sz="900" dirty="0"/>
          </a:p>
          <a:p>
            <a:pPr algn="ctr" indent="0" marL="0">
              <a:buNone/>
            </a:pPr>
            <a:r>
              <a:rPr lang="en-US" sz="900" dirty="0">
                <a:solidFill>
                  <a:srgbClr val="3A5068"/>
                </a:solidFill>
                <a:latin typeface="Calibri" pitchFamily="34" charset="0"/>
                <a:ea typeface="Calibri" pitchFamily="34" charset="-122"/>
                <a:cs typeface="Calibri" pitchFamily="34" charset="-120"/>
              </a:rPr>
              <a:t>Lundberg &amp; Lee (2017)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Literature Review — Empirical Findings</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Review and gap analysis of 10 existing systems</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Text 7"/>
          <p:cNvSpPr/>
          <p:nvPr/>
        </p:nvSpPr>
        <p:spPr>
          <a:xfrm>
            <a:off x="320040" y="1024128"/>
            <a:ext cx="8503920" cy="347472"/>
          </a:xfrm>
          <a:prstGeom prst="rect">
            <a:avLst/>
          </a:prstGeom>
          <a:noFill/>
          <a:ln/>
        </p:spPr>
        <p:txBody>
          <a:bodyPr wrap="square" lIns="0" tIns="0" rIns="0" bIns="0" rtlCol="0" anchor="ctr"/>
          <a:lstStyle/>
          <a:p>
            <a:pPr indent="0" marL="0">
              <a:buNone/>
            </a:pPr>
            <a:r>
              <a:rPr lang="en-US" sz="1000" i="1" dirty="0">
                <a:solidFill>
                  <a:srgbClr val="3A5068"/>
                </a:solidFill>
                <a:latin typeface="Calibri" pitchFamily="34" charset="0"/>
                <a:ea typeface="Calibri" pitchFamily="34" charset="-122"/>
                <a:cs typeface="Calibri" pitchFamily="34" charset="-120"/>
              </a:rPr>
              <a:t>Ten platforms were evaluated across five criteria. None combined survival prediction, localisation, LLM advisory, and free mobile access.</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1444752"/>
          <a:ext cx="8503920" cy="914400"/>
        </p:xfrm>
        <a:graphic>
          <a:graphicData uri="http://schemas.openxmlformats.org/drawingml/2006/table">
            <a:tbl>
              <a:tblPr/>
              <a:tblGrid>
                <a:gridCol w="2103120"/>
                <a:gridCol w="1554480"/>
                <a:gridCol w="1737360"/>
                <a:gridCol w="1645920"/>
                <a:gridCol w="146304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System</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0A193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SME Focus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0A193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Predictive Analytics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0A193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African Localisation</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0A193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Free Access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0A1931"/>
                    </a:solidFill>
                  </a:tcPr>
                </a:tc>
              </a:tr>
              <a:tr h="0">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World Bank Surveys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Policy Research</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059669"/>
                          </a:solidFill>
                          <a:latin typeface="Calibri" pitchFamily="34" charset="0"/>
                          <a:ea typeface="Calibri" pitchFamily="34" charset="-122"/>
                          <a:cs typeface="Calibri" pitchFamily="34" charset="-120"/>
                        </a:rPr>
                        <a:t>High (Data only)</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IFC SME Toolkit</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Education</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97706"/>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059669"/>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Crunchbase</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Global Startups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97706"/>
                          </a:solidFill>
                          <a:latin typeface="Calibri" pitchFamily="34" charset="0"/>
                          <a:ea typeface="Calibri" pitchFamily="34" charset="-122"/>
                          <a:cs typeface="Calibri" pitchFamily="34" charset="-120"/>
                        </a:rPr>
                        <a:t>Limited</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CB Insights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Large Enterprises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059669"/>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SAP Business One</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Structured SMEs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Oracle NetSuite</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Medium Firms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Microsoft Power BI</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97706"/>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Tableau</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General</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97706"/>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QuickBooks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SMEs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97706"/>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97706"/>
                          </a:solidFill>
                          <a:latin typeface="Calibri" pitchFamily="34" charset="0"/>
                          <a:ea typeface="Calibri" pitchFamily="34" charset="-122"/>
                          <a:cs typeface="Calibri" pitchFamily="34" charset="-120"/>
                        </a:rPr>
                        <a:t>Limited</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KoboToolbox</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dirty="0">
                          <a:solidFill>
                            <a:srgbClr val="0F1F2E"/>
                          </a:solidFill>
                          <a:latin typeface="Calibri" pitchFamily="34" charset="0"/>
                          <a:ea typeface="Calibri" pitchFamily="34" charset="-122"/>
                          <a:cs typeface="Calibri" pitchFamily="34" charset="-120"/>
                        </a:rPr>
                        <a:t>Research/NGOs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DC2626"/>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059669"/>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c>
                  <a:txBody>
                    <a:bodyPr/>
                    <a:lstStyle/>
                    <a:p>
                      <a:pPr indent="0" marL="0">
                        <a:buNone/>
                      </a:pPr>
                      <a:r>
                        <a:rPr lang="en-US" sz="900" b="1" dirty="0">
                          <a:solidFill>
                            <a:srgbClr val="059669"/>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lnL w="6350" cap="flat" cmpd="sng" algn="ctr">
                      <a:solidFill>
                        <a:srgbClr val="E2EDF2"/>
                      </a:solidFill>
                      <a:prstDash val="solid"/>
                      <a:round/>
                      <a:headEnd type="none" w="med" len="med"/>
                      <a:tailEnd type="none" w="med" len="med"/>
                    </a:lnL>
                    <a:lnR w="6350" cap="flat" cmpd="sng" algn="ctr">
                      <a:solidFill>
                        <a:srgbClr val="E2EDF2"/>
                      </a:solidFill>
                      <a:prstDash val="solid"/>
                      <a:round/>
                      <a:headEnd type="none" w="med" len="med"/>
                      <a:tailEnd type="none" w="med" len="med"/>
                    </a:lnR>
                    <a:lnT w="6350" cap="flat" cmpd="sng" algn="ctr">
                      <a:solidFill>
                        <a:srgbClr val="E2EDF2"/>
                      </a:solidFill>
                      <a:prstDash val="solid"/>
                      <a:round/>
                      <a:headEnd type="none" w="med" len="med"/>
                      <a:tailEnd type="none" w="med" len="med"/>
                    </a:lnT>
                    <a:lnB w="6350" cap="flat" cmpd="sng" algn="ctr">
                      <a:solidFill>
                        <a:srgbClr val="E2EDF2"/>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4434840"/>
            <a:ext cx="8503920" cy="411480"/>
          </a:xfrm>
          <a:prstGeom prst="rect">
            <a:avLst/>
          </a:prstGeom>
          <a:solidFill>
            <a:srgbClr val="0D7C8F"/>
          </a:solidFill>
          <a:ln w="12700">
            <a:solidFill>
              <a:srgbClr val="0D7C8F"/>
            </a:solidFill>
            <a:prstDash val="solid"/>
          </a:ln>
        </p:spPr>
      </p:sp>
      <p:sp>
        <p:nvSpPr>
          <p:cNvPr id="12" name="Text 9"/>
          <p:cNvSpPr/>
          <p:nvPr/>
        </p:nvSpPr>
        <p:spPr>
          <a:xfrm>
            <a:off x="320040" y="4434840"/>
            <a:ext cx="850392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GAP: No existing system combines survival prediction + time-to-failure + LLM advisory + African localisation + mobile-first free access — this is BizSense OS.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Research Methodology</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Agile development with a three-tier architecture</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Text 7"/>
          <p:cNvSpPr/>
          <p:nvPr/>
        </p:nvSpPr>
        <p:spPr>
          <a:xfrm>
            <a:off x="320040" y="1024128"/>
            <a:ext cx="4023360" cy="292608"/>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Development Approach</a:t>
            </a:r>
            <a:endParaRPr lang="en-US" sz="1200" dirty="0"/>
          </a:p>
        </p:txBody>
      </p:sp>
      <p:sp>
        <p:nvSpPr>
          <p:cNvPr id="10" name="Shape 8"/>
          <p:cNvSpPr/>
          <p:nvPr/>
        </p:nvSpPr>
        <p:spPr>
          <a:xfrm>
            <a:off x="320040" y="1417320"/>
            <a:ext cx="4023360" cy="365760"/>
          </a:xfrm>
          <a:prstGeom prst="rect">
            <a:avLst/>
          </a:prstGeom>
          <a:solidFill>
            <a:srgbClr val="FFFFFF"/>
          </a:solidFill>
          <a:ln w="6350">
            <a:solidFill>
              <a:srgbClr val="E2EDF2"/>
            </a:solidFill>
            <a:prstDash val="solid"/>
          </a:ln>
        </p:spPr>
      </p:sp>
      <p:sp>
        <p:nvSpPr>
          <p:cNvPr id="11" name="Shape 9"/>
          <p:cNvSpPr/>
          <p:nvPr/>
        </p:nvSpPr>
        <p:spPr>
          <a:xfrm>
            <a:off x="320040" y="1417320"/>
            <a:ext cx="457200" cy="365760"/>
          </a:xfrm>
          <a:prstGeom prst="rect">
            <a:avLst/>
          </a:prstGeom>
          <a:solidFill>
            <a:srgbClr val="0D7C8F"/>
          </a:solidFill>
          <a:ln w="12700">
            <a:solidFill>
              <a:srgbClr val="0D7C8F"/>
            </a:solidFill>
            <a:prstDash val="solid"/>
          </a:ln>
        </p:spPr>
      </p:sp>
      <p:sp>
        <p:nvSpPr>
          <p:cNvPr id="12" name="Text 10"/>
          <p:cNvSpPr/>
          <p:nvPr/>
        </p:nvSpPr>
        <p:spPr>
          <a:xfrm>
            <a:off x="320040" y="1417320"/>
            <a:ext cx="45720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Ph1</a:t>
            </a:r>
            <a:endParaRPr lang="en-US" sz="800" dirty="0"/>
          </a:p>
        </p:txBody>
      </p:sp>
      <p:sp>
        <p:nvSpPr>
          <p:cNvPr id="13" name="Text 11"/>
          <p:cNvSpPr/>
          <p:nvPr/>
        </p:nvSpPr>
        <p:spPr>
          <a:xfrm>
            <a:off x="841248" y="1444752"/>
            <a:ext cx="1920240" cy="182880"/>
          </a:xfrm>
          <a:prstGeom prst="rect">
            <a:avLst/>
          </a:prstGeom>
          <a:noFill/>
          <a:ln/>
        </p:spPr>
        <p:txBody>
          <a:bodyPr wrap="square" lIns="0" tIns="0" rIns="0" bIns="0" rtlCol="0" anchor="ctr"/>
          <a:lstStyle/>
          <a:p>
            <a:pPr indent="0" marL="0">
              <a:buNone/>
            </a:pPr>
            <a:r>
              <a:rPr lang="en-US" sz="950" b="1" dirty="0">
                <a:solidFill>
                  <a:srgbClr val="0A1931"/>
                </a:solidFill>
                <a:latin typeface="Calibri" pitchFamily="34" charset="0"/>
                <a:ea typeface="Calibri" pitchFamily="34" charset="-122"/>
                <a:cs typeface="Calibri" pitchFamily="34" charset="-120"/>
              </a:rPr>
              <a:t>Planning &amp; Design</a:t>
            </a:r>
            <a:endParaRPr lang="en-US" sz="950" dirty="0"/>
          </a:p>
        </p:txBody>
      </p:sp>
      <p:sp>
        <p:nvSpPr>
          <p:cNvPr id="14" name="Text 12"/>
          <p:cNvSpPr/>
          <p:nvPr/>
        </p:nvSpPr>
        <p:spPr>
          <a:xfrm>
            <a:off x="841248" y="1618488"/>
            <a:ext cx="3383280" cy="137160"/>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Requirements, architecture, UML diagrams</a:t>
            </a:r>
            <a:endParaRPr lang="en-US" sz="800" dirty="0"/>
          </a:p>
        </p:txBody>
      </p:sp>
      <p:sp>
        <p:nvSpPr>
          <p:cNvPr id="15" name="Shape 13"/>
          <p:cNvSpPr/>
          <p:nvPr/>
        </p:nvSpPr>
        <p:spPr>
          <a:xfrm>
            <a:off x="320040" y="1847088"/>
            <a:ext cx="4023360" cy="365760"/>
          </a:xfrm>
          <a:prstGeom prst="rect">
            <a:avLst/>
          </a:prstGeom>
          <a:solidFill>
            <a:srgbClr val="EEF5F8"/>
          </a:solidFill>
          <a:ln w="6350">
            <a:solidFill>
              <a:srgbClr val="E2EDF2"/>
            </a:solidFill>
            <a:prstDash val="solid"/>
          </a:ln>
        </p:spPr>
      </p:sp>
      <p:sp>
        <p:nvSpPr>
          <p:cNvPr id="16" name="Shape 14"/>
          <p:cNvSpPr/>
          <p:nvPr/>
        </p:nvSpPr>
        <p:spPr>
          <a:xfrm>
            <a:off x="320040" y="1847088"/>
            <a:ext cx="457200" cy="365760"/>
          </a:xfrm>
          <a:prstGeom prst="rect">
            <a:avLst/>
          </a:prstGeom>
          <a:solidFill>
            <a:srgbClr val="0D7C8F"/>
          </a:solidFill>
          <a:ln w="12700">
            <a:solidFill>
              <a:srgbClr val="0D7C8F"/>
            </a:solidFill>
            <a:prstDash val="solid"/>
          </a:ln>
        </p:spPr>
      </p:sp>
      <p:sp>
        <p:nvSpPr>
          <p:cNvPr id="17" name="Text 15"/>
          <p:cNvSpPr/>
          <p:nvPr/>
        </p:nvSpPr>
        <p:spPr>
          <a:xfrm>
            <a:off x="320040" y="1847088"/>
            <a:ext cx="45720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Ph2</a:t>
            </a:r>
            <a:endParaRPr lang="en-US" sz="800" dirty="0"/>
          </a:p>
        </p:txBody>
      </p:sp>
      <p:sp>
        <p:nvSpPr>
          <p:cNvPr id="18" name="Text 16"/>
          <p:cNvSpPr/>
          <p:nvPr/>
        </p:nvSpPr>
        <p:spPr>
          <a:xfrm>
            <a:off x="841248" y="1874520"/>
            <a:ext cx="1920240" cy="182880"/>
          </a:xfrm>
          <a:prstGeom prst="rect">
            <a:avLst/>
          </a:prstGeom>
          <a:noFill/>
          <a:ln/>
        </p:spPr>
        <p:txBody>
          <a:bodyPr wrap="square" lIns="0" tIns="0" rIns="0" bIns="0" rtlCol="0" anchor="ctr"/>
          <a:lstStyle/>
          <a:p>
            <a:pPr indent="0" marL="0">
              <a:buNone/>
            </a:pPr>
            <a:r>
              <a:rPr lang="en-US" sz="950" b="1" dirty="0">
                <a:solidFill>
                  <a:srgbClr val="0A1931"/>
                </a:solidFill>
                <a:latin typeface="Calibri" pitchFamily="34" charset="0"/>
                <a:ea typeface="Calibri" pitchFamily="34" charset="-122"/>
                <a:cs typeface="Calibri" pitchFamily="34" charset="-120"/>
              </a:rPr>
              <a:t>Data Collection</a:t>
            </a:r>
            <a:endParaRPr lang="en-US" sz="950" dirty="0"/>
          </a:p>
        </p:txBody>
      </p:sp>
      <p:sp>
        <p:nvSpPr>
          <p:cNvPr id="19" name="Text 17"/>
          <p:cNvSpPr/>
          <p:nvPr/>
        </p:nvSpPr>
        <p:spPr>
          <a:xfrm>
            <a:off x="841248" y="2048256"/>
            <a:ext cx="3383280" cy="137160"/>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Survey + World Bank + MINPMEESA dataset</a:t>
            </a:r>
            <a:endParaRPr lang="en-US" sz="800" dirty="0"/>
          </a:p>
        </p:txBody>
      </p:sp>
      <p:sp>
        <p:nvSpPr>
          <p:cNvPr id="20" name="Shape 18"/>
          <p:cNvSpPr/>
          <p:nvPr/>
        </p:nvSpPr>
        <p:spPr>
          <a:xfrm>
            <a:off x="320040" y="2276856"/>
            <a:ext cx="4023360" cy="365760"/>
          </a:xfrm>
          <a:prstGeom prst="rect">
            <a:avLst/>
          </a:prstGeom>
          <a:solidFill>
            <a:srgbClr val="FFFFFF"/>
          </a:solidFill>
          <a:ln w="6350">
            <a:solidFill>
              <a:srgbClr val="E2EDF2"/>
            </a:solidFill>
            <a:prstDash val="solid"/>
          </a:ln>
        </p:spPr>
      </p:sp>
      <p:sp>
        <p:nvSpPr>
          <p:cNvPr id="21" name="Shape 19"/>
          <p:cNvSpPr/>
          <p:nvPr/>
        </p:nvSpPr>
        <p:spPr>
          <a:xfrm>
            <a:off x="320040" y="2276856"/>
            <a:ext cx="457200" cy="365760"/>
          </a:xfrm>
          <a:prstGeom prst="rect">
            <a:avLst/>
          </a:prstGeom>
          <a:solidFill>
            <a:srgbClr val="0D7C8F"/>
          </a:solidFill>
          <a:ln w="12700">
            <a:solidFill>
              <a:srgbClr val="0D7C8F"/>
            </a:solidFill>
            <a:prstDash val="solid"/>
          </a:ln>
        </p:spPr>
      </p:sp>
      <p:sp>
        <p:nvSpPr>
          <p:cNvPr id="22" name="Text 20"/>
          <p:cNvSpPr/>
          <p:nvPr/>
        </p:nvSpPr>
        <p:spPr>
          <a:xfrm>
            <a:off x="320040" y="2276856"/>
            <a:ext cx="45720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Ph3</a:t>
            </a:r>
            <a:endParaRPr lang="en-US" sz="800" dirty="0"/>
          </a:p>
        </p:txBody>
      </p:sp>
      <p:sp>
        <p:nvSpPr>
          <p:cNvPr id="23" name="Text 21"/>
          <p:cNvSpPr/>
          <p:nvPr/>
        </p:nvSpPr>
        <p:spPr>
          <a:xfrm>
            <a:off x="841248" y="2304288"/>
            <a:ext cx="1920240" cy="182880"/>
          </a:xfrm>
          <a:prstGeom prst="rect">
            <a:avLst/>
          </a:prstGeom>
          <a:noFill/>
          <a:ln/>
        </p:spPr>
        <p:txBody>
          <a:bodyPr wrap="square" lIns="0" tIns="0" rIns="0" bIns="0" rtlCol="0" anchor="ctr"/>
          <a:lstStyle/>
          <a:p>
            <a:pPr indent="0" marL="0">
              <a:buNone/>
            </a:pPr>
            <a:r>
              <a:rPr lang="en-US" sz="950" b="1" dirty="0">
                <a:solidFill>
                  <a:srgbClr val="0A1931"/>
                </a:solidFill>
                <a:latin typeface="Calibri" pitchFamily="34" charset="0"/>
                <a:ea typeface="Calibri" pitchFamily="34" charset="-122"/>
                <a:cs typeface="Calibri" pitchFamily="34" charset="-120"/>
              </a:rPr>
              <a:t>ML Training</a:t>
            </a:r>
            <a:endParaRPr lang="en-US" sz="950" dirty="0"/>
          </a:p>
        </p:txBody>
      </p:sp>
      <p:sp>
        <p:nvSpPr>
          <p:cNvPr id="24" name="Text 22"/>
          <p:cNvSpPr/>
          <p:nvPr/>
        </p:nvSpPr>
        <p:spPr>
          <a:xfrm>
            <a:off x="841248" y="2478024"/>
            <a:ext cx="3383280" cy="137160"/>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Ensemble + Cox PH + XGBoost models</a:t>
            </a:r>
            <a:endParaRPr lang="en-US" sz="800" dirty="0"/>
          </a:p>
        </p:txBody>
      </p:sp>
      <p:sp>
        <p:nvSpPr>
          <p:cNvPr id="25" name="Shape 23"/>
          <p:cNvSpPr/>
          <p:nvPr/>
        </p:nvSpPr>
        <p:spPr>
          <a:xfrm>
            <a:off x="320040" y="2706624"/>
            <a:ext cx="4023360" cy="365760"/>
          </a:xfrm>
          <a:prstGeom prst="rect">
            <a:avLst/>
          </a:prstGeom>
          <a:solidFill>
            <a:srgbClr val="EEF5F8"/>
          </a:solidFill>
          <a:ln w="6350">
            <a:solidFill>
              <a:srgbClr val="E2EDF2"/>
            </a:solidFill>
            <a:prstDash val="solid"/>
          </a:ln>
        </p:spPr>
      </p:sp>
      <p:sp>
        <p:nvSpPr>
          <p:cNvPr id="26" name="Shape 24"/>
          <p:cNvSpPr/>
          <p:nvPr/>
        </p:nvSpPr>
        <p:spPr>
          <a:xfrm>
            <a:off x="320040" y="2706624"/>
            <a:ext cx="457200" cy="365760"/>
          </a:xfrm>
          <a:prstGeom prst="rect">
            <a:avLst/>
          </a:prstGeom>
          <a:solidFill>
            <a:srgbClr val="0D7C8F"/>
          </a:solidFill>
          <a:ln w="12700">
            <a:solidFill>
              <a:srgbClr val="0D7C8F"/>
            </a:solidFill>
            <a:prstDash val="solid"/>
          </a:ln>
        </p:spPr>
      </p:sp>
      <p:sp>
        <p:nvSpPr>
          <p:cNvPr id="27" name="Text 25"/>
          <p:cNvSpPr/>
          <p:nvPr/>
        </p:nvSpPr>
        <p:spPr>
          <a:xfrm>
            <a:off x="320040" y="2706624"/>
            <a:ext cx="45720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Ph4</a:t>
            </a:r>
            <a:endParaRPr lang="en-US" sz="800" dirty="0"/>
          </a:p>
        </p:txBody>
      </p:sp>
      <p:sp>
        <p:nvSpPr>
          <p:cNvPr id="28" name="Text 26"/>
          <p:cNvSpPr/>
          <p:nvPr/>
        </p:nvSpPr>
        <p:spPr>
          <a:xfrm>
            <a:off x="841248" y="2734056"/>
            <a:ext cx="1920240" cy="182880"/>
          </a:xfrm>
          <a:prstGeom prst="rect">
            <a:avLst/>
          </a:prstGeom>
          <a:noFill/>
          <a:ln/>
        </p:spPr>
        <p:txBody>
          <a:bodyPr wrap="square" lIns="0" tIns="0" rIns="0" bIns="0" rtlCol="0" anchor="ctr"/>
          <a:lstStyle/>
          <a:p>
            <a:pPr indent="0" marL="0">
              <a:buNone/>
            </a:pPr>
            <a:r>
              <a:rPr lang="en-US" sz="950" b="1" dirty="0">
                <a:solidFill>
                  <a:srgbClr val="0A1931"/>
                </a:solidFill>
                <a:latin typeface="Calibri" pitchFamily="34" charset="0"/>
                <a:ea typeface="Calibri" pitchFamily="34" charset="-122"/>
                <a:cs typeface="Calibri" pitchFamily="34" charset="-120"/>
              </a:rPr>
              <a:t>Backend API</a:t>
            </a:r>
            <a:endParaRPr lang="en-US" sz="950" dirty="0"/>
          </a:p>
        </p:txBody>
      </p:sp>
      <p:sp>
        <p:nvSpPr>
          <p:cNvPr id="29" name="Text 27"/>
          <p:cNvSpPr/>
          <p:nvPr/>
        </p:nvSpPr>
        <p:spPr>
          <a:xfrm>
            <a:off x="841248" y="2907792"/>
            <a:ext cx="3383280" cy="137160"/>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FastAPI, Supabase, Redis, Groq integration</a:t>
            </a:r>
            <a:endParaRPr lang="en-US" sz="800" dirty="0"/>
          </a:p>
        </p:txBody>
      </p:sp>
      <p:sp>
        <p:nvSpPr>
          <p:cNvPr id="30" name="Shape 28"/>
          <p:cNvSpPr/>
          <p:nvPr/>
        </p:nvSpPr>
        <p:spPr>
          <a:xfrm>
            <a:off x="320040" y="3136392"/>
            <a:ext cx="4023360" cy="365760"/>
          </a:xfrm>
          <a:prstGeom prst="rect">
            <a:avLst/>
          </a:prstGeom>
          <a:solidFill>
            <a:srgbClr val="FFFFFF"/>
          </a:solidFill>
          <a:ln w="6350">
            <a:solidFill>
              <a:srgbClr val="E2EDF2"/>
            </a:solidFill>
            <a:prstDash val="solid"/>
          </a:ln>
        </p:spPr>
      </p:sp>
      <p:sp>
        <p:nvSpPr>
          <p:cNvPr id="31" name="Shape 29"/>
          <p:cNvSpPr/>
          <p:nvPr/>
        </p:nvSpPr>
        <p:spPr>
          <a:xfrm>
            <a:off x="320040" y="3136392"/>
            <a:ext cx="457200" cy="365760"/>
          </a:xfrm>
          <a:prstGeom prst="rect">
            <a:avLst/>
          </a:prstGeom>
          <a:solidFill>
            <a:srgbClr val="0D7C8F"/>
          </a:solidFill>
          <a:ln w="12700">
            <a:solidFill>
              <a:srgbClr val="0D7C8F"/>
            </a:solidFill>
            <a:prstDash val="solid"/>
          </a:ln>
        </p:spPr>
      </p:sp>
      <p:sp>
        <p:nvSpPr>
          <p:cNvPr id="32" name="Text 30"/>
          <p:cNvSpPr/>
          <p:nvPr/>
        </p:nvSpPr>
        <p:spPr>
          <a:xfrm>
            <a:off x="320040" y="3136392"/>
            <a:ext cx="45720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Ph5</a:t>
            </a:r>
            <a:endParaRPr lang="en-US" sz="800" dirty="0"/>
          </a:p>
        </p:txBody>
      </p:sp>
      <p:sp>
        <p:nvSpPr>
          <p:cNvPr id="33" name="Text 31"/>
          <p:cNvSpPr/>
          <p:nvPr/>
        </p:nvSpPr>
        <p:spPr>
          <a:xfrm>
            <a:off x="841248" y="3163824"/>
            <a:ext cx="1920240" cy="182880"/>
          </a:xfrm>
          <a:prstGeom prst="rect">
            <a:avLst/>
          </a:prstGeom>
          <a:noFill/>
          <a:ln/>
        </p:spPr>
        <p:txBody>
          <a:bodyPr wrap="square" lIns="0" tIns="0" rIns="0" bIns="0" rtlCol="0" anchor="ctr"/>
          <a:lstStyle/>
          <a:p>
            <a:pPr indent="0" marL="0">
              <a:buNone/>
            </a:pPr>
            <a:r>
              <a:rPr lang="en-US" sz="950" b="1" dirty="0">
                <a:solidFill>
                  <a:srgbClr val="0A1931"/>
                </a:solidFill>
                <a:latin typeface="Calibri" pitchFamily="34" charset="0"/>
                <a:ea typeface="Calibri" pitchFamily="34" charset="-122"/>
                <a:cs typeface="Calibri" pitchFamily="34" charset="-120"/>
              </a:rPr>
              <a:t>Mobile App</a:t>
            </a:r>
            <a:endParaRPr lang="en-US" sz="950" dirty="0"/>
          </a:p>
        </p:txBody>
      </p:sp>
      <p:sp>
        <p:nvSpPr>
          <p:cNvPr id="34" name="Text 32"/>
          <p:cNvSpPr/>
          <p:nvPr/>
        </p:nvSpPr>
        <p:spPr>
          <a:xfrm>
            <a:off x="841248" y="3337560"/>
            <a:ext cx="3383280" cy="137160"/>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React Native + Expo SDK 53 (Android/iOS)</a:t>
            </a:r>
            <a:endParaRPr lang="en-US" sz="800" dirty="0"/>
          </a:p>
        </p:txBody>
      </p:sp>
      <p:sp>
        <p:nvSpPr>
          <p:cNvPr id="35" name="Shape 33"/>
          <p:cNvSpPr/>
          <p:nvPr/>
        </p:nvSpPr>
        <p:spPr>
          <a:xfrm>
            <a:off x="320040" y="3566160"/>
            <a:ext cx="4023360" cy="365760"/>
          </a:xfrm>
          <a:prstGeom prst="rect">
            <a:avLst/>
          </a:prstGeom>
          <a:solidFill>
            <a:srgbClr val="EEF5F8"/>
          </a:solidFill>
          <a:ln w="6350">
            <a:solidFill>
              <a:srgbClr val="E2EDF2"/>
            </a:solidFill>
            <a:prstDash val="solid"/>
          </a:ln>
        </p:spPr>
      </p:sp>
      <p:sp>
        <p:nvSpPr>
          <p:cNvPr id="36" name="Shape 34"/>
          <p:cNvSpPr/>
          <p:nvPr/>
        </p:nvSpPr>
        <p:spPr>
          <a:xfrm>
            <a:off x="320040" y="3566160"/>
            <a:ext cx="457200" cy="365760"/>
          </a:xfrm>
          <a:prstGeom prst="rect">
            <a:avLst/>
          </a:prstGeom>
          <a:solidFill>
            <a:srgbClr val="0D7C8F"/>
          </a:solidFill>
          <a:ln w="12700">
            <a:solidFill>
              <a:srgbClr val="0D7C8F"/>
            </a:solidFill>
            <a:prstDash val="solid"/>
          </a:ln>
        </p:spPr>
      </p:sp>
      <p:sp>
        <p:nvSpPr>
          <p:cNvPr id="37" name="Text 35"/>
          <p:cNvSpPr/>
          <p:nvPr/>
        </p:nvSpPr>
        <p:spPr>
          <a:xfrm>
            <a:off x="320040" y="3566160"/>
            <a:ext cx="45720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Ph6</a:t>
            </a:r>
            <a:endParaRPr lang="en-US" sz="800" dirty="0"/>
          </a:p>
        </p:txBody>
      </p:sp>
      <p:sp>
        <p:nvSpPr>
          <p:cNvPr id="38" name="Text 36"/>
          <p:cNvSpPr/>
          <p:nvPr/>
        </p:nvSpPr>
        <p:spPr>
          <a:xfrm>
            <a:off x="841248" y="3593592"/>
            <a:ext cx="1920240" cy="182880"/>
          </a:xfrm>
          <a:prstGeom prst="rect">
            <a:avLst/>
          </a:prstGeom>
          <a:noFill/>
          <a:ln/>
        </p:spPr>
        <p:txBody>
          <a:bodyPr wrap="square" lIns="0" tIns="0" rIns="0" bIns="0" rtlCol="0" anchor="ctr"/>
          <a:lstStyle/>
          <a:p>
            <a:pPr indent="0" marL="0">
              <a:buNone/>
            </a:pPr>
            <a:r>
              <a:rPr lang="en-US" sz="950" b="1" dirty="0">
                <a:solidFill>
                  <a:srgbClr val="0A1931"/>
                </a:solidFill>
                <a:latin typeface="Calibri" pitchFamily="34" charset="0"/>
                <a:ea typeface="Calibri" pitchFamily="34" charset="-122"/>
                <a:cs typeface="Calibri" pitchFamily="34" charset="-120"/>
              </a:rPr>
              <a:t>Web Dashboard</a:t>
            </a:r>
            <a:endParaRPr lang="en-US" sz="950" dirty="0"/>
          </a:p>
        </p:txBody>
      </p:sp>
      <p:sp>
        <p:nvSpPr>
          <p:cNvPr id="39" name="Text 37"/>
          <p:cNvSpPr/>
          <p:nvPr/>
        </p:nvSpPr>
        <p:spPr>
          <a:xfrm>
            <a:off x="841248" y="3767328"/>
            <a:ext cx="3383280" cy="137160"/>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Next.js 16, NextAuth, Recharts</a:t>
            </a:r>
            <a:endParaRPr lang="en-US" sz="800" dirty="0"/>
          </a:p>
        </p:txBody>
      </p:sp>
      <p:sp>
        <p:nvSpPr>
          <p:cNvPr id="40" name="Shape 38"/>
          <p:cNvSpPr/>
          <p:nvPr/>
        </p:nvSpPr>
        <p:spPr>
          <a:xfrm>
            <a:off x="320040" y="3995928"/>
            <a:ext cx="4023360" cy="365760"/>
          </a:xfrm>
          <a:prstGeom prst="rect">
            <a:avLst/>
          </a:prstGeom>
          <a:solidFill>
            <a:srgbClr val="FFFFFF"/>
          </a:solidFill>
          <a:ln w="6350">
            <a:solidFill>
              <a:srgbClr val="E2EDF2"/>
            </a:solidFill>
            <a:prstDash val="solid"/>
          </a:ln>
        </p:spPr>
      </p:sp>
      <p:sp>
        <p:nvSpPr>
          <p:cNvPr id="41" name="Shape 39"/>
          <p:cNvSpPr/>
          <p:nvPr/>
        </p:nvSpPr>
        <p:spPr>
          <a:xfrm>
            <a:off x="320040" y="3995928"/>
            <a:ext cx="457200" cy="365760"/>
          </a:xfrm>
          <a:prstGeom prst="rect">
            <a:avLst/>
          </a:prstGeom>
          <a:solidFill>
            <a:srgbClr val="0D7C8F"/>
          </a:solidFill>
          <a:ln w="12700">
            <a:solidFill>
              <a:srgbClr val="0D7C8F"/>
            </a:solidFill>
            <a:prstDash val="solid"/>
          </a:ln>
        </p:spPr>
      </p:sp>
      <p:sp>
        <p:nvSpPr>
          <p:cNvPr id="42" name="Text 40"/>
          <p:cNvSpPr/>
          <p:nvPr/>
        </p:nvSpPr>
        <p:spPr>
          <a:xfrm>
            <a:off x="320040" y="3995928"/>
            <a:ext cx="45720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Ph7</a:t>
            </a:r>
            <a:endParaRPr lang="en-US" sz="800" dirty="0"/>
          </a:p>
        </p:txBody>
      </p:sp>
      <p:sp>
        <p:nvSpPr>
          <p:cNvPr id="43" name="Text 41"/>
          <p:cNvSpPr/>
          <p:nvPr/>
        </p:nvSpPr>
        <p:spPr>
          <a:xfrm>
            <a:off x="841248" y="4023360"/>
            <a:ext cx="1920240" cy="182880"/>
          </a:xfrm>
          <a:prstGeom prst="rect">
            <a:avLst/>
          </a:prstGeom>
          <a:noFill/>
          <a:ln/>
        </p:spPr>
        <p:txBody>
          <a:bodyPr wrap="square" lIns="0" tIns="0" rIns="0" bIns="0" rtlCol="0" anchor="ctr"/>
          <a:lstStyle/>
          <a:p>
            <a:pPr indent="0" marL="0">
              <a:buNone/>
            </a:pPr>
            <a:r>
              <a:rPr lang="en-US" sz="950" b="1" dirty="0">
                <a:solidFill>
                  <a:srgbClr val="0A1931"/>
                </a:solidFill>
                <a:latin typeface="Calibri" pitchFamily="34" charset="0"/>
                <a:ea typeface="Calibri" pitchFamily="34" charset="-122"/>
                <a:cs typeface="Calibri" pitchFamily="34" charset="-120"/>
              </a:rPr>
              <a:t>Testing</a:t>
            </a:r>
            <a:endParaRPr lang="en-US" sz="950" dirty="0"/>
          </a:p>
        </p:txBody>
      </p:sp>
      <p:sp>
        <p:nvSpPr>
          <p:cNvPr id="44" name="Text 42"/>
          <p:cNvSpPr/>
          <p:nvPr/>
        </p:nvSpPr>
        <p:spPr>
          <a:xfrm>
            <a:off x="841248" y="4197096"/>
            <a:ext cx="3383280" cy="137160"/>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42 unit tests + 8 integration + 8 system tests</a:t>
            </a:r>
            <a:endParaRPr lang="en-US" sz="800" dirty="0"/>
          </a:p>
        </p:txBody>
      </p:sp>
      <p:sp>
        <p:nvSpPr>
          <p:cNvPr id="45" name="Shape 43"/>
          <p:cNvSpPr/>
          <p:nvPr/>
        </p:nvSpPr>
        <p:spPr>
          <a:xfrm>
            <a:off x="320040" y="4425696"/>
            <a:ext cx="4023360" cy="365760"/>
          </a:xfrm>
          <a:prstGeom prst="rect">
            <a:avLst/>
          </a:prstGeom>
          <a:solidFill>
            <a:srgbClr val="EEF5F8"/>
          </a:solidFill>
          <a:ln w="6350">
            <a:solidFill>
              <a:srgbClr val="E2EDF2"/>
            </a:solidFill>
            <a:prstDash val="solid"/>
          </a:ln>
        </p:spPr>
      </p:sp>
      <p:sp>
        <p:nvSpPr>
          <p:cNvPr id="46" name="Shape 44"/>
          <p:cNvSpPr/>
          <p:nvPr/>
        </p:nvSpPr>
        <p:spPr>
          <a:xfrm>
            <a:off x="320040" y="4425696"/>
            <a:ext cx="457200" cy="365760"/>
          </a:xfrm>
          <a:prstGeom prst="rect">
            <a:avLst/>
          </a:prstGeom>
          <a:solidFill>
            <a:srgbClr val="0D7C8F"/>
          </a:solidFill>
          <a:ln w="12700">
            <a:solidFill>
              <a:srgbClr val="0D7C8F"/>
            </a:solidFill>
            <a:prstDash val="solid"/>
          </a:ln>
        </p:spPr>
      </p:sp>
      <p:sp>
        <p:nvSpPr>
          <p:cNvPr id="47" name="Text 45"/>
          <p:cNvSpPr/>
          <p:nvPr/>
        </p:nvSpPr>
        <p:spPr>
          <a:xfrm>
            <a:off x="320040" y="4425696"/>
            <a:ext cx="45720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Ph8</a:t>
            </a:r>
            <a:endParaRPr lang="en-US" sz="800" dirty="0"/>
          </a:p>
        </p:txBody>
      </p:sp>
      <p:sp>
        <p:nvSpPr>
          <p:cNvPr id="48" name="Text 46"/>
          <p:cNvSpPr/>
          <p:nvPr/>
        </p:nvSpPr>
        <p:spPr>
          <a:xfrm>
            <a:off x="841248" y="4453128"/>
            <a:ext cx="1920240" cy="182880"/>
          </a:xfrm>
          <a:prstGeom prst="rect">
            <a:avLst/>
          </a:prstGeom>
          <a:noFill/>
          <a:ln/>
        </p:spPr>
        <p:txBody>
          <a:bodyPr wrap="square" lIns="0" tIns="0" rIns="0" bIns="0" rtlCol="0" anchor="ctr"/>
          <a:lstStyle/>
          <a:p>
            <a:pPr indent="0" marL="0">
              <a:buNone/>
            </a:pPr>
            <a:r>
              <a:rPr lang="en-US" sz="950" b="1" dirty="0">
                <a:solidFill>
                  <a:srgbClr val="0A1931"/>
                </a:solidFill>
                <a:latin typeface="Calibri" pitchFamily="34" charset="0"/>
                <a:ea typeface="Calibri" pitchFamily="34" charset="-122"/>
                <a:cs typeface="Calibri" pitchFamily="34" charset="-120"/>
              </a:rPr>
              <a:t>Deployment</a:t>
            </a:r>
            <a:endParaRPr lang="en-US" sz="950" dirty="0"/>
          </a:p>
        </p:txBody>
      </p:sp>
      <p:sp>
        <p:nvSpPr>
          <p:cNvPr id="49" name="Text 47"/>
          <p:cNvSpPr/>
          <p:nvPr/>
        </p:nvSpPr>
        <p:spPr>
          <a:xfrm>
            <a:off x="841248" y="4626864"/>
            <a:ext cx="3383280" cy="137160"/>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Render.com, Vercel, Expo builds</a:t>
            </a:r>
            <a:endParaRPr lang="en-US" sz="800" dirty="0"/>
          </a:p>
        </p:txBody>
      </p:sp>
      <p:sp>
        <p:nvSpPr>
          <p:cNvPr id="50" name="Text 48"/>
          <p:cNvSpPr/>
          <p:nvPr/>
        </p:nvSpPr>
        <p:spPr>
          <a:xfrm>
            <a:off x="4617720" y="1024128"/>
            <a:ext cx="4206240" cy="292608"/>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Technology Stack</a:t>
            </a:r>
            <a:endParaRPr lang="en-US" sz="1200" dirty="0"/>
          </a:p>
        </p:txBody>
      </p:sp>
      <p:sp>
        <p:nvSpPr>
          <p:cNvPr id="51" name="Shape 49"/>
          <p:cNvSpPr/>
          <p:nvPr/>
        </p:nvSpPr>
        <p:spPr>
          <a:xfrm>
            <a:off x="4617720" y="1417320"/>
            <a:ext cx="1993392" cy="713232"/>
          </a:xfrm>
          <a:prstGeom prst="rect">
            <a:avLst/>
          </a:prstGeom>
          <a:solidFill>
            <a:srgbClr val="FFFFFF"/>
          </a:solidFill>
          <a:ln w="9525">
            <a:solidFill>
              <a:srgbClr val="E2EDF2"/>
            </a:solidFill>
            <a:prstDash val="solid"/>
          </a:ln>
        </p:spPr>
      </p:sp>
      <p:pic>
        <p:nvPicPr>
          <p:cNvPr id="52" name="Image 0" descr="preencoded.png">    </p:cNvPr>
          <p:cNvPicPr>
            <a:picLocks noChangeAspect="1"/>
          </p:cNvPicPr>
          <p:nvPr/>
        </p:nvPicPr>
        <p:blipFill>
          <a:blip r:embed="rId1"/>
          <a:stretch>
            <a:fillRect/>
          </a:stretch>
        </p:blipFill>
        <p:spPr>
          <a:xfrm>
            <a:off x="4709160" y="1508760"/>
            <a:ext cx="274320" cy="274320"/>
          </a:xfrm>
          <a:prstGeom prst="rect">
            <a:avLst/>
          </a:prstGeom>
        </p:spPr>
      </p:pic>
      <p:sp>
        <p:nvSpPr>
          <p:cNvPr id="53" name="Text 50"/>
          <p:cNvSpPr/>
          <p:nvPr/>
        </p:nvSpPr>
        <p:spPr>
          <a:xfrm>
            <a:off x="5056632" y="1472184"/>
            <a:ext cx="1481328" cy="292608"/>
          </a:xfrm>
          <a:prstGeom prst="rect">
            <a:avLst/>
          </a:prstGeom>
          <a:noFill/>
          <a:ln/>
        </p:spPr>
        <p:txBody>
          <a:bodyPr wrap="square" lIns="0" tIns="0" rIns="0" bIns="0" rtlCol="0" anchor="ctr"/>
          <a:lstStyle/>
          <a:p>
            <a:pPr indent="0" marL="0">
              <a:buNone/>
            </a:pPr>
            <a:r>
              <a:rPr lang="en-US" sz="900" b="1" dirty="0">
                <a:solidFill>
                  <a:srgbClr val="0A1931"/>
                </a:solidFill>
                <a:latin typeface="Calibri" pitchFamily="34" charset="0"/>
                <a:ea typeface="Calibri" pitchFamily="34" charset="-122"/>
                <a:cs typeface="Calibri" pitchFamily="34" charset="-120"/>
              </a:rPr>
              <a:t>FastAPI 0.115</a:t>
            </a:r>
            <a:endParaRPr lang="en-US" sz="900" dirty="0"/>
          </a:p>
        </p:txBody>
      </p:sp>
      <p:sp>
        <p:nvSpPr>
          <p:cNvPr id="54" name="Text 51"/>
          <p:cNvSpPr/>
          <p:nvPr/>
        </p:nvSpPr>
        <p:spPr>
          <a:xfrm>
            <a:off x="5056632" y="1764792"/>
            <a:ext cx="1481328" cy="29260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Python 3.12 backend</a:t>
            </a:r>
            <a:endParaRPr lang="en-US" sz="800" dirty="0"/>
          </a:p>
          <a:p>
            <a:pPr indent="0" marL="0">
              <a:buNone/>
            </a:pPr>
            <a:r>
              <a:rPr lang="en-US" sz="800" dirty="0">
                <a:solidFill>
                  <a:srgbClr val="3A5068"/>
                </a:solidFill>
                <a:latin typeface="Calibri" pitchFamily="34" charset="0"/>
                <a:ea typeface="Calibri" pitchFamily="34" charset="-122"/>
                <a:cs typeface="Calibri" pitchFamily="34" charset="-120"/>
              </a:rPr>
              <a:t>REST API</a:t>
            </a:r>
            <a:endParaRPr lang="en-US" sz="800" dirty="0"/>
          </a:p>
        </p:txBody>
      </p:sp>
      <p:sp>
        <p:nvSpPr>
          <p:cNvPr id="55" name="Shape 52"/>
          <p:cNvSpPr/>
          <p:nvPr/>
        </p:nvSpPr>
        <p:spPr>
          <a:xfrm>
            <a:off x="6739128" y="1417320"/>
            <a:ext cx="1993392" cy="713232"/>
          </a:xfrm>
          <a:prstGeom prst="rect">
            <a:avLst/>
          </a:prstGeom>
          <a:solidFill>
            <a:srgbClr val="FFFFFF"/>
          </a:solidFill>
          <a:ln w="9525">
            <a:solidFill>
              <a:srgbClr val="E2EDF2"/>
            </a:solidFill>
            <a:prstDash val="solid"/>
          </a:ln>
        </p:spPr>
      </p:sp>
      <p:pic>
        <p:nvPicPr>
          <p:cNvPr id="56" name="Image 1" descr="preencoded.png">    </p:cNvPr>
          <p:cNvPicPr>
            <a:picLocks noChangeAspect="1"/>
          </p:cNvPicPr>
          <p:nvPr/>
        </p:nvPicPr>
        <p:blipFill>
          <a:blip r:embed="rId2"/>
          <a:stretch>
            <a:fillRect/>
          </a:stretch>
        </p:blipFill>
        <p:spPr>
          <a:xfrm>
            <a:off x="6830568" y="1508760"/>
            <a:ext cx="274320" cy="274320"/>
          </a:xfrm>
          <a:prstGeom prst="rect">
            <a:avLst/>
          </a:prstGeom>
        </p:spPr>
      </p:pic>
      <p:sp>
        <p:nvSpPr>
          <p:cNvPr id="57" name="Text 53"/>
          <p:cNvSpPr/>
          <p:nvPr/>
        </p:nvSpPr>
        <p:spPr>
          <a:xfrm>
            <a:off x="7178040" y="1472184"/>
            <a:ext cx="1481328" cy="292608"/>
          </a:xfrm>
          <a:prstGeom prst="rect">
            <a:avLst/>
          </a:prstGeom>
          <a:noFill/>
          <a:ln/>
        </p:spPr>
        <p:txBody>
          <a:bodyPr wrap="square" lIns="0" tIns="0" rIns="0" bIns="0" rtlCol="0" anchor="ctr"/>
          <a:lstStyle/>
          <a:p>
            <a:pPr indent="0" marL="0">
              <a:buNone/>
            </a:pPr>
            <a:r>
              <a:rPr lang="en-US" sz="900" b="1" dirty="0">
                <a:solidFill>
                  <a:srgbClr val="0A1931"/>
                </a:solidFill>
                <a:latin typeface="Calibri" pitchFamily="34" charset="0"/>
                <a:ea typeface="Calibri" pitchFamily="34" charset="-122"/>
                <a:cs typeface="Calibri" pitchFamily="34" charset="-120"/>
              </a:rPr>
              <a:t>LightGBM + CatBoost</a:t>
            </a:r>
            <a:endParaRPr lang="en-US" sz="900" dirty="0"/>
          </a:p>
        </p:txBody>
      </p:sp>
      <p:sp>
        <p:nvSpPr>
          <p:cNvPr id="58" name="Text 54"/>
          <p:cNvSpPr/>
          <p:nvPr/>
        </p:nvSpPr>
        <p:spPr>
          <a:xfrm>
            <a:off x="7178040" y="1764792"/>
            <a:ext cx="1481328" cy="29260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Survival ensemble</a:t>
            </a:r>
            <a:endParaRPr lang="en-US" sz="800" dirty="0"/>
          </a:p>
          <a:p>
            <a:pPr indent="0" marL="0">
              <a:buNone/>
            </a:pPr>
            <a:r>
              <a:rPr lang="en-US" sz="800" dirty="0">
                <a:solidFill>
                  <a:srgbClr val="3A5068"/>
                </a:solidFill>
                <a:latin typeface="Calibri" pitchFamily="34" charset="0"/>
                <a:ea typeface="Calibri" pitchFamily="34" charset="-122"/>
                <a:cs typeface="Calibri" pitchFamily="34" charset="-120"/>
              </a:rPr>
              <a:t>AUC-ROC 0.83</a:t>
            </a:r>
            <a:endParaRPr lang="en-US" sz="800" dirty="0"/>
          </a:p>
        </p:txBody>
      </p:sp>
      <p:sp>
        <p:nvSpPr>
          <p:cNvPr id="59" name="Shape 55"/>
          <p:cNvSpPr/>
          <p:nvPr/>
        </p:nvSpPr>
        <p:spPr>
          <a:xfrm>
            <a:off x="4617720" y="2258568"/>
            <a:ext cx="1993392" cy="713232"/>
          </a:xfrm>
          <a:prstGeom prst="rect">
            <a:avLst/>
          </a:prstGeom>
          <a:solidFill>
            <a:srgbClr val="FFFFFF"/>
          </a:solidFill>
          <a:ln w="9525">
            <a:solidFill>
              <a:srgbClr val="E2EDF2"/>
            </a:solidFill>
            <a:prstDash val="solid"/>
          </a:ln>
        </p:spPr>
      </p:sp>
      <p:pic>
        <p:nvPicPr>
          <p:cNvPr id="60" name="Image 2" descr="preencoded.png">    </p:cNvPr>
          <p:cNvPicPr>
            <a:picLocks noChangeAspect="1"/>
          </p:cNvPicPr>
          <p:nvPr/>
        </p:nvPicPr>
        <p:blipFill>
          <a:blip r:embed="rId3"/>
          <a:stretch>
            <a:fillRect/>
          </a:stretch>
        </p:blipFill>
        <p:spPr>
          <a:xfrm>
            <a:off x="4709160" y="2350008"/>
            <a:ext cx="274320" cy="274320"/>
          </a:xfrm>
          <a:prstGeom prst="rect">
            <a:avLst/>
          </a:prstGeom>
        </p:spPr>
      </p:pic>
      <p:sp>
        <p:nvSpPr>
          <p:cNvPr id="61" name="Text 56"/>
          <p:cNvSpPr/>
          <p:nvPr/>
        </p:nvSpPr>
        <p:spPr>
          <a:xfrm>
            <a:off x="5056632" y="2313432"/>
            <a:ext cx="1481328" cy="292608"/>
          </a:xfrm>
          <a:prstGeom prst="rect">
            <a:avLst/>
          </a:prstGeom>
          <a:noFill/>
          <a:ln/>
        </p:spPr>
        <p:txBody>
          <a:bodyPr wrap="square" lIns="0" tIns="0" rIns="0" bIns="0" rtlCol="0" anchor="ctr"/>
          <a:lstStyle/>
          <a:p>
            <a:pPr indent="0" marL="0">
              <a:buNone/>
            </a:pPr>
            <a:r>
              <a:rPr lang="en-US" sz="900" b="1" dirty="0">
                <a:solidFill>
                  <a:srgbClr val="0A1931"/>
                </a:solidFill>
                <a:latin typeface="Calibri" pitchFamily="34" charset="0"/>
                <a:ea typeface="Calibri" pitchFamily="34" charset="-122"/>
                <a:cs typeface="Calibri" pitchFamily="34" charset="-120"/>
              </a:rPr>
              <a:t>Supabase PostgreSQL 15</a:t>
            </a:r>
            <a:endParaRPr lang="en-US" sz="900" dirty="0"/>
          </a:p>
        </p:txBody>
      </p:sp>
      <p:sp>
        <p:nvSpPr>
          <p:cNvPr id="62" name="Text 57"/>
          <p:cNvSpPr/>
          <p:nvPr/>
        </p:nvSpPr>
        <p:spPr>
          <a:xfrm>
            <a:off x="5056632" y="2606040"/>
            <a:ext cx="1481328" cy="29260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Cloud database</a:t>
            </a:r>
            <a:endParaRPr lang="en-US" sz="800" dirty="0"/>
          </a:p>
          <a:p>
            <a:pPr indent="0" marL="0">
              <a:buNone/>
            </a:pPr>
            <a:r>
              <a:rPr lang="en-US" sz="800" dirty="0">
                <a:solidFill>
                  <a:srgbClr val="3A5068"/>
                </a:solidFill>
                <a:latin typeface="Calibri" pitchFamily="34" charset="0"/>
                <a:ea typeface="Calibri" pitchFamily="34" charset="-122"/>
                <a:cs typeface="Calibri" pitchFamily="34" charset="-120"/>
              </a:rPr>
              <a:t>+ Auth</a:t>
            </a:r>
            <a:endParaRPr lang="en-US" sz="800" dirty="0"/>
          </a:p>
        </p:txBody>
      </p:sp>
      <p:sp>
        <p:nvSpPr>
          <p:cNvPr id="63" name="Shape 58"/>
          <p:cNvSpPr/>
          <p:nvPr/>
        </p:nvSpPr>
        <p:spPr>
          <a:xfrm>
            <a:off x="6739128" y="2258568"/>
            <a:ext cx="1993392" cy="713232"/>
          </a:xfrm>
          <a:prstGeom prst="rect">
            <a:avLst/>
          </a:prstGeom>
          <a:solidFill>
            <a:srgbClr val="FFFFFF"/>
          </a:solidFill>
          <a:ln w="9525">
            <a:solidFill>
              <a:srgbClr val="E2EDF2"/>
            </a:solidFill>
            <a:prstDash val="solid"/>
          </a:ln>
        </p:spPr>
      </p:sp>
      <p:pic>
        <p:nvPicPr>
          <p:cNvPr id="64" name="Image 3" descr="preencoded.png">    </p:cNvPr>
          <p:cNvPicPr>
            <a:picLocks noChangeAspect="1"/>
          </p:cNvPicPr>
          <p:nvPr/>
        </p:nvPicPr>
        <p:blipFill>
          <a:blip r:embed="rId4"/>
          <a:stretch>
            <a:fillRect/>
          </a:stretch>
        </p:blipFill>
        <p:spPr>
          <a:xfrm>
            <a:off x="6830568" y="2350008"/>
            <a:ext cx="274320" cy="274320"/>
          </a:xfrm>
          <a:prstGeom prst="rect">
            <a:avLst/>
          </a:prstGeom>
        </p:spPr>
      </p:pic>
      <p:sp>
        <p:nvSpPr>
          <p:cNvPr id="65" name="Text 59"/>
          <p:cNvSpPr/>
          <p:nvPr/>
        </p:nvSpPr>
        <p:spPr>
          <a:xfrm>
            <a:off x="7178040" y="2313432"/>
            <a:ext cx="1481328" cy="292608"/>
          </a:xfrm>
          <a:prstGeom prst="rect">
            <a:avLst/>
          </a:prstGeom>
          <a:noFill/>
          <a:ln/>
        </p:spPr>
        <p:txBody>
          <a:bodyPr wrap="square" lIns="0" tIns="0" rIns="0" bIns="0" rtlCol="0" anchor="ctr"/>
          <a:lstStyle/>
          <a:p>
            <a:pPr indent="0" marL="0">
              <a:buNone/>
            </a:pPr>
            <a:r>
              <a:rPr lang="en-US" sz="900" b="1" dirty="0">
                <a:solidFill>
                  <a:srgbClr val="0A1931"/>
                </a:solidFill>
                <a:latin typeface="Calibri" pitchFamily="34" charset="0"/>
                <a:ea typeface="Calibri" pitchFamily="34" charset="-122"/>
                <a:cs typeface="Calibri" pitchFamily="34" charset="-120"/>
              </a:rPr>
              <a:t>Upstash Redis</a:t>
            </a:r>
            <a:endParaRPr lang="en-US" sz="900" dirty="0"/>
          </a:p>
        </p:txBody>
      </p:sp>
      <p:sp>
        <p:nvSpPr>
          <p:cNvPr id="66" name="Text 60"/>
          <p:cNvSpPr/>
          <p:nvPr/>
        </p:nvSpPr>
        <p:spPr>
          <a:xfrm>
            <a:off x="7178040" y="2606040"/>
            <a:ext cx="1481328" cy="29260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Cache: 43ms</a:t>
            </a:r>
            <a:endParaRPr lang="en-US" sz="800" dirty="0"/>
          </a:p>
          <a:p>
            <a:pPr indent="0" marL="0">
              <a:buNone/>
            </a:pPr>
            <a:r>
              <a:rPr lang="en-US" sz="800" dirty="0">
                <a:solidFill>
                  <a:srgbClr val="3A5068"/>
                </a:solidFill>
                <a:latin typeface="Calibri" pitchFamily="34" charset="0"/>
                <a:ea typeface="Calibri" pitchFamily="34" charset="-122"/>
                <a:cs typeface="Calibri" pitchFamily="34" charset="-120"/>
              </a:rPr>
              <a:t>vs 847ms cold</a:t>
            </a:r>
            <a:endParaRPr lang="en-US" sz="800" dirty="0"/>
          </a:p>
        </p:txBody>
      </p:sp>
      <p:sp>
        <p:nvSpPr>
          <p:cNvPr id="67" name="Shape 61"/>
          <p:cNvSpPr/>
          <p:nvPr/>
        </p:nvSpPr>
        <p:spPr>
          <a:xfrm>
            <a:off x="4617720" y="3099816"/>
            <a:ext cx="1993392" cy="713232"/>
          </a:xfrm>
          <a:prstGeom prst="rect">
            <a:avLst/>
          </a:prstGeom>
          <a:solidFill>
            <a:srgbClr val="FFFFFF"/>
          </a:solidFill>
          <a:ln w="9525">
            <a:solidFill>
              <a:srgbClr val="E2EDF2"/>
            </a:solidFill>
            <a:prstDash val="solid"/>
          </a:ln>
        </p:spPr>
      </p:sp>
      <p:pic>
        <p:nvPicPr>
          <p:cNvPr id="68" name="Image 4" descr="preencoded.png">    </p:cNvPr>
          <p:cNvPicPr>
            <a:picLocks noChangeAspect="1"/>
          </p:cNvPicPr>
          <p:nvPr/>
        </p:nvPicPr>
        <p:blipFill>
          <a:blip r:embed="rId5"/>
          <a:stretch>
            <a:fillRect/>
          </a:stretch>
        </p:blipFill>
        <p:spPr>
          <a:xfrm>
            <a:off x="4709160" y="3191256"/>
            <a:ext cx="274320" cy="274320"/>
          </a:xfrm>
          <a:prstGeom prst="rect">
            <a:avLst/>
          </a:prstGeom>
        </p:spPr>
      </p:pic>
      <p:sp>
        <p:nvSpPr>
          <p:cNvPr id="69" name="Text 62"/>
          <p:cNvSpPr/>
          <p:nvPr/>
        </p:nvSpPr>
        <p:spPr>
          <a:xfrm>
            <a:off x="5056632" y="3154680"/>
            <a:ext cx="1481328" cy="292608"/>
          </a:xfrm>
          <a:prstGeom prst="rect">
            <a:avLst/>
          </a:prstGeom>
          <a:noFill/>
          <a:ln/>
        </p:spPr>
        <p:txBody>
          <a:bodyPr wrap="square" lIns="0" tIns="0" rIns="0" bIns="0" rtlCol="0" anchor="ctr"/>
          <a:lstStyle/>
          <a:p>
            <a:pPr indent="0" marL="0">
              <a:buNone/>
            </a:pPr>
            <a:r>
              <a:rPr lang="en-US" sz="900" b="1" dirty="0">
                <a:solidFill>
                  <a:srgbClr val="0A1931"/>
                </a:solidFill>
                <a:latin typeface="Calibri" pitchFamily="34" charset="0"/>
                <a:ea typeface="Calibri" pitchFamily="34" charset="-122"/>
                <a:cs typeface="Calibri" pitchFamily="34" charset="-120"/>
              </a:rPr>
              <a:t>React Native</a:t>
            </a:r>
            <a:endParaRPr lang="en-US" sz="900" dirty="0"/>
          </a:p>
          <a:p>
            <a:pPr indent="0" marL="0">
              <a:buNone/>
            </a:pPr>
            <a:r>
              <a:rPr lang="en-US" sz="900" b="1" dirty="0">
                <a:solidFill>
                  <a:srgbClr val="0A1931"/>
                </a:solidFill>
                <a:latin typeface="Calibri" pitchFamily="34" charset="0"/>
                <a:ea typeface="Calibri" pitchFamily="34" charset="-122"/>
                <a:cs typeface="Calibri" pitchFamily="34" charset="-120"/>
              </a:rPr>
              <a:t>Expo SDK 53</a:t>
            </a:r>
            <a:endParaRPr lang="en-US" sz="900" dirty="0"/>
          </a:p>
        </p:txBody>
      </p:sp>
      <p:sp>
        <p:nvSpPr>
          <p:cNvPr id="70" name="Text 63"/>
          <p:cNvSpPr/>
          <p:nvPr/>
        </p:nvSpPr>
        <p:spPr>
          <a:xfrm>
            <a:off x="5056632" y="3447288"/>
            <a:ext cx="1481328" cy="29260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Android &amp; iOS</a:t>
            </a:r>
            <a:endParaRPr lang="en-US" sz="800" dirty="0"/>
          </a:p>
          <a:p>
            <a:pPr indent="0" marL="0">
              <a:buNone/>
            </a:pPr>
            <a:r>
              <a:rPr lang="en-US" sz="800" dirty="0">
                <a:solidFill>
                  <a:srgbClr val="3A5068"/>
                </a:solidFill>
                <a:latin typeface="Calibri" pitchFamily="34" charset="0"/>
                <a:ea typeface="Calibri" pitchFamily="34" charset="-122"/>
                <a:cs typeface="Calibri" pitchFamily="34" charset="-120"/>
              </a:rPr>
              <a:t>mobile app</a:t>
            </a:r>
            <a:endParaRPr lang="en-US" sz="800" dirty="0"/>
          </a:p>
        </p:txBody>
      </p:sp>
      <p:sp>
        <p:nvSpPr>
          <p:cNvPr id="71" name="Shape 64"/>
          <p:cNvSpPr/>
          <p:nvPr/>
        </p:nvSpPr>
        <p:spPr>
          <a:xfrm>
            <a:off x="6739128" y="3099816"/>
            <a:ext cx="1993392" cy="713232"/>
          </a:xfrm>
          <a:prstGeom prst="rect">
            <a:avLst/>
          </a:prstGeom>
          <a:solidFill>
            <a:srgbClr val="FFFFFF"/>
          </a:solidFill>
          <a:ln w="9525">
            <a:solidFill>
              <a:srgbClr val="E2EDF2"/>
            </a:solidFill>
            <a:prstDash val="solid"/>
          </a:ln>
        </p:spPr>
      </p:sp>
      <p:pic>
        <p:nvPicPr>
          <p:cNvPr id="72" name="Image 5" descr="preencoded.png">    </p:cNvPr>
          <p:cNvPicPr>
            <a:picLocks noChangeAspect="1"/>
          </p:cNvPicPr>
          <p:nvPr/>
        </p:nvPicPr>
        <p:blipFill>
          <a:blip r:embed="rId6"/>
          <a:stretch>
            <a:fillRect/>
          </a:stretch>
        </p:blipFill>
        <p:spPr>
          <a:xfrm>
            <a:off x="6830568" y="3191256"/>
            <a:ext cx="274320" cy="274320"/>
          </a:xfrm>
          <a:prstGeom prst="rect">
            <a:avLst/>
          </a:prstGeom>
        </p:spPr>
      </p:pic>
      <p:sp>
        <p:nvSpPr>
          <p:cNvPr id="73" name="Text 65"/>
          <p:cNvSpPr/>
          <p:nvPr/>
        </p:nvSpPr>
        <p:spPr>
          <a:xfrm>
            <a:off x="7178040" y="3154680"/>
            <a:ext cx="1481328" cy="292608"/>
          </a:xfrm>
          <a:prstGeom prst="rect">
            <a:avLst/>
          </a:prstGeom>
          <a:noFill/>
          <a:ln/>
        </p:spPr>
        <p:txBody>
          <a:bodyPr wrap="square" lIns="0" tIns="0" rIns="0" bIns="0" rtlCol="0" anchor="ctr"/>
          <a:lstStyle/>
          <a:p>
            <a:pPr indent="0" marL="0">
              <a:buNone/>
            </a:pPr>
            <a:r>
              <a:rPr lang="en-US" sz="900" b="1" dirty="0">
                <a:solidFill>
                  <a:srgbClr val="0A1931"/>
                </a:solidFill>
                <a:latin typeface="Calibri" pitchFamily="34" charset="0"/>
                <a:ea typeface="Calibri" pitchFamily="34" charset="-122"/>
                <a:cs typeface="Calibri" pitchFamily="34" charset="-120"/>
              </a:rPr>
              <a:t>Next.js 16.2</a:t>
            </a:r>
            <a:endParaRPr lang="en-US" sz="900" dirty="0"/>
          </a:p>
        </p:txBody>
      </p:sp>
      <p:sp>
        <p:nvSpPr>
          <p:cNvPr id="74" name="Text 66"/>
          <p:cNvSpPr/>
          <p:nvPr/>
        </p:nvSpPr>
        <p:spPr>
          <a:xfrm>
            <a:off x="7178040" y="3447288"/>
            <a:ext cx="1481328" cy="29260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Web dashboard</a:t>
            </a:r>
            <a:endParaRPr lang="en-US" sz="800" dirty="0"/>
          </a:p>
          <a:p>
            <a:pPr indent="0" marL="0">
              <a:buNone/>
            </a:pPr>
            <a:r>
              <a:rPr lang="en-US" sz="800" dirty="0">
                <a:solidFill>
                  <a:srgbClr val="3A5068"/>
                </a:solidFill>
                <a:latin typeface="Calibri" pitchFamily="34" charset="0"/>
                <a:ea typeface="Calibri" pitchFamily="34" charset="-122"/>
                <a:cs typeface="Calibri" pitchFamily="34" charset="-120"/>
              </a:rPr>
              <a:t>Admin panel</a:t>
            </a:r>
            <a:endParaRPr lang="en-US" sz="800" dirty="0"/>
          </a:p>
        </p:txBody>
      </p:sp>
      <p:sp>
        <p:nvSpPr>
          <p:cNvPr id="75" name="Shape 67"/>
          <p:cNvSpPr/>
          <p:nvPr/>
        </p:nvSpPr>
        <p:spPr>
          <a:xfrm>
            <a:off x="4617720" y="3941064"/>
            <a:ext cx="1993392" cy="713232"/>
          </a:xfrm>
          <a:prstGeom prst="rect">
            <a:avLst/>
          </a:prstGeom>
          <a:solidFill>
            <a:srgbClr val="FFFFFF"/>
          </a:solidFill>
          <a:ln w="9525">
            <a:solidFill>
              <a:srgbClr val="E2EDF2"/>
            </a:solidFill>
            <a:prstDash val="solid"/>
          </a:ln>
        </p:spPr>
      </p:sp>
      <p:pic>
        <p:nvPicPr>
          <p:cNvPr id="76" name="Image 6" descr="preencoded.png">    </p:cNvPr>
          <p:cNvPicPr>
            <a:picLocks noChangeAspect="1"/>
          </p:cNvPicPr>
          <p:nvPr/>
        </p:nvPicPr>
        <p:blipFill>
          <a:blip r:embed="rId7"/>
          <a:stretch>
            <a:fillRect/>
          </a:stretch>
        </p:blipFill>
        <p:spPr>
          <a:xfrm>
            <a:off x="4709160" y="4032504"/>
            <a:ext cx="274320" cy="274320"/>
          </a:xfrm>
          <a:prstGeom prst="rect">
            <a:avLst/>
          </a:prstGeom>
        </p:spPr>
      </p:pic>
      <p:sp>
        <p:nvSpPr>
          <p:cNvPr id="77" name="Text 68"/>
          <p:cNvSpPr/>
          <p:nvPr/>
        </p:nvSpPr>
        <p:spPr>
          <a:xfrm>
            <a:off x="5056632" y="3995928"/>
            <a:ext cx="1481328" cy="292608"/>
          </a:xfrm>
          <a:prstGeom prst="rect">
            <a:avLst/>
          </a:prstGeom>
          <a:noFill/>
          <a:ln/>
        </p:spPr>
        <p:txBody>
          <a:bodyPr wrap="square" lIns="0" tIns="0" rIns="0" bIns="0" rtlCol="0" anchor="ctr"/>
          <a:lstStyle/>
          <a:p>
            <a:pPr indent="0" marL="0">
              <a:buNone/>
            </a:pPr>
            <a:r>
              <a:rPr lang="en-US" sz="900" b="1" dirty="0">
                <a:solidFill>
                  <a:srgbClr val="0A1931"/>
                </a:solidFill>
                <a:latin typeface="Calibri" pitchFamily="34" charset="0"/>
                <a:ea typeface="Calibri" pitchFamily="34" charset="-122"/>
                <a:cs typeface="Calibri" pitchFamily="34" charset="-120"/>
              </a:rPr>
              <a:t>Groq llama-3.3-70b</a:t>
            </a:r>
            <a:endParaRPr lang="en-US" sz="900" dirty="0"/>
          </a:p>
        </p:txBody>
      </p:sp>
      <p:sp>
        <p:nvSpPr>
          <p:cNvPr id="78" name="Text 69"/>
          <p:cNvSpPr/>
          <p:nvPr/>
        </p:nvSpPr>
        <p:spPr>
          <a:xfrm>
            <a:off x="5056632" y="4288536"/>
            <a:ext cx="1481328" cy="29260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LLM advisory</a:t>
            </a:r>
            <a:endParaRPr lang="en-US" sz="800" dirty="0"/>
          </a:p>
          <a:p>
            <a:pPr indent="0" marL="0">
              <a:buNone/>
            </a:pPr>
            <a:r>
              <a:rPr lang="en-US" sz="800" dirty="0">
                <a:solidFill>
                  <a:srgbClr val="3A5068"/>
                </a:solidFill>
                <a:latin typeface="Calibri" pitchFamily="34" charset="0"/>
                <a:ea typeface="Calibri" pitchFamily="34" charset="-122"/>
                <a:cs typeface="Calibri" pitchFamily="34" charset="-120"/>
              </a:rPr>
              <a:t>~1.8s avg</a:t>
            </a:r>
            <a:endParaRPr lang="en-US" sz="800" dirty="0"/>
          </a:p>
        </p:txBody>
      </p:sp>
      <p:sp>
        <p:nvSpPr>
          <p:cNvPr id="79" name="Shape 70"/>
          <p:cNvSpPr/>
          <p:nvPr/>
        </p:nvSpPr>
        <p:spPr>
          <a:xfrm>
            <a:off x="6739128" y="3941064"/>
            <a:ext cx="1993392" cy="713232"/>
          </a:xfrm>
          <a:prstGeom prst="rect">
            <a:avLst/>
          </a:prstGeom>
          <a:solidFill>
            <a:srgbClr val="FFFFFF"/>
          </a:solidFill>
          <a:ln w="9525">
            <a:solidFill>
              <a:srgbClr val="E2EDF2"/>
            </a:solidFill>
            <a:prstDash val="solid"/>
          </a:ln>
        </p:spPr>
      </p:sp>
      <p:pic>
        <p:nvPicPr>
          <p:cNvPr id="80" name="Image 7" descr="preencoded.png">    </p:cNvPr>
          <p:cNvPicPr>
            <a:picLocks noChangeAspect="1"/>
          </p:cNvPicPr>
          <p:nvPr/>
        </p:nvPicPr>
        <p:blipFill>
          <a:blip r:embed="rId8"/>
          <a:stretch>
            <a:fillRect/>
          </a:stretch>
        </p:blipFill>
        <p:spPr>
          <a:xfrm>
            <a:off x="6830568" y="4032504"/>
            <a:ext cx="274320" cy="274320"/>
          </a:xfrm>
          <a:prstGeom prst="rect">
            <a:avLst/>
          </a:prstGeom>
        </p:spPr>
      </p:pic>
      <p:sp>
        <p:nvSpPr>
          <p:cNvPr id="81" name="Text 71"/>
          <p:cNvSpPr/>
          <p:nvPr/>
        </p:nvSpPr>
        <p:spPr>
          <a:xfrm>
            <a:off x="7178040" y="3995928"/>
            <a:ext cx="1481328" cy="292608"/>
          </a:xfrm>
          <a:prstGeom prst="rect">
            <a:avLst/>
          </a:prstGeom>
          <a:noFill/>
          <a:ln/>
        </p:spPr>
        <p:txBody>
          <a:bodyPr wrap="square" lIns="0" tIns="0" rIns="0" bIns="0" rtlCol="0" anchor="ctr"/>
          <a:lstStyle/>
          <a:p>
            <a:pPr indent="0" marL="0">
              <a:buNone/>
            </a:pPr>
            <a:r>
              <a:rPr lang="en-US" sz="900" b="1" dirty="0">
                <a:solidFill>
                  <a:srgbClr val="0A1931"/>
                </a:solidFill>
                <a:latin typeface="Calibri" pitchFamily="34" charset="0"/>
                <a:ea typeface="Calibri" pitchFamily="34" charset="-122"/>
                <a:cs typeface="Calibri" pitchFamily="34" charset="-120"/>
              </a:rPr>
              <a:t>XGBoost + SHAP</a:t>
            </a:r>
            <a:endParaRPr lang="en-US" sz="900" dirty="0"/>
          </a:p>
        </p:txBody>
      </p:sp>
      <p:sp>
        <p:nvSpPr>
          <p:cNvPr id="82" name="Text 72"/>
          <p:cNvSpPr/>
          <p:nvPr/>
        </p:nvSpPr>
        <p:spPr>
          <a:xfrm>
            <a:off x="7178040" y="4288536"/>
            <a:ext cx="1481328" cy="29260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Profit forecast</a:t>
            </a:r>
            <a:endParaRPr lang="en-US" sz="800" dirty="0"/>
          </a:p>
          <a:p>
            <a:pPr indent="0" marL="0">
              <a:buNone/>
            </a:pPr>
            <a:r>
              <a:rPr lang="en-US" sz="800" dirty="0">
                <a:solidFill>
                  <a:srgbClr val="3A5068"/>
                </a:solidFill>
                <a:latin typeface="Calibri" pitchFamily="34" charset="0"/>
                <a:ea typeface="Calibri" pitchFamily="34" charset="-122"/>
                <a:cs typeface="Calibri" pitchFamily="34" charset="-120"/>
              </a:rPr>
              <a:t>+ explainability</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Study Area, Population &amp; Sample</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Where the data comes from and why</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320040" y="1024128"/>
            <a:ext cx="4023360" cy="347472"/>
          </a:xfrm>
          <a:prstGeom prst="rect">
            <a:avLst/>
          </a:prstGeom>
          <a:solidFill>
            <a:srgbClr val="0A1931"/>
          </a:solidFill>
          <a:ln w="12700">
            <a:solidFill>
              <a:srgbClr val="0A1931"/>
            </a:solidFill>
            <a:prstDash val="solid"/>
          </a:ln>
        </p:spPr>
      </p:sp>
      <p:sp>
        <p:nvSpPr>
          <p:cNvPr id="10" name="Text 8"/>
          <p:cNvSpPr/>
          <p:nvPr/>
        </p:nvSpPr>
        <p:spPr>
          <a:xfrm>
            <a:off x="320040" y="1024128"/>
            <a:ext cx="402336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Target Study Area — Cameroon (6 Cities)</a:t>
            </a:r>
            <a:endParaRPr lang="en-US" sz="1050" dirty="0"/>
          </a:p>
        </p:txBody>
      </p:sp>
      <p:pic>
        <p:nvPicPr>
          <p:cNvPr id="11" name="Image 0" descr="preencoded.png">    </p:cNvPr>
          <p:cNvPicPr>
            <a:picLocks noChangeAspect="1"/>
          </p:cNvPicPr>
          <p:nvPr/>
        </p:nvPicPr>
        <p:blipFill>
          <a:blip r:embed="rId1"/>
          <a:stretch>
            <a:fillRect/>
          </a:stretch>
        </p:blipFill>
        <p:spPr>
          <a:xfrm>
            <a:off x="365760" y="1572768"/>
            <a:ext cx="201168" cy="201168"/>
          </a:xfrm>
          <a:prstGeom prst="rect">
            <a:avLst/>
          </a:prstGeom>
        </p:spPr>
      </p:pic>
      <p:sp>
        <p:nvSpPr>
          <p:cNvPr id="12" name="Text 9"/>
          <p:cNvSpPr/>
          <p:nvPr/>
        </p:nvSpPr>
        <p:spPr>
          <a:xfrm>
            <a:off x="612648" y="1517904"/>
            <a:ext cx="1645920" cy="219456"/>
          </a:xfrm>
          <a:prstGeom prst="rect">
            <a:avLst/>
          </a:prstGeom>
          <a:noFill/>
          <a:ln/>
        </p:spPr>
        <p:txBody>
          <a:bodyPr wrap="square" lIns="0" tIns="0" rIns="0" bIns="0" rtlCol="0" anchor="ctr"/>
          <a:lstStyle/>
          <a:p>
            <a:pPr indent="0" marL="0">
              <a:buNone/>
            </a:pPr>
            <a:r>
              <a:rPr lang="en-US" sz="1000" b="1" dirty="0">
                <a:solidFill>
                  <a:srgbClr val="0A1931"/>
                </a:solidFill>
                <a:latin typeface="Calibri" pitchFamily="34" charset="0"/>
                <a:ea typeface="Calibri" pitchFamily="34" charset="-122"/>
                <a:cs typeface="Calibri" pitchFamily="34" charset="-120"/>
              </a:rPr>
              <a:t>Douala</a:t>
            </a:r>
            <a:endParaRPr lang="en-US" sz="1000" dirty="0"/>
          </a:p>
        </p:txBody>
      </p:sp>
      <p:sp>
        <p:nvSpPr>
          <p:cNvPr id="13" name="Text 10"/>
          <p:cNvSpPr/>
          <p:nvPr/>
        </p:nvSpPr>
        <p:spPr>
          <a:xfrm>
            <a:off x="612648" y="1719072"/>
            <a:ext cx="1645920" cy="20116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Largest city, commercial hub</a:t>
            </a:r>
            <a:endParaRPr lang="en-US" sz="800" dirty="0"/>
          </a:p>
        </p:txBody>
      </p:sp>
      <p:pic>
        <p:nvPicPr>
          <p:cNvPr id="14" name="Image 1" descr="preencoded.png">    </p:cNvPr>
          <p:cNvPicPr>
            <a:picLocks noChangeAspect="1"/>
          </p:cNvPicPr>
          <p:nvPr/>
        </p:nvPicPr>
        <p:blipFill>
          <a:blip r:embed="rId2"/>
          <a:stretch>
            <a:fillRect/>
          </a:stretch>
        </p:blipFill>
        <p:spPr>
          <a:xfrm>
            <a:off x="2423160" y="1572768"/>
            <a:ext cx="201168" cy="201168"/>
          </a:xfrm>
          <a:prstGeom prst="rect">
            <a:avLst/>
          </a:prstGeom>
        </p:spPr>
      </p:pic>
      <p:sp>
        <p:nvSpPr>
          <p:cNvPr id="15" name="Text 11"/>
          <p:cNvSpPr/>
          <p:nvPr/>
        </p:nvSpPr>
        <p:spPr>
          <a:xfrm>
            <a:off x="2670048" y="1517904"/>
            <a:ext cx="1645920" cy="219456"/>
          </a:xfrm>
          <a:prstGeom prst="rect">
            <a:avLst/>
          </a:prstGeom>
          <a:noFill/>
          <a:ln/>
        </p:spPr>
        <p:txBody>
          <a:bodyPr wrap="square" lIns="0" tIns="0" rIns="0" bIns="0" rtlCol="0" anchor="ctr"/>
          <a:lstStyle/>
          <a:p>
            <a:pPr indent="0" marL="0">
              <a:buNone/>
            </a:pPr>
            <a:r>
              <a:rPr lang="en-US" sz="1000" b="1" dirty="0">
                <a:solidFill>
                  <a:srgbClr val="0A1931"/>
                </a:solidFill>
                <a:latin typeface="Calibri" pitchFamily="34" charset="0"/>
                <a:ea typeface="Calibri" pitchFamily="34" charset="-122"/>
                <a:cs typeface="Calibri" pitchFamily="34" charset="-120"/>
              </a:rPr>
              <a:t>Yaounde</a:t>
            </a:r>
            <a:endParaRPr lang="en-US" sz="1000" dirty="0"/>
          </a:p>
        </p:txBody>
      </p:sp>
      <p:sp>
        <p:nvSpPr>
          <p:cNvPr id="16" name="Text 12"/>
          <p:cNvSpPr/>
          <p:nvPr/>
        </p:nvSpPr>
        <p:spPr>
          <a:xfrm>
            <a:off x="2670048" y="1719072"/>
            <a:ext cx="1645920" cy="20116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Capital, administrative centre</a:t>
            </a:r>
            <a:endParaRPr lang="en-US" sz="800" dirty="0"/>
          </a:p>
        </p:txBody>
      </p:sp>
      <p:pic>
        <p:nvPicPr>
          <p:cNvPr id="17" name="Image 2" descr="preencoded.png">    </p:cNvPr>
          <p:cNvPicPr>
            <a:picLocks noChangeAspect="1"/>
          </p:cNvPicPr>
          <p:nvPr/>
        </p:nvPicPr>
        <p:blipFill>
          <a:blip r:embed="rId3"/>
          <a:stretch>
            <a:fillRect/>
          </a:stretch>
        </p:blipFill>
        <p:spPr>
          <a:xfrm>
            <a:off x="365760" y="2103120"/>
            <a:ext cx="201168" cy="201168"/>
          </a:xfrm>
          <a:prstGeom prst="rect">
            <a:avLst/>
          </a:prstGeom>
        </p:spPr>
      </p:pic>
      <p:sp>
        <p:nvSpPr>
          <p:cNvPr id="18" name="Text 13"/>
          <p:cNvSpPr/>
          <p:nvPr/>
        </p:nvSpPr>
        <p:spPr>
          <a:xfrm>
            <a:off x="612648" y="2048256"/>
            <a:ext cx="1645920" cy="219456"/>
          </a:xfrm>
          <a:prstGeom prst="rect">
            <a:avLst/>
          </a:prstGeom>
          <a:noFill/>
          <a:ln/>
        </p:spPr>
        <p:txBody>
          <a:bodyPr wrap="square" lIns="0" tIns="0" rIns="0" bIns="0" rtlCol="0" anchor="ctr"/>
          <a:lstStyle/>
          <a:p>
            <a:pPr indent="0" marL="0">
              <a:buNone/>
            </a:pPr>
            <a:r>
              <a:rPr lang="en-US" sz="1000" b="1" dirty="0">
                <a:solidFill>
                  <a:srgbClr val="0A1931"/>
                </a:solidFill>
                <a:latin typeface="Calibri" pitchFamily="34" charset="0"/>
                <a:ea typeface="Calibri" pitchFamily="34" charset="-122"/>
                <a:cs typeface="Calibri" pitchFamily="34" charset="-120"/>
              </a:rPr>
              <a:t>Bamenda</a:t>
            </a:r>
            <a:endParaRPr lang="en-US" sz="1000" dirty="0"/>
          </a:p>
        </p:txBody>
      </p:sp>
      <p:sp>
        <p:nvSpPr>
          <p:cNvPr id="19" name="Text 14"/>
          <p:cNvSpPr/>
          <p:nvPr/>
        </p:nvSpPr>
        <p:spPr>
          <a:xfrm>
            <a:off x="612648" y="2249424"/>
            <a:ext cx="1645920" cy="20116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North-West economic anchor</a:t>
            </a:r>
            <a:endParaRPr lang="en-US" sz="800" dirty="0"/>
          </a:p>
        </p:txBody>
      </p:sp>
      <p:pic>
        <p:nvPicPr>
          <p:cNvPr id="20" name="Image 3" descr="preencoded.png">    </p:cNvPr>
          <p:cNvPicPr>
            <a:picLocks noChangeAspect="1"/>
          </p:cNvPicPr>
          <p:nvPr/>
        </p:nvPicPr>
        <p:blipFill>
          <a:blip r:embed="rId4"/>
          <a:stretch>
            <a:fillRect/>
          </a:stretch>
        </p:blipFill>
        <p:spPr>
          <a:xfrm>
            <a:off x="2423160" y="2103120"/>
            <a:ext cx="201168" cy="201168"/>
          </a:xfrm>
          <a:prstGeom prst="rect">
            <a:avLst/>
          </a:prstGeom>
        </p:spPr>
      </p:pic>
      <p:sp>
        <p:nvSpPr>
          <p:cNvPr id="21" name="Text 15"/>
          <p:cNvSpPr/>
          <p:nvPr/>
        </p:nvSpPr>
        <p:spPr>
          <a:xfrm>
            <a:off x="2670048" y="2048256"/>
            <a:ext cx="1645920" cy="219456"/>
          </a:xfrm>
          <a:prstGeom prst="rect">
            <a:avLst/>
          </a:prstGeom>
          <a:noFill/>
          <a:ln/>
        </p:spPr>
        <p:txBody>
          <a:bodyPr wrap="square" lIns="0" tIns="0" rIns="0" bIns="0" rtlCol="0" anchor="ctr"/>
          <a:lstStyle/>
          <a:p>
            <a:pPr indent="0" marL="0">
              <a:buNone/>
            </a:pPr>
            <a:r>
              <a:rPr lang="en-US" sz="1000" b="1" dirty="0">
                <a:solidFill>
                  <a:srgbClr val="0A1931"/>
                </a:solidFill>
                <a:latin typeface="Calibri" pitchFamily="34" charset="0"/>
                <a:ea typeface="Calibri" pitchFamily="34" charset="-122"/>
                <a:cs typeface="Calibri" pitchFamily="34" charset="-120"/>
              </a:rPr>
              <a:t>Bafoussam</a:t>
            </a:r>
            <a:endParaRPr lang="en-US" sz="1000" dirty="0"/>
          </a:p>
        </p:txBody>
      </p:sp>
      <p:sp>
        <p:nvSpPr>
          <p:cNvPr id="22" name="Text 16"/>
          <p:cNvSpPr/>
          <p:nvPr/>
        </p:nvSpPr>
        <p:spPr>
          <a:xfrm>
            <a:off x="2670048" y="2249424"/>
            <a:ext cx="1645920" cy="20116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West Region commercial hub</a:t>
            </a:r>
            <a:endParaRPr lang="en-US" sz="800" dirty="0"/>
          </a:p>
        </p:txBody>
      </p:sp>
      <p:pic>
        <p:nvPicPr>
          <p:cNvPr id="23" name="Image 4" descr="preencoded.png">    </p:cNvPr>
          <p:cNvPicPr>
            <a:picLocks noChangeAspect="1"/>
          </p:cNvPicPr>
          <p:nvPr/>
        </p:nvPicPr>
        <p:blipFill>
          <a:blip r:embed="rId5"/>
          <a:stretch>
            <a:fillRect/>
          </a:stretch>
        </p:blipFill>
        <p:spPr>
          <a:xfrm>
            <a:off x="365760" y="2633472"/>
            <a:ext cx="201168" cy="201168"/>
          </a:xfrm>
          <a:prstGeom prst="rect">
            <a:avLst/>
          </a:prstGeom>
        </p:spPr>
      </p:pic>
      <p:sp>
        <p:nvSpPr>
          <p:cNvPr id="24" name="Text 17"/>
          <p:cNvSpPr/>
          <p:nvPr/>
        </p:nvSpPr>
        <p:spPr>
          <a:xfrm>
            <a:off x="612648" y="2578608"/>
            <a:ext cx="1645920" cy="219456"/>
          </a:xfrm>
          <a:prstGeom prst="rect">
            <a:avLst/>
          </a:prstGeom>
          <a:noFill/>
          <a:ln/>
        </p:spPr>
        <p:txBody>
          <a:bodyPr wrap="square" lIns="0" tIns="0" rIns="0" bIns="0" rtlCol="0" anchor="ctr"/>
          <a:lstStyle/>
          <a:p>
            <a:pPr indent="0" marL="0">
              <a:buNone/>
            </a:pPr>
            <a:r>
              <a:rPr lang="en-US" sz="1000" b="1" dirty="0">
                <a:solidFill>
                  <a:srgbClr val="0A1931"/>
                </a:solidFill>
                <a:latin typeface="Calibri" pitchFamily="34" charset="0"/>
                <a:ea typeface="Calibri" pitchFamily="34" charset="-122"/>
                <a:cs typeface="Calibri" pitchFamily="34" charset="-120"/>
              </a:rPr>
              <a:t>Limbe</a:t>
            </a:r>
            <a:endParaRPr lang="en-US" sz="1000" dirty="0"/>
          </a:p>
        </p:txBody>
      </p:sp>
      <p:sp>
        <p:nvSpPr>
          <p:cNvPr id="25" name="Text 18"/>
          <p:cNvSpPr/>
          <p:nvPr/>
        </p:nvSpPr>
        <p:spPr>
          <a:xfrm>
            <a:off x="612648" y="2779776"/>
            <a:ext cx="1645920" cy="20116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Coastal industrial city</a:t>
            </a:r>
            <a:endParaRPr lang="en-US" sz="800" dirty="0"/>
          </a:p>
        </p:txBody>
      </p:sp>
      <p:pic>
        <p:nvPicPr>
          <p:cNvPr id="26" name="Image 5" descr="preencoded.png">    </p:cNvPr>
          <p:cNvPicPr>
            <a:picLocks noChangeAspect="1"/>
          </p:cNvPicPr>
          <p:nvPr/>
        </p:nvPicPr>
        <p:blipFill>
          <a:blip r:embed="rId6"/>
          <a:stretch>
            <a:fillRect/>
          </a:stretch>
        </p:blipFill>
        <p:spPr>
          <a:xfrm>
            <a:off x="2423160" y="2633472"/>
            <a:ext cx="201168" cy="201168"/>
          </a:xfrm>
          <a:prstGeom prst="rect">
            <a:avLst/>
          </a:prstGeom>
        </p:spPr>
      </p:pic>
      <p:sp>
        <p:nvSpPr>
          <p:cNvPr id="27" name="Text 19"/>
          <p:cNvSpPr/>
          <p:nvPr/>
        </p:nvSpPr>
        <p:spPr>
          <a:xfrm>
            <a:off x="2670048" y="2578608"/>
            <a:ext cx="1645920" cy="219456"/>
          </a:xfrm>
          <a:prstGeom prst="rect">
            <a:avLst/>
          </a:prstGeom>
          <a:noFill/>
          <a:ln/>
        </p:spPr>
        <p:txBody>
          <a:bodyPr wrap="square" lIns="0" tIns="0" rIns="0" bIns="0" rtlCol="0" anchor="ctr"/>
          <a:lstStyle/>
          <a:p>
            <a:pPr indent="0" marL="0">
              <a:buNone/>
            </a:pPr>
            <a:r>
              <a:rPr lang="en-US" sz="1000" b="1" dirty="0">
                <a:solidFill>
                  <a:srgbClr val="0A1931"/>
                </a:solidFill>
                <a:latin typeface="Calibri" pitchFamily="34" charset="0"/>
                <a:ea typeface="Calibri" pitchFamily="34" charset="-122"/>
                <a:cs typeface="Calibri" pitchFamily="34" charset="-120"/>
              </a:rPr>
              <a:t>Buea</a:t>
            </a:r>
            <a:endParaRPr lang="en-US" sz="1000" dirty="0"/>
          </a:p>
        </p:txBody>
      </p:sp>
      <p:sp>
        <p:nvSpPr>
          <p:cNvPr id="28" name="Text 20"/>
          <p:cNvSpPr/>
          <p:nvPr/>
        </p:nvSpPr>
        <p:spPr>
          <a:xfrm>
            <a:off x="2670048" y="2779776"/>
            <a:ext cx="1645920" cy="201168"/>
          </a:xfrm>
          <a:prstGeom prst="rect">
            <a:avLst/>
          </a:prstGeom>
          <a:noFill/>
          <a:ln/>
        </p:spPr>
        <p:txBody>
          <a:bodyPr wrap="square" lIns="0" tIns="0" rIns="0" bIns="0" rtlCol="0" anchor="ctr"/>
          <a:lstStyle/>
          <a:p>
            <a:pPr indent="0" marL="0">
              <a:buNone/>
            </a:pPr>
            <a:r>
              <a:rPr lang="en-US" sz="800" dirty="0">
                <a:solidFill>
                  <a:srgbClr val="3A5068"/>
                </a:solidFill>
                <a:latin typeface="Calibri" pitchFamily="34" charset="0"/>
                <a:ea typeface="Calibri" pitchFamily="34" charset="-122"/>
                <a:cs typeface="Calibri" pitchFamily="34" charset="-120"/>
              </a:rPr>
              <a:t>University town, growing SME base</a:t>
            </a:r>
            <a:endParaRPr lang="en-US" sz="800" dirty="0"/>
          </a:p>
        </p:txBody>
      </p:sp>
      <p:sp>
        <p:nvSpPr>
          <p:cNvPr id="29" name="Shape 21"/>
          <p:cNvSpPr/>
          <p:nvPr/>
        </p:nvSpPr>
        <p:spPr>
          <a:xfrm>
            <a:off x="4572000" y="1024128"/>
            <a:ext cx="4251960" cy="347472"/>
          </a:xfrm>
          <a:prstGeom prst="rect">
            <a:avLst/>
          </a:prstGeom>
          <a:solidFill>
            <a:srgbClr val="0A1931"/>
          </a:solidFill>
          <a:ln w="12700">
            <a:solidFill>
              <a:srgbClr val="0A1931"/>
            </a:solidFill>
            <a:prstDash val="solid"/>
          </a:ln>
        </p:spPr>
      </p:sp>
      <p:sp>
        <p:nvSpPr>
          <p:cNvPr id="30" name="Text 22"/>
          <p:cNvSpPr/>
          <p:nvPr/>
        </p:nvSpPr>
        <p:spPr>
          <a:xfrm>
            <a:off x="4572000" y="1024128"/>
            <a:ext cx="425196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Training Data Sources &amp; Sample Weights</a:t>
            </a:r>
            <a:endParaRPr lang="en-US" sz="1050" dirty="0"/>
          </a:p>
        </p:txBody>
      </p:sp>
      <p:sp>
        <p:nvSpPr>
          <p:cNvPr id="31" name="Shape 23"/>
          <p:cNvSpPr/>
          <p:nvPr/>
        </p:nvSpPr>
        <p:spPr>
          <a:xfrm>
            <a:off x="4572000" y="1481328"/>
            <a:ext cx="4251960" cy="960120"/>
          </a:xfrm>
          <a:prstGeom prst="rect">
            <a:avLst/>
          </a:prstGeom>
          <a:solidFill>
            <a:srgbClr val="FFFFFF"/>
          </a:solidFill>
          <a:ln w="9525">
            <a:solidFill>
              <a:srgbClr val="E2EDF2"/>
            </a:solidFill>
            <a:prstDash val="solid"/>
          </a:ln>
        </p:spPr>
      </p:sp>
      <p:sp>
        <p:nvSpPr>
          <p:cNvPr id="32" name="Shape 24"/>
          <p:cNvSpPr/>
          <p:nvPr/>
        </p:nvSpPr>
        <p:spPr>
          <a:xfrm>
            <a:off x="4572000" y="1481328"/>
            <a:ext cx="822960" cy="960120"/>
          </a:xfrm>
          <a:prstGeom prst="rect">
            <a:avLst/>
          </a:prstGeom>
          <a:solidFill>
            <a:srgbClr val="0D7C8F"/>
          </a:solidFill>
          <a:ln w="12700">
            <a:solidFill>
              <a:srgbClr val="0D7C8F"/>
            </a:solidFill>
            <a:prstDash val="solid"/>
          </a:ln>
        </p:spPr>
      </p:sp>
      <p:sp>
        <p:nvSpPr>
          <p:cNvPr id="33" name="Text 25"/>
          <p:cNvSpPr/>
          <p:nvPr/>
        </p:nvSpPr>
        <p:spPr>
          <a:xfrm>
            <a:off x="4572000" y="1536192"/>
            <a:ext cx="8229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15,000</a:t>
            </a:r>
            <a:endParaRPr lang="en-US" sz="2000" dirty="0"/>
          </a:p>
        </p:txBody>
      </p:sp>
      <p:sp>
        <p:nvSpPr>
          <p:cNvPr id="34" name="Text 26"/>
          <p:cNvSpPr/>
          <p:nvPr/>
        </p:nvSpPr>
        <p:spPr>
          <a:xfrm>
            <a:off x="4572000" y="1993392"/>
            <a:ext cx="822960" cy="237744"/>
          </a:xfrm>
          <a:prstGeom prst="rect">
            <a:avLst/>
          </a:prstGeom>
          <a:noFill/>
          <a:ln/>
        </p:spPr>
        <p:txBody>
          <a:bodyPr wrap="square" lIns="0" tIns="0" rIns="0" bIns="0" rtlCol="0" anchor="ctr"/>
          <a:lstStyle/>
          <a:p>
            <a:pPr algn="ctr" indent="0" marL="0">
              <a:buNone/>
            </a:pPr>
            <a:r>
              <a:rPr lang="en-US" sz="800" dirty="0">
                <a:solidFill>
                  <a:srgbClr val="C8E8F0"/>
                </a:solidFill>
                <a:latin typeface="Calibri" pitchFamily="34" charset="0"/>
                <a:ea typeface="Calibri" pitchFamily="34" charset="-122"/>
                <a:cs typeface="Calibri" pitchFamily="34" charset="-120"/>
              </a:rPr>
              <a:t>records</a:t>
            </a:r>
            <a:endParaRPr lang="en-US" sz="800" dirty="0"/>
          </a:p>
        </p:txBody>
      </p:sp>
      <p:sp>
        <p:nvSpPr>
          <p:cNvPr id="35" name="Text 27"/>
          <p:cNvSpPr/>
          <p:nvPr/>
        </p:nvSpPr>
        <p:spPr>
          <a:xfrm>
            <a:off x="5468112" y="1536192"/>
            <a:ext cx="3273552" cy="274320"/>
          </a:xfrm>
          <a:prstGeom prst="rect">
            <a:avLst/>
          </a:prstGeom>
          <a:noFill/>
          <a:ln/>
        </p:spPr>
        <p:txBody>
          <a:bodyPr wrap="square" lIns="0" tIns="0" rIns="0" bIns="0" rtlCol="0" anchor="ctr"/>
          <a:lstStyle/>
          <a:p>
            <a:pPr indent="0" marL="0">
              <a:buNone/>
            </a:pPr>
            <a:r>
              <a:rPr lang="en-US" sz="950" b="1" dirty="0">
                <a:solidFill>
                  <a:srgbClr val="0A1931"/>
                </a:solidFill>
                <a:latin typeface="Calibri" pitchFamily="34" charset="0"/>
                <a:ea typeface="Calibri" pitchFamily="34" charset="-122"/>
                <a:cs typeface="Calibri" pitchFamily="34" charset="-120"/>
              </a:rPr>
              <a:t>MINPMEESA-calibrated records</a:t>
            </a:r>
            <a:endParaRPr lang="en-US" sz="950" dirty="0"/>
          </a:p>
        </p:txBody>
      </p:sp>
      <p:sp>
        <p:nvSpPr>
          <p:cNvPr id="36" name="Text 28"/>
          <p:cNvSpPr/>
          <p:nvPr/>
        </p:nvSpPr>
        <p:spPr>
          <a:xfrm>
            <a:off x="5468112" y="1810512"/>
            <a:ext cx="1097280" cy="219456"/>
          </a:xfrm>
          <a:prstGeom prst="rect">
            <a:avLst/>
          </a:prstGeom>
          <a:noFill/>
          <a:ln/>
        </p:spPr>
        <p:txBody>
          <a:bodyPr wrap="square" lIns="0" tIns="0" rIns="0" bIns="0" rtlCol="0" anchor="ctr"/>
          <a:lstStyle/>
          <a:p>
            <a:pPr indent="0" marL="0">
              <a:buNone/>
            </a:pPr>
            <a:r>
              <a:rPr lang="en-US" sz="850" b="1" dirty="0">
                <a:solidFill>
                  <a:srgbClr val="0D7C8F"/>
                </a:solidFill>
                <a:latin typeface="Calibri" pitchFamily="34" charset="0"/>
                <a:ea typeface="Calibri" pitchFamily="34" charset="-122"/>
                <a:cs typeface="Calibri" pitchFamily="34" charset="-120"/>
              </a:rPr>
              <a:t>Weight = 1.0</a:t>
            </a:r>
            <a:endParaRPr lang="en-US" sz="850" dirty="0"/>
          </a:p>
        </p:txBody>
      </p:sp>
      <p:sp>
        <p:nvSpPr>
          <p:cNvPr id="37" name="Text 29"/>
          <p:cNvSpPr/>
          <p:nvPr/>
        </p:nvSpPr>
        <p:spPr>
          <a:xfrm>
            <a:off x="5468112" y="2029968"/>
            <a:ext cx="3273552" cy="347472"/>
          </a:xfrm>
          <a:prstGeom prst="rect">
            <a:avLst/>
          </a:prstGeom>
          <a:noFill/>
          <a:ln/>
        </p:spPr>
        <p:txBody>
          <a:bodyPr wrap="square" lIns="0" tIns="0" rIns="0" bIns="0" rtlCol="0" anchor="ctr"/>
          <a:lstStyle/>
          <a:p>
            <a:pPr indent="0" marL="0">
              <a:buNone/>
            </a:pPr>
            <a:r>
              <a:rPr lang="en-US" sz="850" dirty="0">
                <a:solidFill>
                  <a:srgbClr val="3A5068"/>
                </a:solidFill>
                <a:latin typeface="Calibri" pitchFamily="34" charset="0"/>
                <a:ea typeface="Calibri" pitchFamily="34" charset="-122"/>
                <a:cs typeface="Calibri" pitchFamily="34" charset="-120"/>
              </a:rPr>
              <a:t>Regional survival gradients (3-35%)</a:t>
            </a:r>
            <a:endParaRPr lang="en-US" sz="850" dirty="0"/>
          </a:p>
          <a:p>
            <a:pPr indent="0" marL="0">
              <a:buNone/>
            </a:pPr>
            <a:r>
              <a:rPr lang="en-US" sz="850" dirty="0">
                <a:solidFill>
                  <a:srgbClr val="3A5068"/>
                </a:solidFill>
                <a:latin typeface="Calibri" pitchFamily="34" charset="0"/>
                <a:ea typeface="Calibri" pitchFamily="34" charset="-122"/>
                <a:cs typeface="Calibri" pitchFamily="34" charset="-120"/>
              </a:rPr>
              <a:t>by city and sector applied</a:t>
            </a:r>
            <a:endParaRPr lang="en-US" sz="850" dirty="0"/>
          </a:p>
        </p:txBody>
      </p:sp>
      <p:sp>
        <p:nvSpPr>
          <p:cNvPr id="38" name="Shape 30"/>
          <p:cNvSpPr/>
          <p:nvPr/>
        </p:nvSpPr>
        <p:spPr>
          <a:xfrm>
            <a:off x="4572000" y="2560320"/>
            <a:ext cx="4251960" cy="960120"/>
          </a:xfrm>
          <a:prstGeom prst="rect">
            <a:avLst/>
          </a:prstGeom>
          <a:solidFill>
            <a:srgbClr val="FFFFFF"/>
          </a:solidFill>
          <a:ln w="9525">
            <a:solidFill>
              <a:srgbClr val="E2EDF2"/>
            </a:solidFill>
            <a:prstDash val="solid"/>
          </a:ln>
        </p:spPr>
      </p:sp>
      <p:sp>
        <p:nvSpPr>
          <p:cNvPr id="39" name="Shape 31"/>
          <p:cNvSpPr/>
          <p:nvPr/>
        </p:nvSpPr>
        <p:spPr>
          <a:xfrm>
            <a:off x="4572000" y="2560320"/>
            <a:ext cx="822960" cy="960120"/>
          </a:xfrm>
          <a:prstGeom prst="rect">
            <a:avLst/>
          </a:prstGeom>
          <a:solidFill>
            <a:srgbClr val="112244"/>
          </a:solidFill>
          <a:ln w="12700">
            <a:solidFill>
              <a:srgbClr val="112244"/>
            </a:solidFill>
            <a:prstDash val="solid"/>
          </a:ln>
        </p:spPr>
      </p:sp>
      <p:sp>
        <p:nvSpPr>
          <p:cNvPr id="40" name="Text 32"/>
          <p:cNvSpPr/>
          <p:nvPr/>
        </p:nvSpPr>
        <p:spPr>
          <a:xfrm>
            <a:off x="4572000" y="2615184"/>
            <a:ext cx="8229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27</a:t>
            </a:r>
            <a:endParaRPr lang="en-US" sz="2000" dirty="0"/>
          </a:p>
        </p:txBody>
      </p:sp>
      <p:sp>
        <p:nvSpPr>
          <p:cNvPr id="41" name="Text 33"/>
          <p:cNvSpPr/>
          <p:nvPr/>
        </p:nvSpPr>
        <p:spPr>
          <a:xfrm>
            <a:off x="4572000" y="3072384"/>
            <a:ext cx="822960" cy="237744"/>
          </a:xfrm>
          <a:prstGeom prst="rect">
            <a:avLst/>
          </a:prstGeom>
          <a:noFill/>
          <a:ln/>
        </p:spPr>
        <p:txBody>
          <a:bodyPr wrap="square" lIns="0" tIns="0" rIns="0" bIns="0" rtlCol="0" anchor="ctr"/>
          <a:lstStyle/>
          <a:p>
            <a:pPr algn="ctr" indent="0" marL="0">
              <a:buNone/>
            </a:pPr>
            <a:r>
              <a:rPr lang="en-US" sz="800" dirty="0">
                <a:solidFill>
                  <a:srgbClr val="C8E8F0"/>
                </a:solidFill>
                <a:latin typeface="Calibri" pitchFamily="34" charset="0"/>
                <a:ea typeface="Calibri" pitchFamily="34" charset="-122"/>
                <a:cs typeface="Calibri" pitchFamily="34" charset="-120"/>
              </a:rPr>
              <a:t>records</a:t>
            </a:r>
            <a:endParaRPr lang="en-US" sz="800" dirty="0"/>
          </a:p>
        </p:txBody>
      </p:sp>
      <p:sp>
        <p:nvSpPr>
          <p:cNvPr id="42" name="Text 34"/>
          <p:cNvSpPr/>
          <p:nvPr/>
        </p:nvSpPr>
        <p:spPr>
          <a:xfrm>
            <a:off x="5468112" y="2615184"/>
            <a:ext cx="3273552" cy="274320"/>
          </a:xfrm>
          <a:prstGeom prst="rect">
            <a:avLst/>
          </a:prstGeom>
          <a:noFill/>
          <a:ln/>
        </p:spPr>
        <p:txBody>
          <a:bodyPr wrap="square" lIns="0" tIns="0" rIns="0" bIns="0" rtlCol="0" anchor="ctr"/>
          <a:lstStyle/>
          <a:p>
            <a:pPr indent="0" marL="0">
              <a:buNone/>
            </a:pPr>
            <a:r>
              <a:rPr lang="en-US" sz="950" b="1" dirty="0">
                <a:solidFill>
                  <a:srgbClr val="0A1931"/>
                </a:solidFill>
                <a:latin typeface="Calibri" pitchFamily="34" charset="0"/>
                <a:ea typeface="Calibri" pitchFamily="34" charset="-122"/>
                <a:cs typeface="Calibri" pitchFamily="34" charset="-120"/>
              </a:rPr>
              <a:t>Primary Survey Responses</a:t>
            </a:r>
            <a:endParaRPr lang="en-US" sz="950" dirty="0"/>
          </a:p>
        </p:txBody>
      </p:sp>
      <p:sp>
        <p:nvSpPr>
          <p:cNvPr id="43" name="Text 35"/>
          <p:cNvSpPr/>
          <p:nvPr/>
        </p:nvSpPr>
        <p:spPr>
          <a:xfrm>
            <a:off x="5468112" y="2889504"/>
            <a:ext cx="1097280" cy="219456"/>
          </a:xfrm>
          <a:prstGeom prst="rect">
            <a:avLst/>
          </a:prstGeom>
          <a:noFill/>
          <a:ln/>
        </p:spPr>
        <p:txBody>
          <a:bodyPr wrap="square" lIns="0" tIns="0" rIns="0" bIns="0" rtlCol="0" anchor="ctr"/>
          <a:lstStyle/>
          <a:p>
            <a:pPr indent="0" marL="0">
              <a:buNone/>
            </a:pPr>
            <a:r>
              <a:rPr lang="en-US" sz="850" b="1" dirty="0">
                <a:solidFill>
                  <a:srgbClr val="112244"/>
                </a:solidFill>
                <a:latin typeface="Calibri" pitchFamily="34" charset="0"/>
                <a:ea typeface="Calibri" pitchFamily="34" charset="-122"/>
                <a:cs typeface="Calibri" pitchFamily="34" charset="-120"/>
              </a:rPr>
              <a:t>Weight = 10.0</a:t>
            </a:r>
            <a:endParaRPr lang="en-US" sz="850" dirty="0"/>
          </a:p>
        </p:txBody>
      </p:sp>
      <p:sp>
        <p:nvSpPr>
          <p:cNvPr id="44" name="Text 36"/>
          <p:cNvSpPr/>
          <p:nvPr/>
        </p:nvSpPr>
        <p:spPr>
          <a:xfrm>
            <a:off x="5468112" y="3108960"/>
            <a:ext cx="3273552" cy="347472"/>
          </a:xfrm>
          <a:prstGeom prst="rect">
            <a:avLst/>
          </a:prstGeom>
          <a:noFill/>
          <a:ln/>
        </p:spPr>
        <p:txBody>
          <a:bodyPr wrap="square" lIns="0" tIns="0" rIns="0" bIns="0" rtlCol="0" anchor="ctr"/>
          <a:lstStyle/>
          <a:p>
            <a:pPr indent="0" marL="0">
              <a:buNone/>
            </a:pPr>
            <a:r>
              <a:rPr lang="en-US" sz="850" dirty="0">
                <a:solidFill>
                  <a:srgbClr val="3A5068"/>
                </a:solidFill>
                <a:latin typeface="Calibri" pitchFamily="34" charset="0"/>
                <a:ea typeface="Calibri" pitchFamily="34" charset="-122"/>
                <a:cs typeface="Calibri" pitchFamily="34" charset="-120"/>
              </a:rPr>
              <a:t>Real SME owners across all 6 cities.</a:t>
            </a:r>
            <a:endParaRPr lang="en-US" sz="850" dirty="0"/>
          </a:p>
          <a:p>
            <a:pPr indent="0" marL="0">
              <a:buNone/>
            </a:pPr>
            <a:r>
              <a:rPr lang="en-US" sz="850" dirty="0">
                <a:solidFill>
                  <a:srgbClr val="3A5068"/>
                </a:solidFill>
                <a:latin typeface="Calibri" pitchFamily="34" charset="0"/>
                <a:ea typeface="Calibri" pitchFamily="34" charset="-122"/>
                <a:cs typeface="Calibri" pitchFamily="34" charset="-120"/>
              </a:rPr>
              <a:t>KoboToolbox instrument (English/French)</a:t>
            </a:r>
            <a:endParaRPr lang="en-US" sz="850" dirty="0"/>
          </a:p>
        </p:txBody>
      </p:sp>
      <p:sp>
        <p:nvSpPr>
          <p:cNvPr id="45" name="Shape 37"/>
          <p:cNvSpPr/>
          <p:nvPr/>
        </p:nvSpPr>
        <p:spPr>
          <a:xfrm>
            <a:off x="4572000" y="3639312"/>
            <a:ext cx="4251960" cy="960120"/>
          </a:xfrm>
          <a:prstGeom prst="rect">
            <a:avLst/>
          </a:prstGeom>
          <a:solidFill>
            <a:srgbClr val="FFFFFF"/>
          </a:solidFill>
          <a:ln w="9525">
            <a:solidFill>
              <a:srgbClr val="E2EDF2"/>
            </a:solidFill>
            <a:prstDash val="solid"/>
          </a:ln>
        </p:spPr>
      </p:sp>
      <p:sp>
        <p:nvSpPr>
          <p:cNvPr id="46" name="Shape 38"/>
          <p:cNvSpPr/>
          <p:nvPr/>
        </p:nvSpPr>
        <p:spPr>
          <a:xfrm>
            <a:off x="4572000" y="3639312"/>
            <a:ext cx="822960" cy="960120"/>
          </a:xfrm>
          <a:prstGeom prst="rect">
            <a:avLst/>
          </a:prstGeom>
          <a:solidFill>
            <a:srgbClr val="DC2626"/>
          </a:solidFill>
          <a:ln w="12700">
            <a:solidFill>
              <a:srgbClr val="DC2626"/>
            </a:solidFill>
            <a:prstDash val="solid"/>
          </a:ln>
        </p:spPr>
      </p:sp>
      <p:sp>
        <p:nvSpPr>
          <p:cNvPr id="47" name="Text 39"/>
          <p:cNvSpPr/>
          <p:nvPr/>
        </p:nvSpPr>
        <p:spPr>
          <a:xfrm>
            <a:off x="4572000" y="3694176"/>
            <a:ext cx="8229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615</a:t>
            </a:r>
            <a:endParaRPr lang="en-US" sz="2000" dirty="0"/>
          </a:p>
        </p:txBody>
      </p:sp>
      <p:sp>
        <p:nvSpPr>
          <p:cNvPr id="48" name="Text 40"/>
          <p:cNvSpPr/>
          <p:nvPr/>
        </p:nvSpPr>
        <p:spPr>
          <a:xfrm>
            <a:off x="4572000" y="4151376"/>
            <a:ext cx="822960" cy="237744"/>
          </a:xfrm>
          <a:prstGeom prst="rect">
            <a:avLst/>
          </a:prstGeom>
          <a:noFill/>
          <a:ln/>
        </p:spPr>
        <p:txBody>
          <a:bodyPr wrap="square" lIns="0" tIns="0" rIns="0" bIns="0" rtlCol="0" anchor="ctr"/>
          <a:lstStyle/>
          <a:p>
            <a:pPr algn="ctr" indent="0" marL="0">
              <a:buNone/>
            </a:pPr>
            <a:r>
              <a:rPr lang="en-US" sz="800" dirty="0">
                <a:solidFill>
                  <a:srgbClr val="C8E8F0"/>
                </a:solidFill>
                <a:latin typeface="Calibri" pitchFamily="34" charset="0"/>
                <a:ea typeface="Calibri" pitchFamily="34" charset="-122"/>
                <a:cs typeface="Calibri" pitchFamily="34" charset="-120"/>
              </a:rPr>
              <a:t>records</a:t>
            </a:r>
            <a:endParaRPr lang="en-US" sz="800" dirty="0"/>
          </a:p>
        </p:txBody>
      </p:sp>
      <p:sp>
        <p:nvSpPr>
          <p:cNvPr id="49" name="Text 41"/>
          <p:cNvSpPr/>
          <p:nvPr/>
        </p:nvSpPr>
        <p:spPr>
          <a:xfrm>
            <a:off x="5468112" y="3694176"/>
            <a:ext cx="3273552" cy="274320"/>
          </a:xfrm>
          <a:prstGeom prst="rect">
            <a:avLst/>
          </a:prstGeom>
          <a:noFill/>
          <a:ln/>
        </p:spPr>
        <p:txBody>
          <a:bodyPr wrap="square" lIns="0" tIns="0" rIns="0" bIns="0" rtlCol="0" anchor="ctr"/>
          <a:lstStyle/>
          <a:p>
            <a:pPr indent="0" marL="0">
              <a:buNone/>
            </a:pPr>
            <a:r>
              <a:rPr lang="en-US" sz="950" b="1" dirty="0">
                <a:solidFill>
                  <a:srgbClr val="0A1931"/>
                </a:solidFill>
                <a:latin typeface="Calibri" pitchFamily="34" charset="0"/>
                <a:ea typeface="Calibri" pitchFamily="34" charset="-122"/>
                <a:cs typeface="Calibri" pitchFamily="34" charset="-120"/>
              </a:rPr>
              <a:t>World Bank Enterprise Survey</a:t>
            </a:r>
            <a:endParaRPr lang="en-US" sz="950" dirty="0"/>
          </a:p>
          <a:p>
            <a:pPr indent="0" marL="0">
              <a:buNone/>
            </a:pPr>
            <a:r>
              <a:rPr lang="en-US" sz="950" b="1" dirty="0">
                <a:solidFill>
                  <a:srgbClr val="0A1931"/>
                </a:solidFill>
                <a:latin typeface="Calibri" pitchFamily="34" charset="0"/>
                <a:ea typeface="Calibri" pitchFamily="34" charset="-122"/>
                <a:cs typeface="Calibri" pitchFamily="34" charset="-120"/>
              </a:rPr>
              <a:t>Cameroon 2024 Microdata</a:t>
            </a:r>
            <a:endParaRPr lang="en-US" sz="950" dirty="0"/>
          </a:p>
        </p:txBody>
      </p:sp>
      <p:sp>
        <p:nvSpPr>
          <p:cNvPr id="50" name="Text 42"/>
          <p:cNvSpPr/>
          <p:nvPr/>
        </p:nvSpPr>
        <p:spPr>
          <a:xfrm>
            <a:off x="5468112" y="3968496"/>
            <a:ext cx="1097280" cy="219456"/>
          </a:xfrm>
          <a:prstGeom prst="rect">
            <a:avLst/>
          </a:prstGeom>
          <a:noFill/>
          <a:ln/>
        </p:spPr>
        <p:txBody>
          <a:bodyPr wrap="square" lIns="0" tIns="0" rIns="0" bIns="0" rtlCol="0" anchor="ctr"/>
          <a:lstStyle/>
          <a:p>
            <a:pPr indent="0" marL="0">
              <a:buNone/>
            </a:pPr>
            <a:r>
              <a:rPr lang="en-US" sz="850" b="1" dirty="0">
                <a:solidFill>
                  <a:srgbClr val="DC2626"/>
                </a:solidFill>
                <a:latin typeface="Calibri" pitchFamily="34" charset="0"/>
                <a:ea typeface="Calibri" pitchFamily="34" charset="-122"/>
                <a:cs typeface="Calibri" pitchFamily="34" charset="-120"/>
              </a:rPr>
              <a:t>Weight = 15.0</a:t>
            </a:r>
            <a:endParaRPr lang="en-US" sz="850" dirty="0"/>
          </a:p>
        </p:txBody>
      </p:sp>
      <p:sp>
        <p:nvSpPr>
          <p:cNvPr id="51" name="Text 43"/>
          <p:cNvSpPr/>
          <p:nvPr/>
        </p:nvSpPr>
        <p:spPr>
          <a:xfrm>
            <a:off x="5468112" y="4187952"/>
            <a:ext cx="3273552" cy="347472"/>
          </a:xfrm>
          <a:prstGeom prst="rect">
            <a:avLst/>
          </a:prstGeom>
          <a:noFill/>
          <a:ln/>
        </p:spPr>
        <p:txBody>
          <a:bodyPr wrap="square" lIns="0" tIns="0" rIns="0" bIns="0" rtlCol="0" anchor="ctr"/>
          <a:lstStyle/>
          <a:p>
            <a:pPr indent="0" marL="0">
              <a:buNone/>
            </a:pPr>
            <a:r>
              <a:rPr lang="en-US" sz="850" dirty="0">
                <a:solidFill>
                  <a:srgbClr val="3A5068"/>
                </a:solidFill>
                <a:latin typeface="Calibri" pitchFamily="34" charset="0"/>
                <a:ea typeface="Calibri" pitchFamily="34" charset="-122"/>
                <a:cs typeface="Calibri" pitchFamily="34" charset="-120"/>
              </a:rPr>
              <a:t>Formal-sector SMEs.</a:t>
            </a:r>
            <a:endParaRPr lang="en-US" sz="850" dirty="0"/>
          </a:p>
          <a:p>
            <a:pPr indent="0" marL="0">
              <a:buNone/>
            </a:pPr>
            <a:r>
              <a:rPr lang="en-US" sz="850" dirty="0">
                <a:solidFill>
                  <a:srgbClr val="3A5068"/>
                </a:solidFill>
                <a:latin typeface="Calibri" pitchFamily="34" charset="0"/>
                <a:ea typeface="Calibri" pitchFamily="34" charset="-122"/>
                <a:cs typeface="Calibri" pitchFamily="34" charset="-120"/>
              </a:rPr>
              <a:t>Highest empirical authority</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Data Collection Methods</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Primary and secondary data acquisition</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320040" y="1024128"/>
            <a:ext cx="8503920" cy="1133856"/>
          </a:xfrm>
          <a:prstGeom prst="rect">
            <a:avLst/>
          </a:prstGeom>
          <a:solidFill>
            <a:srgbClr val="FFFFFF"/>
          </a:solidFill>
          <a:ln w="9525">
            <a:solidFill>
              <a:srgbClr val="E2EDF2"/>
            </a:solidFill>
            <a:prstDash val="solid"/>
          </a:ln>
        </p:spPr>
      </p:sp>
      <p:sp>
        <p:nvSpPr>
          <p:cNvPr id="10" name="Shape 8"/>
          <p:cNvSpPr/>
          <p:nvPr/>
        </p:nvSpPr>
        <p:spPr>
          <a:xfrm>
            <a:off x="320040" y="1024128"/>
            <a:ext cx="914400" cy="1133856"/>
          </a:xfrm>
          <a:prstGeom prst="rect">
            <a:avLst/>
          </a:prstGeom>
          <a:solidFill>
            <a:srgbClr val="0D7C8F"/>
          </a:solidFill>
          <a:ln w="12700">
            <a:solidFill>
              <a:srgbClr val="0D7C8F"/>
            </a:solidFill>
            <a:prstDash val="solid"/>
          </a:ln>
        </p:spPr>
      </p:sp>
      <p:pic>
        <p:nvPicPr>
          <p:cNvPr id="11" name="Image 0" descr="preencoded.png">    </p:cNvPr>
          <p:cNvPicPr>
            <a:picLocks noChangeAspect="1"/>
          </p:cNvPicPr>
          <p:nvPr/>
        </p:nvPicPr>
        <p:blipFill>
          <a:blip r:embed="rId1"/>
          <a:stretch>
            <a:fillRect/>
          </a:stretch>
        </p:blipFill>
        <p:spPr>
          <a:xfrm>
            <a:off x="438912" y="1133856"/>
            <a:ext cx="347472" cy="347472"/>
          </a:xfrm>
          <a:prstGeom prst="rect">
            <a:avLst/>
          </a:prstGeom>
        </p:spPr>
      </p:pic>
      <p:sp>
        <p:nvSpPr>
          <p:cNvPr id="12" name="Text 9"/>
          <p:cNvSpPr/>
          <p:nvPr/>
        </p:nvSpPr>
        <p:spPr>
          <a:xfrm>
            <a:off x="438912" y="1536192"/>
            <a:ext cx="804672" cy="54864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Primary Survey (KoboToolbox)</a:t>
            </a:r>
            <a:endParaRPr lang="en-US" sz="800" dirty="0"/>
          </a:p>
        </p:txBody>
      </p:sp>
      <p:sp>
        <p:nvSpPr>
          <p:cNvPr id="13" name="Text 10"/>
          <p:cNvSpPr/>
          <p:nvPr/>
        </p:nvSpPr>
        <p:spPr>
          <a:xfrm>
            <a:off x="1353312" y="1097280"/>
            <a:ext cx="7315200" cy="1005840"/>
          </a:xfrm>
          <a:prstGeom prst="rect">
            <a:avLst/>
          </a:prstGeom>
          <a:noFill/>
          <a:ln/>
        </p:spPr>
        <p:txBody>
          <a:bodyPr wrap="square" lIns="0" tIns="0" rIns="0" bIns="0" rtlCol="0" anchor="t"/>
          <a:lstStyle/>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Structured questionnaire administered in English and French</a:t>
            </a:r>
            <a:endParaRPr lang="en-US" sz="950" dirty="0"/>
          </a:p>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12 fields: startup capital, sector, region, employees, experience, costs</a:t>
            </a:r>
            <a:endParaRPr lang="en-US" sz="950" dirty="0"/>
          </a:p>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Survival outcome recorded: still operating vs. closed (+ year of closure)</a:t>
            </a:r>
            <a:endParaRPr lang="en-US" sz="950" dirty="0"/>
          </a:p>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27 responses from real SME owners across 6 Cameroonian cities</a:t>
            </a:r>
            <a:endParaRPr lang="en-US" sz="950" dirty="0"/>
          </a:p>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Sample weight: 10.0 — empirically verified ground truth</a:t>
            </a:r>
            <a:endParaRPr lang="en-US" sz="950" dirty="0"/>
          </a:p>
        </p:txBody>
      </p:sp>
      <p:sp>
        <p:nvSpPr>
          <p:cNvPr id="14" name="Shape 11"/>
          <p:cNvSpPr/>
          <p:nvPr/>
        </p:nvSpPr>
        <p:spPr>
          <a:xfrm>
            <a:off x="320040" y="2286000"/>
            <a:ext cx="8503920" cy="1133856"/>
          </a:xfrm>
          <a:prstGeom prst="rect">
            <a:avLst/>
          </a:prstGeom>
          <a:solidFill>
            <a:srgbClr val="FFFFFF"/>
          </a:solidFill>
          <a:ln w="9525">
            <a:solidFill>
              <a:srgbClr val="E2EDF2"/>
            </a:solidFill>
            <a:prstDash val="solid"/>
          </a:ln>
        </p:spPr>
      </p:sp>
      <p:sp>
        <p:nvSpPr>
          <p:cNvPr id="15" name="Shape 12"/>
          <p:cNvSpPr/>
          <p:nvPr/>
        </p:nvSpPr>
        <p:spPr>
          <a:xfrm>
            <a:off x="320040" y="2286000"/>
            <a:ext cx="914400" cy="1133856"/>
          </a:xfrm>
          <a:prstGeom prst="rect">
            <a:avLst/>
          </a:prstGeom>
          <a:solidFill>
            <a:srgbClr val="112244"/>
          </a:solidFill>
          <a:ln w="12700">
            <a:solidFill>
              <a:srgbClr val="112244"/>
            </a:solidFill>
            <a:prstDash val="solid"/>
          </a:ln>
        </p:spPr>
      </p:sp>
      <p:pic>
        <p:nvPicPr>
          <p:cNvPr id="16" name="Image 1" descr="preencoded.png">    </p:cNvPr>
          <p:cNvPicPr>
            <a:picLocks noChangeAspect="1"/>
          </p:cNvPicPr>
          <p:nvPr/>
        </p:nvPicPr>
        <p:blipFill>
          <a:blip r:embed="rId2"/>
          <a:stretch>
            <a:fillRect/>
          </a:stretch>
        </p:blipFill>
        <p:spPr>
          <a:xfrm>
            <a:off x="438912" y="2395728"/>
            <a:ext cx="347472" cy="347472"/>
          </a:xfrm>
          <a:prstGeom prst="rect">
            <a:avLst/>
          </a:prstGeom>
        </p:spPr>
      </p:pic>
      <p:sp>
        <p:nvSpPr>
          <p:cNvPr id="17" name="Text 13"/>
          <p:cNvSpPr/>
          <p:nvPr/>
        </p:nvSpPr>
        <p:spPr>
          <a:xfrm>
            <a:off x="438912" y="2798064"/>
            <a:ext cx="804672" cy="54864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World Bank Enterprise Survey 2024</a:t>
            </a:r>
            <a:endParaRPr lang="en-US" sz="800" dirty="0"/>
          </a:p>
        </p:txBody>
      </p:sp>
      <p:sp>
        <p:nvSpPr>
          <p:cNvPr id="18" name="Text 14"/>
          <p:cNvSpPr/>
          <p:nvPr/>
        </p:nvSpPr>
        <p:spPr>
          <a:xfrm>
            <a:off x="1353312" y="2359152"/>
            <a:ext cx="7315200" cy="1005840"/>
          </a:xfrm>
          <a:prstGeom prst="rect">
            <a:avLst/>
          </a:prstGeom>
          <a:noFill/>
          <a:ln/>
        </p:spPr>
        <p:txBody>
          <a:bodyPr wrap="square" lIns="0" tIns="0" rIns="0" bIns="0" rtlCol="0" anchor="t"/>
          <a:lstStyle/>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615 Cameroon microdata rows — formal-sector business records</a:t>
            </a:r>
            <a:endParaRPr lang="en-US" sz="950" dirty="0"/>
          </a:p>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340+ variables per record; 12 selected for feature alignment</a:t>
            </a:r>
            <a:endParaRPr lang="en-US" sz="950" dirty="0"/>
          </a:p>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Free public dataset; highest external empirical authority</a:t>
            </a:r>
            <a:endParaRPr lang="en-US" sz="950" dirty="0"/>
          </a:p>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Sample weight: 15.0 reflecting data quality and observational rigor</a:t>
            </a:r>
            <a:endParaRPr lang="en-US" sz="950" dirty="0"/>
          </a:p>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URL: enterprisesurveys.org — World Bank Group (2023)</a:t>
            </a:r>
            <a:endParaRPr lang="en-US" sz="950" dirty="0"/>
          </a:p>
        </p:txBody>
      </p:sp>
      <p:sp>
        <p:nvSpPr>
          <p:cNvPr id="19" name="Shape 15"/>
          <p:cNvSpPr/>
          <p:nvPr/>
        </p:nvSpPr>
        <p:spPr>
          <a:xfrm>
            <a:off x="320040" y="3547872"/>
            <a:ext cx="8503920" cy="1133856"/>
          </a:xfrm>
          <a:prstGeom prst="rect">
            <a:avLst/>
          </a:prstGeom>
          <a:solidFill>
            <a:srgbClr val="FFFFFF"/>
          </a:solidFill>
          <a:ln w="9525">
            <a:solidFill>
              <a:srgbClr val="E2EDF2"/>
            </a:solidFill>
            <a:prstDash val="solid"/>
          </a:ln>
        </p:spPr>
      </p:sp>
      <p:sp>
        <p:nvSpPr>
          <p:cNvPr id="20" name="Shape 16"/>
          <p:cNvSpPr/>
          <p:nvPr/>
        </p:nvSpPr>
        <p:spPr>
          <a:xfrm>
            <a:off x="320040" y="3547872"/>
            <a:ext cx="914400" cy="1133856"/>
          </a:xfrm>
          <a:prstGeom prst="rect">
            <a:avLst/>
          </a:prstGeom>
          <a:solidFill>
            <a:srgbClr val="DC2626"/>
          </a:solidFill>
          <a:ln w="12700">
            <a:solidFill>
              <a:srgbClr val="DC2626"/>
            </a:solidFill>
            <a:prstDash val="solid"/>
          </a:ln>
        </p:spPr>
      </p:sp>
      <p:pic>
        <p:nvPicPr>
          <p:cNvPr id="21" name="Image 2" descr="preencoded.png">    </p:cNvPr>
          <p:cNvPicPr>
            <a:picLocks noChangeAspect="1"/>
          </p:cNvPicPr>
          <p:nvPr/>
        </p:nvPicPr>
        <p:blipFill>
          <a:blip r:embed="rId3"/>
          <a:stretch>
            <a:fillRect/>
          </a:stretch>
        </p:blipFill>
        <p:spPr>
          <a:xfrm>
            <a:off x="438912" y="3657600"/>
            <a:ext cx="347472" cy="347472"/>
          </a:xfrm>
          <a:prstGeom prst="rect">
            <a:avLst/>
          </a:prstGeom>
        </p:spPr>
      </p:pic>
      <p:sp>
        <p:nvSpPr>
          <p:cNvPr id="22" name="Text 17"/>
          <p:cNvSpPr/>
          <p:nvPr/>
        </p:nvSpPr>
        <p:spPr>
          <a:xfrm>
            <a:off x="438912" y="4059936"/>
            <a:ext cx="804672" cy="54864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MINPMEESA Dataset (Calibrated)</a:t>
            </a:r>
            <a:endParaRPr lang="en-US" sz="800" dirty="0"/>
          </a:p>
        </p:txBody>
      </p:sp>
      <p:sp>
        <p:nvSpPr>
          <p:cNvPr id="23" name="Text 18"/>
          <p:cNvSpPr/>
          <p:nvPr/>
        </p:nvSpPr>
        <p:spPr>
          <a:xfrm>
            <a:off x="1353312" y="3621024"/>
            <a:ext cx="7315200" cy="1005840"/>
          </a:xfrm>
          <a:prstGeom prst="rect">
            <a:avLst/>
          </a:prstGeom>
          <a:noFill/>
          <a:ln/>
        </p:spPr>
        <p:txBody>
          <a:bodyPr wrap="square" lIns="0" tIns="0" rIns="0" bIns="0" rtlCol="0" anchor="t"/>
          <a:lstStyle/>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15,000 records calibrated against MINPMEESA national statistics</a:t>
            </a:r>
            <a:endParaRPr lang="en-US" sz="950" dirty="0"/>
          </a:p>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Regional survival gradients: 3–5% (Far North) to 28–35% (Littoral)</a:t>
            </a:r>
            <a:endParaRPr lang="en-US" sz="950" dirty="0"/>
          </a:p>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Base log-odds −3.00 produces mean survival rate of 17.7%</a:t>
            </a:r>
            <a:endParaRPr lang="en-US" sz="950" dirty="0"/>
          </a:p>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Consistent with MINPMEESA 94.6% five-year failure rate</a:t>
            </a:r>
            <a:endParaRPr lang="en-US" sz="950" dirty="0"/>
          </a:p>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Sample weight: 1.0 (base reference for calibration)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System Architecture</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Three-tier client–server architecture with embedded AI intelligence layer</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201168" y="960120"/>
            <a:ext cx="8741664" cy="4005072"/>
          </a:xfrm>
          <a:prstGeom prst="rect">
            <a:avLst/>
          </a:prstGeom>
          <a:solidFill>
            <a:srgbClr val="EEF4F7"/>
          </a:solidFill>
          <a:ln w="9525">
            <a:solidFill>
              <a:srgbClr val="C8D8E2"/>
            </a:solidFill>
            <a:prstDash val="solid"/>
          </a:ln>
        </p:spPr>
      </p:sp>
      <p:sp>
        <p:nvSpPr>
          <p:cNvPr id="10" name="Shape 8"/>
          <p:cNvSpPr/>
          <p:nvPr/>
        </p:nvSpPr>
        <p:spPr>
          <a:xfrm>
            <a:off x="201168" y="1024128"/>
            <a:ext cx="512064" cy="749808"/>
          </a:xfrm>
          <a:prstGeom prst="rect">
            <a:avLst/>
          </a:prstGeom>
          <a:solidFill>
            <a:srgbClr val="0A1931"/>
          </a:solidFill>
          <a:ln w="12700">
            <a:solidFill>
              <a:srgbClr val="0A1931"/>
            </a:solidFill>
            <a:prstDash val="solid"/>
          </a:ln>
        </p:spPr>
      </p:sp>
      <p:sp>
        <p:nvSpPr>
          <p:cNvPr id="11" name="Text 9"/>
          <p:cNvSpPr/>
          <p:nvPr/>
        </p:nvSpPr>
        <p:spPr>
          <a:xfrm>
            <a:off x="201168" y="1024128"/>
            <a:ext cx="512064" cy="74980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CLIENT</a:t>
            </a:r>
            <a:endParaRPr lang="en-US" sz="650" dirty="0"/>
          </a:p>
          <a:p>
            <a:pPr algn="ctr" indent="0" marL="0">
              <a:buNone/>
            </a:pPr>
            <a:r>
              <a:rPr lang="en-US" sz="650" b="1" dirty="0">
                <a:solidFill>
                  <a:srgbClr val="FFFFFF"/>
                </a:solidFill>
                <a:latin typeface="Calibri" pitchFamily="34" charset="0"/>
                <a:ea typeface="Calibri" pitchFamily="34" charset="-122"/>
                <a:cs typeface="Calibri" pitchFamily="34" charset="-120"/>
              </a:rPr>
              <a:t>LAYER</a:t>
            </a:r>
            <a:endParaRPr lang="en-US" sz="650" dirty="0"/>
          </a:p>
        </p:txBody>
      </p:sp>
      <p:sp>
        <p:nvSpPr>
          <p:cNvPr id="12" name="Shape 10"/>
          <p:cNvSpPr/>
          <p:nvPr/>
        </p:nvSpPr>
        <p:spPr>
          <a:xfrm>
            <a:off x="822960" y="1051560"/>
            <a:ext cx="2834640" cy="694944"/>
          </a:xfrm>
          <a:prstGeom prst="rect">
            <a:avLst/>
          </a:prstGeom>
          <a:solidFill>
            <a:srgbClr val="112244"/>
          </a:solidFill>
          <a:ln w="12700">
            <a:solidFill>
              <a:srgbClr val="0EA5C0"/>
            </a:solidFill>
            <a:prstDash val="solid"/>
          </a:ln>
        </p:spPr>
      </p:sp>
      <p:pic>
        <p:nvPicPr>
          <p:cNvPr id="13" name="Image 0" descr="preencoded.png">    </p:cNvPr>
          <p:cNvPicPr>
            <a:picLocks noChangeAspect="1"/>
          </p:cNvPicPr>
          <p:nvPr/>
        </p:nvPicPr>
        <p:blipFill>
          <a:blip r:embed="rId1"/>
          <a:stretch>
            <a:fillRect/>
          </a:stretch>
        </p:blipFill>
        <p:spPr>
          <a:xfrm>
            <a:off x="914400" y="1152144"/>
            <a:ext cx="274320" cy="274320"/>
          </a:xfrm>
          <a:prstGeom prst="rect">
            <a:avLst/>
          </a:prstGeom>
        </p:spPr>
      </p:pic>
      <p:sp>
        <p:nvSpPr>
          <p:cNvPr id="14" name="Text 11"/>
          <p:cNvSpPr/>
          <p:nvPr/>
        </p:nvSpPr>
        <p:spPr>
          <a:xfrm>
            <a:off x="1243584" y="1097280"/>
            <a:ext cx="2340864"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React Native + Expo SDK 53.0.0</a:t>
            </a:r>
            <a:endParaRPr lang="en-US" sz="900" dirty="0"/>
          </a:p>
        </p:txBody>
      </p:sp>
      <p:sp>
        <p:nvSpPr>
          <p:cNvPr id="15" name="Text 12"/>
          <p:cNvSpPr/>
          <p:nvPr/>
        </p:nvSpPr>
        <p:spPr>
          <a:xfrm>
            <a:off x="1243584" y="1335024"/>
            <a:ext cx="2340864" cy="329184"/>
          </a:xfrm>
          <a:prstGeom prst="rect">
            <a:avLst/>
          </a:prstGeom>
          <a:noFill/>
          <a:ln/>
        </p:spPr>
        <p:txBody>
          <a:bodyPr wrap="square" lIns="0" tIns="0" rIns="0" bIns="0" rtlCol="0" anchor="ctr"/>
          <a:lstStyle/>
          <a:p>
            <a:pPr indent="0" marL="0">
              <a:buNone/>
            </a:pPr>
            <a:r>
              <a:rPr lang="en-US" sz="750" dirty="0">
                <a:solidFill>
                  <a:srgbClr val="0EA5C0"/>
                </a:solidFill>
                <a:latin typeface="Calibri" pitchFamily="34" charset="0"/>
                <a:ea typeface="Calibri" pitchFamily="34" charset="-122"/>
                <a:cs typeface="Calibri" pitchFamily="34" charset="-120"/>
              </a:rPr>
              <a:t>Mobile App  ·  Android &amp; iOS  ·  Expo EAS Build</a:t>
            </a:r>
            <a:endParaRPr lang="en-US" sz="750" dirty="0"/>
          </a:p>
        </p:txBody>
      </p:sp>
      <p:sp>
        <p:nvSpPr>
          <p:cNvPr id="16" name="Shape 13"/>
          <p:cNvSpPr/>
          <p:nvPr/>
        </p:nvSpPr>
        <p:spPr>
          <a:xfrm>
            <a:off x="3858768" y="1051560"/>
            <a:ext cx="2834640" cy="694944"/>
          </a:xfrm>
          <a:prstGeom prst="rect">
            <a:avLst/>
          </a:prstGeom>
          <a:solidFill>
            <a:srgbClr val="112244"/>
          </a:solidFill>
          <a:ln w="12700">
            <a:solidFill>
              <a:srgbClr val="0EA5C0"/>
            </a:solidFill>
            <a:prstDash val="solid"/>
          </a:ln>
        </p:spPr>
      </p:sp>
      <p:pic>
        <p:nvPicPr>
          <p:cNvPr id="17" name="Image 1" descr="preencoded.png">    </p:cNvPr>
          <p:cNvPicPr>
            <a:picLocks noChangeAspect="1"/>
          </p:cNvPicPr>
          <p:nvPr/>
        </p:nvPicPr>
        <p:blipFill>
          <a:blip r:embed="rId2"/>
          <a:stretch>
            <a:fillRect/>
          </a:stretch>
        </p:blipFill>
        <p:spPr>
          <a:xfrm>
            <a:off x="3950208" y="1152144"/>
            <a:ext cx="274320" cy="274320"/>
          </a:xfrm>
          <a:prstGeom prst="rect">
            <a:avLst/>
          </a:prstGeom>
        </p:spPr>
      </p:pic>
      <p:sp>
        <p:nvSpPr>
          <p:cNvPr id="18" name="Text 14"/>
          <p:cNvSpPr/>
          <p:nvPr/>
        </p:nvSpPr>
        <p:spPr>
          <a:xfrm>
            <a:off x="4279392" y="1097280"/>
            <a:ext cx="2340864"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Next.js 16.2.0  ·  Vercel CDN</a:t>
            </a:r>
            <a:endParaRPr lang="en-US" sz="900" dirty="0"/>
          </a:p>
        </p:txBody>
      </p:sp>
      <p:sp>
        <p:nvSpPr>
          <p:cNvPr id="19" name="Text 15"/>
          <p:cNvSpPr/>
          <p:nvPr/>
        </p:nvSpPr>
        <p:spPr>
          <a:xfrm>
            <a:off x="4279392" y="1335024"/>
            <a:ext cx="2340864" cy="329184"/>
          </a:xfrm>
          <a:prstGeom prst="rect">
            <a:avLst/>
          </a:prstGeom>
          <a:noFill/>
          <a:ln/>
        </p:spPr>
        <p:txBody>
          <a:bodyPr wrap="square" lIns="0" tIns="0" rIns="0" bIns="0" rtlCol="0" anchor="ctr"/>
          <a:lstStyle/>
          <a:p>
            <a:pPr indent="0" marL="0">
              <a:buNone/>
            </a:pPr>
            <a:r>
              <a:rPr lang="en-US" sz="750" dirty="0">
                <a:solidFill>
                  <a:srgbClr val="0EA5C0"/>
                </a:solidFill>
                <a:latin typeface="Calibri" pitchFamily="34" charset="0"/>
                <a:ea typeface="Calibri" pitchFamily="34" charset="-122"/>
                <a:cs typeface="Calibri" pitchFamily="34" charset="-120"/>
              </a:rPr>
              <a:t>Web Dashboard  ·  React 18  ·  TypeScript</a:t>
            </a:r>
            <a:endParaRPr lang="en-US" sz="750" dirty="0"/>
          </a:p>
        </p:txBody>
      </p:sp>
      <p:sp>
        <p:nvSpPr>
          <p:cNvPr id="20" name="Shape 16"/>
          <p:cNvSpPr/>
          <p:nvPr/>
        </p:nvSpPr>
        <p:spPr>
          <a:xfrm>
            <a:off x="6894576" y="1051560"/>
            <a:ext cx="1938528" cy="694944"/>
          </a:xfrm>
          <a:prstGeom prst="rect">
            <a:avLst/>
          </a:prstGeom>
          <a:solidFill>
            <a:srgbClr val="152842"/>
          </a:solidFill>
          <a:ln w="9525">
            <a:solidFill>
              <a:srgbClr val="E2EDF2"/>
            </a:solidFill>
            <a:prstDash val="solid"/>
          </a:ln>
        </p:spPr>
      </p:sp>
      <p:pic>
        <p:nvPicPr>
          <p:cNvPr id="21" name="Image 2" descr="preencoded.png">    </p:cNvPr>
          <p:cNvPicPr>
            <a:picLocks noChangeAspect="1"/>
          </p:cNvPicPr>
          <p:nvPr/>
        </p:nvPicPr>
        <p:blipFill>
          <a:blip r:embed="rId3"/>
          <a:stretch>
            <a:fillRect/>
          </a:stretch>
        </p:blipFill>
        <p:spPr>
          <a:xfrm>
            <a:off x="6967728" y="1152144"/>
            <a:ext cx="256032" cy="256032"/>
          </a:xfrm>
          <a:prstGeom prst="rect">
            <a:avLst/>
          </a:prstGeom>
        </p:spPr>
      </p:pic>
      <p:sp>
        <p:nvSpPr>
          <p:cNvPr id="22" name="Text 17"/>
          <p:cNvSpPr/>
          <p:nvPr/>
        </p:nvSpPr>
        <p:spPr>
          <a:xfrm>
            <a:off x="7278624" y="1097280"/>
            <a:ext cx="1481328" cy="201168"/>
          </a:xfrm>
          <a:prstGeom prst="rect">
            <a:avLst/>
          </a:prstGeom>
          <a:noFill/>
          <a:ln/>
        </p:spPr>
        <p:txBody>
          <a:bodyPr wrap="square" lIns="0" tIns="0" rIns="0" bIns="0" rtlCol="0" anchor="ctr"/>
          <a:lstStyle/>
          <a:p>
            <a:pPr indent="0" marL="0">
              <a:buNone/>
            </a:pPr>
            <a:r>
              <a:rPr lang="en-US" sz="850" b="1" dirty="0">
                <a:solidFill>
                  <a:srgbClr val="0EA5C0"/>
                </a:solidFill>
                <a:latin typeface="Calibri" pitchFamily="34" charset="0"/>
                <a:ea typeface="Calibri" pitchFamily="34" charset="-122"/>
                <a:cs typeface="Calibri" pitchFamily="34" charset="-120"/>
              </a:rPr>
              <a:t>JWT Auth</a:t>
            </a:r>
            <a:endParaRPr lang="en-US" sz="850" dirty="0"/>
          </a:p>
        </p:txBody>
      </p:sp>
      <p:sp>
        <p:nvSpPr>
          <p:cNvPr id="23" name="Text 18"/>
          <p:cNvSpPr/>
          <p:nvPr/>
        </p:nvSpPr>
        <p:spPr>
          <a:xfrm>
            <a:off x="7278624" y="1298448"/>
            <a:ext cx="1481328" cy="402336"/>
          </a:xfrm>
          <a:prstGeom prst="rect">
            <a:avLst/>
          </a:prstGeom>
          <a:noFill/>
          <a:ln/>
        </p:spPr>
        <p:txBody>
          <a:bodyPr wrap="square" lIns="0" tIns="0" rIns="0" bIns="0" rtlCol="0" anchor="ctr"/>
          <a:lstStyle/>
          <a:p>
            <a:pPr indent="0" marL="0">
              <a:buNone/>
            </a:pPr>
            <a:r>
              <a:rPr lang="en-US" sz="700" dirty="0">
                <a:solidFill>
                  <a:srgbClr val="99B8CC"/>
                </a:solidFill>
                <a:latin typeface="Calibri" pitchFamily="34" charset="0"/>
                <a:ea typeface="Calibri" pitchFamily="34" charset="-122"/>
                <a:cs typeface="Calibri" pitchFamily="34" charset="-120"/>
              </a:rPr>
              <a:t>HMAC-SHA256</a:t>
            </a:r>
            <a:endParaRPr lang="en-US" sz="700" dirty="0"/>
          </a:p>
          <a:p>
            <a:pPr indent="0" marL="0">
              <a:buNone/>
            </a:pPr>
            <a:r>
              <a:rPr lang="en-US" sz="700" dirty="0">
                <a:solidFill>
                  <a:srgbClr val="99B8CC"/>
                </a:solidFill>
                <a:latin typeface="Calibri" pitchFamily="34" charset="0"/>
                <a:ea typeface="Calibri" pitchFamily="34" charset="-122"/>
                <a:cs typeface="Calibri" pitchFamily="34" charset="-120"/>
              </a:rPr>
              <a:t>30min access + 7d refresh</a:t>
            </a:r>
            <a:endParaRPr lang="en-US" sz="700" dirty="0"/>
          </a:p>
        </p:txBody>
      </p:sp>
      <p:sp>
        <p:nvSpPr>
          <p:cNvPr id="24" name="Shape 19"/>
          <p:cNvSpPr/>
          <p:nvPr/>
        </p:nvSpPr>
        <p:spPr>
          <a:xfrm>
            <a:off x="4315968" y="1801368"/>
            <a:ext cx="512064" cy="54864"/>
          </a:xfrm>
          <a:prstGeom prst="rect">
            <a:avLst/>
          </a:prstGeom>
          <a:solidFill>
            <a:srgbClr val="06B6D4"/>
          </a:solidFill>
          <a:ln w="12700">
            <a:solidFill>
              <a:srgbClr val="06B6D4"/>
            </a:solidFill>
            <a:prstDash val="solid"/>
          </a:ln>
        </p:spPr>
      </p:sp>
      <p:sp>
        <p:nvSpPr>
          <p:cNvPr id="25" name="Shape 20"/>
          <p:cNvSpPr/>
          <p:nvPr/>
        </p:nvSpPr>
        <p:spPr>
          <a:xfrm>
            <a:off x="4517136" y="1801368"/>
            <a:ext cx="109728" cy="164592"/>
          </a:xfrm>
          <a:prstGeom prst="rect">
            <a:avLst/>
          </a:prstGeom>
          <a:solidFill>
            <a:srgbClr val="06B6D4"/>
          </a:solidFill>
          <a:ln w="12700">
            <a:solidFill>
              <a:srgbClr val="06B6D4"/>
            </a:solidFill>
            <a:prstDash val="solid"/>
          </a:ln>
        </p:spPr>
      </p:sp>
      <p:sp>
        <p:nvSpPr>
          <p:cNvPr id="26" name="Text 21"/>
          <p:cNvSpPr/>
          <p:nvPr/>
        </p:nvSpPr>
        <p:spPr>
          <a:xfrm>
            <a:off x="2926080" y="1792224"/>
            <a:ext cx="3291840" cy="164592"/>
          </a:xfrm>
          <a:prstGeom prst="rect">
            <a:avLst/>
          </a:prstGeom>
          <a:noFill/>
          <a:ln/>
        </p:spPr>
        <p:txBody>
          <a:bodyPr wrap="square" lIns="0" tIns="0" rIns="0" bIns="0" rtlCol="0" anchor="ctr"/>
          <a:lstStyle/>
          <a:p>
            <a:pPr algn="ctr" indent="0" marL="0">
              <a:buNone/>
            </a:pPr>
            <a:r>
              <a:rPr lang="en-US" sz="700" i="1" dirty="0">
                <a:solidFill>
                  <a:srgbClr val="7A95A8"/>
                </a:solidFill>
                <a:latin typeface="Calibri" pitchFamily="34" charset="0"/>
                <a:ea typeface="Calibri" pitchFamily="34" charset="-122"/>
                <a:cs typeface="Calibri" pitchFamily="34" charset="-120"/>
              </a:rPr>
              <a:t>HTTPS / REST API calls</a:t>
            </a:r>
            <a:endParaRPr lang="en-US" sz="700" dirty="0"/>
          </a:p>
        </p:txBody>
      </p:sp>
      <p:sp>
        <p:nvSpPr>
          <p:cNvPr id="27" name="Shape 22"/>
          <p:cNvSpPr/>
          <p:nvPr/>
        </p:nvSpPr>
        <p:spPr>
          <a:xfrm>
            <a:off x="201168" y="1993392"/>
            <a:ext cx="512064" cy="786384"/>
          </a:xfrm>
          <a:prstGeom prst="rect">
            <a:avLst/>
          </a:prstGeom>
          <a:solidFill>
            <a:srgbClr val="0D7C8F"/>
          </a:solidFill>
          <a:ln w="12700">
            <a:solidFill>
              <a:srgbClr val="0D7C8F"/>
            </a:solidFill>
            <a:prstDash val="solid"/>
          </a:ln>
        </p:spPr>
      </p:sp>
      <p:sp>
        <p:nvSpPr>
          <p:cNvPr id="28" name="Text 23"/>
          <p:cNvSpPr/>
          <p:nvPr/>
        </p:nvSpPr>
        <p:spPr>
          <a:xfrm>
            <a:off x="201168" y="1993392"/>
            <a:ext cx="512064" cy="786384"/>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API &amp;</a:t>
            </a:r>
            <a:endParaRPr lang="en-US" sz="650" dirty="0"/>
          </a:p>
          <a:p>
            <a:pPr algn="ctr" indent="0" marL="0">
              <a:buNone/>
            </a:pPr>
            <a:r>
              <a:rPr lang="en-US" sz="650" b="1" dirty="0">
                <a:solidFill>
                  <a:srgbClr val="FFFFFF"/>
                </a:solidFill>
                <a:latin typeface="Calibri" pitchFamily="34" charset="0"/>
                <a:ea typeface="Calibri" pitchFamily="34" charset="-122"/>
                <a:cs typeface="Calibri" pitchFamily="34" charset="-120"/>
              </a:rPr>
              <a:t>CACHE</a:t>
            </a:r>
            <a:endParaRPr lang="en-US" sz="650" dirty="0"/>
          </a:p>
        </p:txBody>
      </p:sp>
      <p:sp>
        <p:nvSpPr>
          <p:cNvPr id="29" name="Shape 24"/>
          <p:cNvSpPr/>
          <p:nvPr/>
        </p:nvSpPr>
        <p:spPr>
          <a:xfrm>
            <a:off x="822960" y="2020824"/>
            <a:ext cx="3749040" cy="731520"/>
          </a:xfrm>
          <a:prstGeom prst="rect">
            <a:avLst/>
          </a:prstGeom>
          <a:solidFill>
            <a:srgbClr val="FFFFFF"/>
          </a:solidFill>
          <a:ln w="19050">
            <a:solidFill>
              <a:srgbClr val="0D7C8F"/>
            </a:solidFill>
            <a:prstDash val="solid"/>
          </a:ln>
        </p:spPr>
      </p:sp>
      <p:pic>
        <p:nvPicPr>
          <p:cNvPr id="30" name="Image 3" descr="preencoded.png">    </p:cNvPr>
          <p:cNvPicPr>
            <a:picLocks noChangeAspect="1"/>
          </p:cNvPicPr>
          <p:nvPr/>
        </p:nvPicPr>
        <p:blipFill>
          <a:blip r:embed="rId4"/>
          <a:stretch>
            <a:fillRect/>
          </a:stretch>
        </p:blipFill>
        <p:spPr>
          <a:xfrm>
            <a:off x="914400" y="2121408"/>
            <a:ext cx="274320" cy="274320"/>
          </a:xfrm>
          <a:prstGeom prst="rect">
            <a:avLst/>
          </a:prstGeom>
        </p:spPr>
      </p:pic>
      <p:sp>
        <p:nvSpPr>
          <p:cNvPr id="31" name="Text 25"/>
          <p:cNvSpPr/>
          <p:nvPr/>
        </p:nvSpPr>
        <p:spPr>
          <a:xfrm>
            <a:off x="1243584" y="2057400"/>
            <a:ext cx="3218688" cy="219456"/>
          </a:xfrm>
          <a:prstGeom prst="rect">
            <a:avLst/>
          </a:prstGeom>
          <a:noFill/>
          <a:ln/>
        </p:spPr>
        <p:txBody>
          <a:bodyPr wrap="square" lIns="0" tIns="0" rIns="0" bIns="0" rtlCol="0" anchor="ctr"/>
          <a:lstStyle/>
          <a:p>
            <a:pPr indent="0" marL="0">
              <a:buNone/>
            </a:pPr>
            <a:r>
              <a:rPr lang="en-US" sz="900" b="1" dirty="0">
                <a:solidFill>
                  <a:srgbClr val="0A1931"/>
                </a:solidFill>
                <a:latin typeface="Calibri" pitchFamily="34" charset="0"/>
                <a:ea typeface="Calibri" pitchFamily="34" charset="-122"/>
                <a:cs typeface="Calibri" pitchFamily="34" charset="-120"/>
              </a:rPr>
              <a:t>FastAPI 0.115.0  ·  Render.com (Docker + CI)</a:t>
            </a:r>
            <a:endParaRPr lang="en-US" sz="900" dirty="0"/>
          </a:p>
        </p:txBody>
      </p:sp>
      <p:sp>
        <p:nvSpPr>
          <p:cNvPr id="32" name="Text 26"/>
          <p:cNvSpPr/>
          <p:nvPr/>
        </p:nvSpPr>
        <p:spPr>
          <a:xfrm>
            <a:off x="1243584" y="2276856"/>
            <a:ext cx="3218688" cy="402336"/>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Python 3.12  ·  Uvicorn ASGI  ·  15 REST endpoints  ·  Pydantic validation  ·  keep-alive task</a:t>
            </a:r>
            <a:endParaRPr lang="en-US" sz="750" dirty="0"/>
          </a:p>
        </p:txBody>
      </p:sp>
      <p:sp>
        <p:nvSpPr>
          <p:cNvPr id="33" name="Shape 27"/>
          <p:cNvSpPr/>
          <p:nvPr/>
        </p:nvSpPr>
        <p:spPr>
          <a:xfrm>
            <a:off x="4773168" y="2020824"/>
            <a:ext cx="2596896" cy="731520"/>
          </a:xfrm>
          <a:prstGeom prst="rect">
            <a:avLst/>
          </a:prstGeom>
          <a:solidFill>
            <a:srgbClr val="FFFFFF"/>
          </a:solidFill>
          <a:ln w="19050">
            <a:solidFill>
              <a:srgbClr val="F59E0B"/>
            </a:solidFill>
            <a:prstDash val="solid"/>
          </a:ln>
        </p:spPr>
      </p:sp>
      <p:pic>
        <p:nvPicPr>
          <p:cNvPr id="34" name="Image 4" descr="preencoded.png">    </p:cNvPr>
          <p:cNvPicPr>
            <a:picLocks noChangeAspect="1"/>
          </p:cNvPicPr>
          <p:nvPr/>
        </p:nvPicPr>
        <p:blipFill>
          <a:blip r:embed="rId5"/>
          <a:stretch>
            <a:fillRect/>
          </a:stretch>
        </p:blipFill>
        <p:spPr>
          <a:xfrm>
            <a:off x="4864608" y="2121408"/>
            <a:ext cx="274320" cy="274320"/>
          </a:xfrm>
          <a:prstGeom prst="rect">
            <a:avLst/>
          </a:prstGeom>
        </p:spPr>
      </p:pic>
      <p:sp>
        <p:nvSpPr>
          <p:cNvPr id="35" name="Text 28"/>
          <p:cNvSpPr/>
          <p:nvPr/>
        </p:nvSpPr>
        <p:spPr>
          <a:xfrm>
            <a:off x="5193792" y="2057400"/>
            <a:ext cx="2103120" cy="219456"/>
          </a:xfrm>
          <a:prstGeom prst="rect">
            <a:avLst/>
          </a:prstGeom>
          <a:noFill/>
          <a:ln/>
        </p:spPr>
        <p:txBody>
          <a:bodyPr wrap="square" lIns="0" tIns="0" rIns="0" bIns="0" rtlCol="0" anchor="ctr"/>
          <a:lstStyle/>
          <a:p>
            <a:pPr indent="0" marL="0">
              <a:buNone/>
            </a:pPr>
            <a:r>
              <a:rPr lang="en-US" sz="900" b="1" dirty="0">
                <a:solidFill>
                  <a:srgbClr val="0A1931"/>
                </a:solidFill>
                <a:latin typeface="Calibri" pitchFamily="34" charset="0"/>
                <a:ea typeface="Calibri" pitchFamily="34" charset="-122"/>
                <a:cs typeface="Calibri" pitchFamily="34" charset="-120"/>
              </a:rPr>
              <a:t>Upstash Redis  (Cache-aside)</a:t>
            </a:r>
            <a:endParaRPr lang="en-US" sz="900" dirty="0"/>
          </a:p>
        </p:txBody>
      </p:sp>
      <p:sp>
        <p:nvSpPr>
          <p:cNvPr id="36" name="Text 29"/>
          <p:cNvSpPr/>
          <p:nvPr/>
        </p:nvSpPr>
        <p:spPr>
          <a:xfrm>
            <a:off x="5193792" y="2276856"/>
            <a:ext cx="2103120" cy="402336"/>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43ms HIT  ·  847ms MISS</a:t>
            </a:r>
            <a:endParaRPr lang="en-US" sz="750" dirty="0"/>
          </a:p>
          <a:p>
            <a:pPr indent="0" marL="0">
              <a:buNone/>
            </a:pPr>
            <a:r>
              <a:rPr lang="en-US" sz="750" dirty="0">
                <a:solidFill>
                  <a:srgbClr val="3A5068"/>
                </a:solidFill>
                <a:latin typeface="Calibri" pitchFamily="34" charset="0"/>
                <a:ea typeface="Calibri" pitchFamily="34" charset="-122"/>
                <a:cs typeface="Calibri" pitchFamily="34" charset="-120"/>
              </a:rPr>
              <a:t>~20x latency improvement</a:t>
            </a:r>
            <a:endParaRPr lang="en-US" sz="750" dirty="0"/>
          </a:p>
        </p:txBody>
      </p:sp>
      <p:sp>
        <p:nvSpPr>
          <p:cNvPr id="37" name="Shape 30"/>
          <p:cNvSpPr/>
          <p:nvPr/>
        </p:nvSpPr>
        <p:spPr>
          <a:xfrm>
            <a:off x="4315968" y="2834640"/>
            <a:ext cx="512064" cy="54864"/>
          </a:xfrm>
          <a:prstGeom prst="rect">
            <a:avLst/>
          </a:prstGeom>
          <a:solidFill>
            <a:srgbClr val="06B6D4"/>
          </a:solidFill>
          <a:ln w="12700">
            <a:solidFill>
              <a:srgbClr val="06B6D4"/>
            </a:solidFill>
            <a:prstDash val="solid"/>
          </a:ln>
        </p:spPr>
      </p:sp>
      <p:sp>
        <p:nvSpPr>
          <p:cNvPr id="38" name="Shape 31"/>
          <p:cNvSpPr/>
          <p:nvPr/>
        </p:nvSpPr>
        <p:spPr>
          <a:xfrm>
            <a:off x="4517136" y="2834640"/>
            <a:ext cx="109728" cy="164592"/>
          </a:xfrm>
          <a:prstGeom prst="rect">
            <a:avLst/>
          </a:prstGeom>
          <a:solidFill>
            <a:srgbClr val="06B6D4"/>
          </a:solidFill>
          <a:ln w="12700">
            <a:solidFill>
              <a:srgbClr val="06B6D4"/>
            </a:solidFill>
            <a:prstDash val="solid"/>
          </a:ln>
        </p:spPr>
      </p:sp>
      <p:sp>
        <p:nvSpPr>
          <p:cNvPr id="39" name="Text 32"/>
          <p:cNvSpPr/>
          <p:nvPr/>
        </p:nvSpPr>
        <p:spPr>
          <a:xfrm>
            <a:off x="2926080" y="2825496"/>
            <a:ext cx="3291840" cy="164592"/>
          </a:xfrm>
          <a:prstGeom prst="rect">
            <a:avLst/>
          </a:prstGeom>
          <a:noFill/>
          <a:ln/>
        </p:spPr>
        <p:txBody>
          <a:bodyPr wrap="square" lIns="0" tIns="0" rIns="0" bIns="0" rtlCol="0" anchor="ctr"/>
          <a:lstStyle/>
          <a:p>
            <a:pPr algn="ctr" indent="0" marL="0">
              <a:buNone/>
            </a:pPr>
            <a:r>
              <a:rPr lang="en-US" sz="700" i="1" dirty="0">
                <a:solidFill>
                  <a:srgbClr val="7A95A8"/>
                </a:solidFill>
                <a:latin typeface="Calibri" pitchFamily="34" charset="0"/>
                <a:ea typeface="Calibri" pitchFamily="34" charset="-122"/>
                <a:cs typeface="Calibri" pitchFamily="34" charset="-120"/>
              </a:rPr>
              <a:t>ML inference + LLM calls</a:t>
            </a:r>
            <a:endParaRPr lang="en-US" sz="700" dirty="0"/>
          </a:p>
        </p:txBody>
      </p:sp>
      <p:sp>
        <p:nvSpPr>
          <p:cNvPr id="40" name="Shape 33"/>
          <p:cNvSpPr/>
          <p:nvPr/>
        </p:nvSpPr>
        <p:spPr>
          <a:xfrm>
            <a:off x="201168" y="3017520"/>
            <a:ext cx="512064" cy="1024128"/>
          </a:xfrm>
          <a:prstGeom prst="rect">
            <a:avLst/>
          </a:prstGeom>
          <a:solidFill>
            <a:srgbClr val="0EA5C0"/>
          </a:solidFill>
          <a:ln w="12700">
            <a:solidFill>
              <a:srgbClr val="0EA5C0"/>
            </a:solidFill>
            <a:prstDash val="solid"/>
          </a:ln>
        </p:spPr>
      </p:sp>
      <p:sp>
        <p:nvSpPr>
          <p:cNvPr id="41" name="Text 34"/>
          <p:cNvSpPr/>
          <p:nvPr/>
        </p:nvSpPr>
        <p:spPr>
          <a:xfrm>
            <a:off x="201168" y="3017520"/>
            <a:ext cx="512064" cy="102412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AI /</a:t>
            </a:r>
            <a:endParaRPr lang="en-US" sz="650" dirty="0"/>
          </a:p>
          <a:p>
            <a:pPr algn="ctr" indent="0" marL="0">
              <a:buNone/>
            </a:pPr>
            <a:r>
              <a:rPr lang="en-US" sz="650" b="1" dirty="0">
                <a:solidFill>
                  <a:srgbClr val="FFFFFF"/>
                </a:solidFill>
                <a:latin typeface="Calibri" pitchFamily="34" charset="0"/>
                <a:ea typeface="Calibri" pitchFamily="34" charset="-122"/>
                <a:cs typeface="Calibri" pitchFamily="34" charset="-120"/>
              </a:rPr>
              <a:t>ML</a:t>
            </a:r>
            <a:endParaRPr lang="en-US" sz="650" dirty="0"/>
          </a:p>
        </p:txBody>
      </p:sp>
      <p:sp>
        <p:nvSpPr>
          <p:cNvPr id="42" name="Shape 35"/>
          <p:cNvSpPr/>
          <p:nvPr/>
        </p:nvSpPr>
        <p:spPr>
          <a:xfrm>
            <a:off x="822960" y="3044952"/>
            <a:ext cx="1975104" cy="969264"/>
          </a:xfrm>
          <a:prstGeom prst="rect">
            <a:avLst/>
          </a:prstGeom>
          <a:solidFill>
            <a:srgbClr val="0D7C8F"/>
          </a:solidFill>
          <a:ln w="12700">
            <a:solidFill>
              <a:srgbClr val="0D7C8F"/>
            </a:solidFill>
            <a:prstDash val="solid"/>
          </a:ln>
        </p:spPr>
      </p:sp>
      <p:pic>
        <p:nvPicPr>
          <p:cNvPr id="43" name="Image 5" descr="preencoded.png">    </p:cNvPr>
          <p:cNvPicPr>
            <a:picLocks noChangeAspect="1"/>
          </p:cNvPicPr>
          <p:nvPr/>
        </p:nvPicPr>
        <p:blipFill>
          <a:blip r:embed="rId6"/>
          <a:stretch>
            <a:fillRect/>
          </a:stretch>
        </p:blipFill>
        <p:spPr>
          <a:xfrm>
            <a:off x="877824" y="3090672"/>
            <a:ext cx="274320" cy="274320"/>
          </a:xfrm>
          <a:prstGeom prst="rect">
            <a:avLst/>
          </a:prstGeom>
        </p:spPr>
      </p:pic>
      <p:sp>
        <p:nvSpPr>
          <p:cNvPr id="44" name="Text 36"/>
          <p:cNvSpPr/>
          <p:nvPr/>
        </p:nvSpPr>
        <p:spPr>
          <a:xfrm>
            <a:off x="1207008" y="3072384"/>
            <a:ext cx="1517904" cy="384048"/>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LightGBM 4.3</a:t>
            </a:r>
            <a:endParaRPr lang="en-US" sz="850" dirty="0"/>
          </a:p>
          <a:p>
            <a:pPr indent="0" marL="0">
              <a:buNone/>
            </a:pPr>
            <a:r>
              <a:rPr lang="en-US" sz="850" b="1" dirty="0">
                <a:solidFill>
                  <a:srgbClr val="FFFFFF"/>
                </a:solidFill>
                <a:latin typeface="Calibri" pitchFamily="34" charset="0"/>
                <a:ea typeface="Calibri" pitchFamily="34" charset="-122"/>
                <a:cs typeface="Calibri" pitchFamily="34" charset="-120"/>
              </a:rPr>
              <a:t>+ CatBoost 1.2.5</a:t>
            </a:r>
            <a:endParaRPr lang="en-US" sz="850" dirty="0"/>
          </a:p>
        </p:txBody>
      </p:sp>
      <p:sp>
        <p:nvSpPr>
          <p:cNvPr id="45" name="Text 37"/>
          <p:cNvSpPr/>
          <p:nvPr/>
        </p:nvSpPr>
        <p:spPr>
          <a:xfrm>
            <a:off x="877824" y="3456432"/>
            <a:ext cx="1828800" cy="493776"/>
          </a:xfrm>
          <a:prstGeom prst="rect">
            <a:avLst/>
          </a:prstGeom>
          <a:noFill/>
          <a:ln/>
        </p:spPr>
        <p:txBody>
          <a:bodyPr wrap="square" lIns="0" tIns="0" rIns="0" bIns="0" rtlCol="0" anchor="ctr"/>
          <a:lstStyle/>
          <a:p>
            <a:pPr indent="0" marL="0">
              <a:buNone/>
            </a:pPr>
            <a:r>
              <a:rPr lang="en-US" sz="750" dirty="0">
                <a:solidFill>
                  <a:srgbClr val="D8EEFA"/>
                </a:solidFill>
                <a:latin typeface="Calibri" pitchFamily="34" charset="0"/>
                <a:ea typeface="Calibri" pitchFamily="34" charset="-122"/>
                <a:cs typeface="Calibri" pitchFamily="34" charset="-120"/>
              </a:rPr>
              <a:t>Ensemble Classifier</a:t>
            </a:r>
            <a:endParaRPr lang="en-US" sz="750" dirty="0"/>
          </a:p>
          <a:p>
            <a:pPr indent="0" marL="0">
              <a:buNone/>
            </a:pPr>
            <a:r>
              <a:rPr lang="en-US" sz="750" dirty="0">
                <a:solidFill>
                  <a:srgbClr val="D8EEFA"/>
                </a:solidFill>
                <a:latin typeface="Calibri" pitchFamily="34" charset="0"/>
                <a:ea typeface="Calibri" pitchFamily="34" charset="-122"/>
                <a:cs typeface="Calibri" pitchFamily="34" charset="-120"/>
              </a:rPr>
              <a:t>AUC-ROC: 0.83 · Brier: 0.14</a:t>
            </a:r>
            <a:endParaRPr lang="en-US" sz="750" dirty="0"/>
          </a:p>
        </p:txBody>
      </p:sp>
      <p:sp>
        <p:nvSpPr>
          <p:cNvPr id="46" name="Shape 38"/>
          <p:cNvSpPr/>
          <p:nvPr/>
        </p:nvSpPr>
        <p:spPr>
          <a:xfrm>
            <a:off x="2907792" y="3044952"/>
            <a:ext cx="1975104" cy="969264"/>
          </a:xfrm>
          <a:prstGeom prst="rect">
            <a:avLst/>
          </a:prstGeom>
          <a:solidFill>
            <a:srgbClr val="0A1931"/>
          </a:solidFill>
          <a:ln w="12700">
            <a:solidFill>
              <a:srgbClr val="0A1931"/>
            </a:solidFill>
            <a:prstDash val="solid"/>
          </a:ln>
        </p:spPr>
      </p:sp>
      <p:pic>
        <p:nvPicPr>
          <p:cNvPr id="47" name="Image 6" descr="preencoded.png">    </p:cNvPr>
          <p:cNvPicPr>
            <a:picLocks noChangeAspect="1"/>
          </p:cNvPicPr>
          <p:nvPr/>
        </p:nvPicPr>
        <p:blipFill>
          <a:blip r:embed="rId7"/>
          <a:stretch>
            <a:fillRect/>
          </a:stretch>
        </p:blipFill>
        <p:spPr>
          <a:xfrm>
            <a:off x="2962656" y="3090672"/>
            <a:ext cx="274320" cy="274320"/>
          </a:xfrm>
          <a:prstGeom prst="rect">
            <a:avLst/>
          </a:prstGeom>
        </p:spPr>
      </p:pic>
      <p:sp>
        <p:nvSpPr>
          <p:cNvPr id="48" name="Text 39"/>
          <p:cNvSpPr/>
          <p:nvPr/>
        </p:nvSpPr>
        <p:spPr>
          <a:xfrm>
            <a:off x="3291840" y="3072384"/>
            <a:ext cx="1517904" cy="384048"/>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Cox PH Model</a:t>
            </a:r>
            <a:endParaRPr lang="en-US" sz="850" dirty="0"/>
          </a:p>
          <a:p>
            <a:pPr indent="0" marL="0">
              <a:buNone/>
            </a:pPr>
            <a:r>
              <a:rPr lang="en-US" sz="850" b="1" dirty="0">
                <a:solidFill>
                  <a:srgbClr val="FFFFFF"/>
                </a:solidFill>
                <a:latin typeface="Calibri" pitchFamily="34" charset="0"/>
                <a:ea typeface="Calibri" pitchFamily="34" charset="-122"/>
                <a:cs typeface="Calibri" pitchFamily="34" charset="-120"/>
              </a:rPr>
              <a:t>(lifelines 0.29)</a:t>
            </a:r>
            <a:endParaRPr lang="en-US" sz="850" dirty="0"/>
          </a:p>
        </p:txBody>
      </p:sp>
      <p:sp>
        <p:nvSpPr>
          <p:cNvPr id="49" name="Text 40"/>
          <p:cNvSpPr/>
          <p:nvPr/>
        </p:nvSpPr>
        <p:spPr>
          <a:xfrm>
            <a:off x="2962656" y="3456432"/>
            <a:ext cx="1828800" cy="493776"/>
          </a:xfrm>
          <a:prstGeom prst="rect">
            <a:avLst/>
          </a:prstGeom>
          <a:noFill/>
          <a:ln/>
        </p:spPr>
        <p:txBody>
          <a:bodyPr wrap="square" lIns="0" tIns="0" rIns="0" bIns="0" rtlCol="0" anchor="ctr"/>
          <a:lstStyle/>
          <a:p>
            <a:pPr indent="0" marL="0">
              <a:buNone/>
            </a:pPr>
            <a:r>
              <a:rPr lang="en-US" sz="750" dirty="0">
                <a:solidFill>
                  <a:srgbClr val="D8EEFA"/>
                </a:solidFill>
                <a:latin typeface="Calibri" pitchFamily="34" charset="0"/>
                <a:ea typeface="Calibri" pitchFamily="34" charset="-122"/>
                <a:cs typeface="Calibri" pitchFamily="34" charset="-120"/>
              </a:rPr>
              <a:t>Survival Curves</a:t>
            </a:r>
            <a:endParaRPr lang="en-US" sz="750" dirty="0"/>
          </a:p>
          <a:p>
            <a:pPr indent="0" marL="0">
              <a:buNone/>
            </a:pPr>
            <a:r>
              <a:rPr lang="en-US" sz="750" dirty="0">
                <a:solidFill>
                  <a:srgbClr val="D8EEFA"/>
                </a:solidFill>
                <a:latin typeface="Calibri" pitchFamily="34" charset="0"/>
                <a:ea typeface="Calibri" pitchFamily="34" charset="-122"/>
                <a:cs typeface="Calibri" pitchFamily="34" charset="-120"/>
              </a:rPr>
              <a:t>Median time-to-failure</a:t>
            </a:r>
            <a:endParaRPr lang="en-US" sz="750" dirty="0"/>
          </a:p>
        </p:txBody>
      </p:sp>
      <p:sp>
        <p:nvSpPr>
          <p:cNvPr id="50" name="Shape 41"/>
          <p:cNvSpPr/>
          <p:nvPr/>
        </p:nvSpPr>
        <p:spPr>
          <a:xfrm>
            <a:off x="4992624" y="3044952"/>
            <a:ext cx="1975104" cy="969264"/>
          </a:xfrm>
          <a:prstGeom prst="rect">
            <a:avLst/>
          </a:prstGeom>
          <a:solidFill>
            <a:srgbClr val="B45309"/>
          </a:solidFill>
          <a:ln w="12700">
            <a:solidFill>
              <a:srgbClr val="B45309"/>
            </a:solidFill>
            <a:prstDash val="solid"/>
          </a:ln>
        </p:spPr>
      </p:sp>
      <p:pic>
        <p:nvPicPr>
          <p:cNvPr id="51" name="Image 7" descr="preencoded.png">    </p:cNvPr>
          <p:cNvPicPr>
            <a:picLocks noChangeAspect="1"/>
          </p:cNvPicPr>
          <p:nvPr/>
        </p:nvPicPr>
        <p:blipFill>
          <a:blip r:embed="rId8"/>
          <a:stretch>
            <a:fillRect/>
          </a:stretch>
        </p:blipFill>
        <p:spPr>
          <a:xfrm>
            <a:off x="5047488" y="3090672"/>
            <a:ext cx="274320" cy="274320"/>
          </a:xfrm>
          <a:prstGeom prst="rect">
            <a:avLst/>
          </a:prstGeom>
        </p:spPr>
      </p:pic>
      <p:sp>
        <p:nvSpPr>
          <p:cNvPr id="52" name="Text 42"/>
          <p:cNvSpPr/>
          <p:nvPr/>
        </p:nvSpPr>
        <p:spPr>
          <a:xfrm>
            <a:off x="5376672" y="3072384"/>
            <a:ext cx="1517904" cy="384048"/>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XGBoost 2.0</a:t>
            </a:r>
            <a:endParaRPr lang="en-US" sz="850" dirty="0"/>
          </a:p>
          <a:p>
            <a:pPr indent="0" marL="0">
              <a:buNone/>
            </a:pPr>
            <a:r>
              <a:rPr lang="en-US" sz="850" b="1" dirty="0">
                <a:solidFill>
                  <a:srgbClr val="FFFFFF"/>
                </a:solidFill>
                <a:latin typeface="Calibri" pitchFamily="34" charset="0"/>
                <a:ea typeface="Calibri" pitchFamily="34" charset="-122"/>
                <a:cs typeface="Calibri" pitchFamily="34" charset="-120"/>
              </a:rPr>
              <a:t>+ SHAP 0.45</a:t>
            </a:r>
            <a:endParaRPr lang="en-US" sz="850" dirty="0"/>
          </a:p>
        </p:txBody>
      </p:sp>
      <p:sp>
        <p:nvSpPr>
          <p:cNvPr id="53" name="Text 43"/>
          <p:cNvSpPr/>
          <p:nvPr/>
        </p:nvSpPr>
        <p:spPr>
          <a:xfrm>
            <a:off x="5047488" y="3456432"/>
            <a:ext cx="1828800" cy="493776"/>
          </a:xfrm>
          <a:prstGeom prst="rect">
            <a:avLst/>
          </a:prstGeom>
          <a:noFill/>
          <a:ln/>
        </p:spPr>
        <p:txBody>
          <a:bodyPr wrap="square" lIns="0" tIns="0" rIns="0" bIns="0" rtlCol="0" anchor="ctr"/>
          <a:lstStyle/>
          <a:p>
            <a:pPr indent="0" marL="0">
              <a:buNone/>
            </a:pPr>
            <a:r>
              <a:rPr lang="en-US" sz="750" dirty="0">
                <a:solidFill>
                  <a:srgbClr val="D8EEFA"/>
                </a:solidFill>
                <a:latin typeface="Calibri" pitchFamily="34" charset="0"/>
                <a:ea typeface="Calibri" pitchFamily="34" charset="-122"/>
                <a:cs typeface="Calibri" pitchFamily="34" charset="-120"/>
              </a:rPr>
              <a:t>Profit Regressor</a:t>
            </a:r>
            <a:endParaRPr lang="en-US" sz="750" dirty="0"/>
          </a:p>
          <a:p>
            <a:pPr indent="0" marL="0">
              <a:buNone/>
            </a:pPr>
            <a:r>
              <a:rPr lang="en-US" sz="750" dirty="0">
                <a:solidFill>
                  <a:srgbClr val="D8EEFA"/>
                </a:solidFill>
                <a:latin typeface="Calibri" pitchFamily="34" charset="0"/>
                <a:ea typeface="Calibri" pitchFamily="34" charset="-122"/>
                <a:cs typeface="Calibri" pitchFamily="34" charset="-120"/>
              </a:rPr>
              <a:t>Top-5 feature explanations</a:t>
            </a:r>
            <a:endParaRPr lang="en-US" sz="750" dirty="0"/>
          </a:p>
        </p:txBody>
      </p:sp>
      <p:sp>
        <p:nvSpPr>
          <p:cNvPr id="54" name="Shape 44"/>
          <p:cNvSpPr/>
          <p:nvPr/>
        </p:nvSpPr>
        <p:spPr>
          <a:xfrm>
            <a:off x="7077456" y="3044952"/>
            <a:ext cx="1975104" cy="969264"/>
          </a:xfrm>
          <a:prstGeom prst="rect">
            <a:avLst/>
          </a:prstGeom>
          <a:solidFill>
            <a:srgbClr val="DC2626"/>
          </a:solidFill>
          <a:ln w="12700">
            <a:solidFill>
              <a:srgbClr val="DC2626"/>
            </a:solidFill>
            <a:prstDash val="solid"/>
          </a:ln>
        </p:spPr>
      </p:sp>
      <p:pic>
        <p:nvPicPr>
          <p:cNvPr id="55" name="Image 8" descr="preencoded.png">    </p:cNvPr>
          <p:cNvPicPr>
            <a:picLocks noChangeAspect="1"/>
          </p:cNvPicPr>
          <p:nvPr/>
        </p:nvPicPr>
        <p:blipFill>
          <a:blip r:embed="rId9"/>
          <a:stretch>
            <a:fillRect/>
          </a:stretch>
        </p:blipFill>
        <p:spPr>
          <a:xfrm>
            <a:off x="7132320" y="3090672"/>
            <a:ext cx="274320" cy="274320"/>
          </a:xfrm>
          <a:prstGeom prst="rect">
            <a:avLst/>
          </a:prstGeom>
        </p:spPr>
      </p:pic>
      <p:sp>
        <p:nvSpPr>
          <p:cNvPr id="56" name="Text 45"/>
          <p:cNvSpPr/>
          <p:nvPr/>
        </p:nvSpPr>
        <p:spPr>
          <a:xfrm>
            <a:off x="7461504" y="3072384"/>
            <a:ext cx="1517904" cy="384048"/>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Groq API</a:t>
            </a:r>
            <a:endParaRPr lang="en-US" sz="850" dirty="0"/>
          </a:p>
          <a:p>
            <a:pPr indent="0" marL="0">
              <a:buNone/>
            </a:pPr>
            <a:r>
              <a:rPr lang="en-US" sz="850" b="1" dirty="0">
                <a:solidFill>
                  <a:srgbClr val="FFFFFF"/>
                </a:solidFill>
                <a:latin typeface="Calibri" pitchFamily="34" charset="0"/>
                <a:ea typeface="Calibri" pitchFamily="34" charset="-122"/>
                <a:cs typeface="Calibri" pitchFamily="34" charset="-120"/>
              </a:rPr>
              <a:t>llama-3.3-70b</a:t>
            </a:r>
            <a:endParaRPr lang="en-US" sz="850" dirty="0"/>
          </a:p>
        </p:txBody>
      </p:sp>
      <p:sp>
        <p:nvSpPr>
          <p:cNvPr id="57" name="Text 46"/>
          <p:cNvSpPr/>
          <p:nvPr/>
        </p:nvSpPr>
        <p:spPr>
          <a:xfrm>
            <a:off x="7132320" y="3456432"/>
            <a:ext cx="1828800" cy="493776"/>
          </a:xfrm>
          <a:prstGeom prst="rect">
            <a:avLst/>
          </a:prstGeom>
          <a:noFill/>
          <a:ln/>
        </p:spPr>
        <p:txBody>
          <a:bodyPr wrap="square" lIns="0" tIns="0" rIns="0" bIns="0" rtlCol="0" anchor="ctr"/>
          <a:lstStyle/>
          <a:p>
            <a:pPr indent="0" marL="0">
              <a:buNone/>
            </a:pPr>
            <a:r>
              <a:rPr lang="en-US" sz="750" dirty="0">
                <a:solidFill>
                  <a:srgbClr val="D8EEFA"/>
                </a:solidFill>
                <a:latin typeface="Calibri" pitchFamily="34" charset="0"/>
                <a:ea typeface="Calibri" pitchFamily="34" charset="-122"/>
                <a:cs typeface="Calibri" pitchFamily="34" charset="-120"/>
              </a:rPr>
              <a:t>LLM Advisory</a:t>
            </a:r>
            <a:endParaRPr lang="en-US" sz="750" dirty="0"/>
          </a:p>
          <a:p>
            <a:pPr indent="0" marL="0">
              <a:buNone/>
            </a:pPr>
            <a:r>
              <a:rPr lang="en-US" sz="750" dirty="0">
                <a:solidFill>
                  <a:srgbClr val="D8EEFA"/>
                </a:solidFill>
                <a:latin typeface="Calibri" pitchFamily="34" charset="0"/>
                <a:ea typeface="Calibri" pitchFamily="34" charset="-122"/>
                <a:cs typeface="Calibri" pitchFamily="34" charset="-120"/>
              </a:rPr>
              <a:t>1.8s avg · JSON mode</a:t>
            </a:r>
            <a:endParaRPr lang="en-US" sz="750" dirty="0"/>
          </a:p>
        </p:txBody>
      </p:sp>
      <p:sp>
        <p:nvSpPr>
          <p:cNvPr id="58" name="Shape 47"/>
          <p:cNvSpPr/>
          <p:nvPr/>
        </p:nvSpPr>
        <p:spPr>
          <a:xfrm>
            <a:off x="4315968" y="4059936"/>
            <a:ext cx="512064" cy="54864"/>
          </a:xfrm>
          <a:prstGeom prst="rect">
            <a:avLst/>
          </a:prstGeom>
          <a:solidFill>
            <a:srgbClr val="06B6D4"/>
          </a:solidFill>
          <a:ln w="12700">
            <a:solidFill>
              <a:srgbClr val="06B6D4"/>
            </a:solidFill>
            <a:prstDash val="solid"/>
          </a:ln>
        </p:spPr>
      </p:sp>
      <p:sp>
        <p:nvSpPr>
          <p:cNvPr id="59" name="Shape 48"/>
          <p:cNvSpPr/>
          <p:nvPr/>
        </p:nvSpPr>
        <p:spPr>
          <a:xfrm>
            <a:off x="4517136" y="4059936"/>
            <a:ext cx="109728" cy="164592"/>
          </a:xfrm>
          <a:prstGeom prst="rect">
            <a:avLst/>
          </a:prstGeom>
          <a:solidFill>
            <a:srgbClr val="06B6D4"/>
          </a:solidFill>
          <a:ln w="12700">
            <a:solidFill>
              <a:srgbClr val="06B6D4"/>
            </a:solidFill>
            <a:prstDash val="solid"/>
          </a:ln>
        </p:spPr>
      </p:sp>
      <p:sp>
        <p:nvSpPr>
          <p:cNvPr id="60" name="Text 49"/>
          <p:cNvSpPr/>
          <p:nvPr/>
        </p:nvSpPr>
        <p:spPr>
          <a:xfrm>
            <a:off x="2743200" y="4050792"/>
            <a:ext cx="3657600" cy="164592"/>
          </a:xfrm>
          <a:prstGeom prst="rect">
            <a:avLst/>
          </a:prstGeom>
          <a:noFill/>
          <a:ln/>
        </p:spPr>
        <p:txBody>
          <a:bodyPr wrap="square" lIns="0" tIns="0" rIns="0" bIns="0" rtlCol="0" anchor="ctr"/>
          <a:lstStyle/>
          <a:p>
            <a:pPr algn="ctr" indent="0" marL="0">
              <a:buNone/>
            </a:pPr>
            <a:r>
              <a:rPr lang="en-US" sz="700" i="1" dirty="0">
                <a:solidFill>
                  <a:srgbClr val="7A95A8"/>
                </a:solidFill>
                <a:latin typeface="Calibri" pitchFamily="34" charset="0"/>
                <a:ea typeface="Calibri" pitchFamily="34" charset="-122"/>
                <a:cs typeface="Calibri" pitchFamily="34" charset="-120"/>
              </a:rPr>
              <a:t>Read / Write via Supabase Client SDK</a:t>
            </a:r>
            <a:endParaRPr lang="en-US" sz="700" dirty="0"/>
          </a:p>
        </p:txBody>
      </p:sp>
      <p:sp>
        <p:nvSpPr>
          <p:cNvPr id="61" name="Shape 50"/>
          <p:cNvSpPr/>
          <p:nvPr/>
        </p:nvSpPr>
        <p:spPr>
          <a:xfrm>
            <a:off x="201168" y="4242816"/>
            <a:ext cx="512064" cy="585216"/>
          </a:xfrm>
          <a:prstGeom prst="rect">
            <a:avLst/>
          </a:prstGeom>
          <a:solidFill>
            <a:srgbClr val="059669"/>
          </a:solidFill>
          <a:ln w="12700">
            <a:solidFill>
              <a:srgbClr val="059669"/>
            </a:solidFill>
            <a:prstDash val="solid"/>
          </a:ln>
        </p:spPr>
      </p:sp>
      <p:sp>
        <p:nvSpPr>
          <p:cNvPr id="62" name="Text 51"/>
          <p:cNvSpPr/>
          <p:nvPr/>
        </p:nvSpPr>
        <p:spPr>
          <a:xfrm>
            <a:off x="201168" y="4242816"/>
            <a:ext cx="512064" cy="585216"/>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DATA</a:t>
            </a:r>
            <a:endParaRPr lang="en-US" sz="650" dirty="0"/>
          </a:p>
          <a:p>
            <a:pPr algn="ctr" indent="0" marL="0">
              <a:buNone/>
            </a:pPr>
            <a:r>
              <a:rPr lang="en-US" sz="650" b="1" dirty="0">
                <a:solidFill>
                  <a:srgbClr val="FFFFFF"/>
                </a:solidFill>
                <a:latin typeface="Calibri" pitchFamily="34" charset="0"/>
                <a:ea typeface="Calibri" pitchFamily="34" charset="-122"/>
                <a:cs typeface="Calibri" pitchFamily="34" charset="-120"/>
              </a:rPr>
              <a:t>LAYER</a:t>
            </a:r>
            <a:endParaRPr lang="en-US" sz="650" dirty="0"/>
          </a:p>
        </p:txBody>
      </p:sp>
      <p:sp>
        <p:nvSpPr>
          <p:cNvPr id="63" name="Shape 52"/>
          <p:cNvSpPr/>
          <p:nvPr/>
        </p:nvSpPr>
        <p:spPr>
          <a:xfrm>
            <a:off x="822960" y="4270248"/>
            <a:ext cx="8119872" cy="530352"/>
          </a:xfrm>
          <a:prstGeom prst="rect">
            <a:avLst/>
          </a:prstGeom>
          <a:solidFill>
            <a:srgbClr val="FFFFFF"/>
          </a:solidFill>
          <a:ln w="19050">
            <a:solidFill>
              <a:srgbClr val="059669"/>
            </a:solidFill>
            <a:prstDash val="solid"/>
          </a:ln>
        </p:spPr>
      </p:sp>
      <p:pic>
        <p:nvPicPr>
          <p:cNvPr id="64" name="Image 9" descr="preencoded.png">    </p:cNvPr>
          <p:cNvPicPr>
            <a:picLocks noChangeAspect="1"/>
          </p:cNvPicPr>
          <p:nvPr/>
        </p:nvPicPr>
        <p:blipFill>
          <a:blip r:embed="rId10"/>
          <a:stretch>
            <a:fillRect/>
          </a:stretch>
        </p:blipFill>
        <p:spPr>
          <a:xfrm>
            <a:off x="914400" y="4361688"/>
            <a:ext cx="256032" cy="256032"/>
          </a:xfrm>
          <a:prstGeom prst="rect">
            <a:avLst/>
          </a:prstGeom>
        </p:spPr>
      </p:pic>
      <p:sp>
        <p:nvSpPr>
          <p:cNvPr id="65" name="Text 53"/>
          <p:cNvSpPr/>
          <p:nvPr/>
        </p:nvSpPr>
        <p:spPr>
          <a:xfrm>
            <a:off x="1225296" y="4315968"/>
            <a:ext cx="7589520" cy="420624"/>
          </a:xfrm>
          <a:prstGeom prst="rect">
            <a:avLst/>
          </a:prstGeom>
          <a:noFill/>
          <a:ln/>
        </p:spPr>
        <p:txBody>
          <a:bodyPr wrap="square" lIns="0" tIns="0" rIns="0" bIns="0" rtlCol="0" anchor="ctr"/>
          <a:lstStyle/>
          <a:p>
            <a:pPr indent="0" marL="0">
              <a:buNone/>
            </a:pPr>
            <a:r>
              <a:rPr lang="en-US" sz="850" b="1" dirty="0">
                <a:solidFill>
                  <a:srgbClr val="0F1F2E"/>
                </a:solidFill>
                <a:latin typeface="Calibri" pitchFamily="34" charset="0"/>
                <a:ea typeface="Calibri" pitchFamily="34" charset="-122"/>
                <a:cs typeface="Calibri" pitchFamily="34" charset="-120"/>
              </a:rPr>
              <a:t>Supabase PostgreSQL 15  ·  Cloud-hosted  ·  Row-level security  ·  Real-time subscriptions  ·  JWT-scoped access  ·  Auto-generated REST</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Database Design — ER Diagram</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Supabase PostgreSQL 15  ·  5 core tables  ·  UUID primary keys  ·  Row-level security</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256032" y="1005840"/>
            <a:ext cx="2468880" cy="310896"/>
          </a:xfrm>
          <a:prstGeom prst="rect">
            <a:avLst/>
          </a:prstGeom>
          <a:solidFill>
            <a:srgbClr val="0A1931"/>
          </a:solidFill>
          <a:ln w="12700">
            <a:solidFill>
              <a:srgbClr val="0A1931"/>
            </a:solidFill>
            <a:prstDash val="solid"/>
          </a:ln>
        </p:spPr>
      </p:sp>
      <p:sp>
        <p:nvSpPr>
          <p:cNvPr id="10" name="Text 8"/>
          <p:cNvSpPr/>
          <p:nvPr/>
        </p:nvSpPr>
        <p:spPr>
          <a:xfrm>
            <a:off x="329184" y="1005840"/>
            <a:ext cx="2322576"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users</a:t>
            </a:r>
            <a:endParaRPr lang="en-US" sz="1000" dirty="0"/>
          </a:p>
        </p:txBody>
      </p:sp>
      <p:sp>
        <p:nvSpPr>
          <p:cNvPr id="11" name="Shape 9"/>
          <p:cNvSpPr/>
          <p:nvPr/>
        </p:nvSpPr>
        <p:spPr>
          <a:xfrm>
            <a:off x="256032" y="1316736"/>
            <a:ext cx="2468880" cy="1060704"/>
          </a:xfrm>
          <a:prstGeom prst="rect">
            <a:avLst/>
          </a:prstGeom>
          <a:solidFill>
            <a:srgbClr val="FFFFFF"/>
          </a:solidFill>
          <a:ln w="9525">
            <a:solidFill>
              <a:srgbClr val="BBCCD5"/>
            </a:solidFill>
            <a:prstDash val="solid"/>
          </a:ln>
        </p:spPr>
      </p:sp>
      <p:sp>
        <p:nvSpPr>
          <p:cNvPr id="12" name="Text 10"/>
          <p:cNvSpPr/>
          <p:nvPr/>
        </p:nvSpPr>
        <p:spPr>
          <a:xfrm>
            <a:off x="347472" y="1344168"/>
            <a:ext cx="2286000" cy="182880"/>
          </a:xfrm>
          <a:prstGeom prst="rect">
            <a:avLst/>
          </a:prstGeom>
          <a:noFill/>
          <a:ln/>
        </p:spPr>
        <p:txBody>
          <a:bodyPr wrap="square" lIns="0" tIns="0" rIns="0" bIns="0" rtlCol="0" anchor="ctr"/>
          <a:lstStyle/>
          <a:p>
            <a:pPr indent="0" marL="0">
              <a:buNone/>
            </a:pPr>
            <a:r>
              <a:rPr lang="en-US" sz="750" b="1" dirty="0">
                <a:solidFill>
                  <a:srgbClr val="0D7C8F"/>
                </a:solidFill>
                <a:latin typeface="Calibri" pitchFamily="34" charset="0"/>
                <a:ea typeface="Calibri" pitchFamily="34" charset="-122"/>
                <a:cs typeface="Calibri" pitchFamily="34" charset="-120"/>
              </a:rPr>
              <a:t>PK  id  (UUID)</a:t>
            </a:r>
            <a:endParaRPr lang="en-US" sz="750" dirty="0"/>
          </a:p>
        </p:txBody>
      </p:sp>
      <p:sp>
        <p:nvSpPr>
          <p:cNvPr id="13" name="Text 11"/>
          <p:cNvSpPr/>
          <p:nvPr/>
        </p:nvSpPr>
        <p:spPr>
          <a:xfrm>
            <a:off x="347472" y="1545336"/>
            <a:ext cx="228600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email  (UNIQUE)</a:t>
            </a:r>
            <a:endParaRPr lang="en-US" sz="750" dirty="0"/>
          </a:p>
        </p:txBody>
      </p:sp>
      <p:sp>
        <p:nvSpPr>
          <p:cNvPr id="14" name="Text 12"/>
          <p:cNvSpPr/>
          <p:nvPr/>
        </p:nvSpPr>
        <p:spPr>
          <a:xfrm>
            <a:off x="347472" y="1746504"/>
            <a:ext cx="228600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password_hash</a:t>
            </a:r>
            <a:endParaRPr lang="en-US" sz="750" dirty="0"/>
          </a:p>
        </p:txBody>
      </p:sp>
      <p:sp>
        <p:nvSpPr>
          <p:cNvPr id="15" name="Text 13"/>
          <p:cNvSpPr/>
          <p:nvPr/>
        </p:nvSpPr>
        <p:spPr>
          <a:xfrm>
            <a:off x="347472" y="1947672"/>
            <a:ext cx="228600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role  (owner | admin)</a:t>
            </a:r>
            <a:endParaRPr lang="en-US" sz="750" dirty="0"/>
          </a:p>
        </p:txBody>
      </p:sp>
      <p:sp>
        <p:nvSpPr>
          <p:cNvPr id="16" name="Text 14"/>
          <p:cNvSpPr/>
          <p:nvPr/>
        </p:nvSpPr>
        <p:spPr>
          <a:xfrm>
            <a:off x="347472" y="2148840"/>
            <a:ext cx="228600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created_at</a:t>
            </a:r>
            <a:endParaRPr lang="en-US" sz="750" dirty="0"/>
          </a:p>
        </p:txBody>
      </p:sp>
      <p:sp>
        <p:nvSpPr>
          <p:cNvPr id="17" name="Shape 15"/>
          <p:cNvSpPr/>
          <p:nvPr/>
        </p:nvSpPr>
        <p:spPr>
          <a:xfrm>
            <a:off x="3337560" y="1005840"/>
            <a:ext cx="2468880" cy="310896"/>
          </a:xfrm>
          <a:prstGeom prst="rect">
            <a:avLst/>
          </a:prstGeom>
          <a:solidFill>
            <a:srgbClr val="0D7C8F"/>
          </a:solidFill>
          <a:ln w="12700">
            <a:solidFill>
              <a:srgbClr val="0D7C8F"/>
            </a:solidFill>
            <a:prstDash val="solid"/>
          </a:ln>
        </p:spPr>
      </p:sp>
      <p:sp>
        <p:nvSpPr>
          <p:cNvPr id="18" name="Text 16"/>
          <p:cNvSpPr/>
          <p:nvPr/>
        </p:nvSpPr>
        <p:spPr>
          <a:xfrm>
            <a:off x="3410712" y="1005840"/>
            <a:ext cx="2322576"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businesses</a:t>
            </a:r>
            <a:endParaRPr lang="en-US" sz="1000" dirty="0"/>
          </a:p>
        </p:txBody>
      </p:sp>
      <p:sp>
        <p:nvSpPr>
          <p:cNvPr id="19" name="Shape 17"/>
          <p:cNvSpPr/>
          <p:nvPr/>
        </p:nvSpPr>
        <p:spPr>
          <a:xfrm>
            <a:off x="3337560" y="1316736"/>
            <a:ext cx="2468880" cy="1060704"/>
          </a:xfrm>
          <a:prstGeom prst="rect">
            <a:avLst/>
          </a:prstGeom>
          <a:solidFill>
            <a:srgbClr val="FFFFFF"/>
          </a:solidFill>
          <a:ln w="9525">
            <a:solidFill>
              <a:srgbClr val="BBCCD5"/>
            </a:solidFill>
            <a:prstDash val="solid"/>
          </a:ln>
        </p:spPr>
      </p:sp>
      <p:sp>
        <p:nvSpPr>
          <p:cNvPr id="20" name="Text 18"/>
          <p:cNvSpPr/>
          <p:nvPr/>
        </p:nvSpPr>
        <p:spPr>
          <a:xfrm>
            <a:off x="3429000" y="1344168"/>
            <a:ext cx="2286000" cy="182880"/>
          </a:xfrm>
          <a:prstGeom prst="rect">
            <a:avLst/>
          </a:prstGeom>
          <a:noFill/>
          <a:ln/>
        </p:spPr>
        <p:txBody>
          <a:bodyPr wrap="square" lIns="0" tIns="0" rIns="0" bIns="0" rtlCol="0" anchor="ctr"/>
          <a:lstStyle/>
          <a:p>
            <a:pPr indent="0" marL="0">
              <a:buNone/>
            </a:pPr>
            <a:r>
              <a:rPr lang="en-US" sz="750" b="1" dirty="0">
                <a:solidFill>
                  <a:srgbClr val="0D7C8F"/>
                </a:solidFill>
                <a:latin typeface="Calibri" pitchFamily="34" charset="0"/>
                <a:ea typeface="Calibri" pitchFamily="34" charset="-122"/>
                <a:cs typeface="Calibri" pitchFamily="34" charset="-120"/>
              </a:rPr>
              <a:t>PK  id  (UUID)</a:t>
            </a:r>
            <a:endParaRPr lang="en-US" sz="750" dirty="0"/>
          </a:p>
        </p:txBody>
      </p:sp>
      <p:sp>
        <p:nvSpPr>
          <p:cNvPr id="21" name="Text 19"/>
          <p:cNvSpPr/>
          <p:nvPr/>
        </p:nvSpPr>
        <p:spPr>
          <a:xfrm>
            <a:off x="3429000" y="1545336"/>
            <a:ext cx="2286000" cy="182880"/>
          </a:xfrm>
          <a:prstGeom prst="rect">
            <a:avLst/>
          </a:prstGeom>
          <a:noFill/>
          <a:ln/>
        </p:spPr>
        <p:txBody>
          <a:bodyPr wrap="square" lIns="0" tIns="0" rIns="0" bIns="0" rtlCol="0" anchor="ctr"/>
          <a:lstStyle/>
          <a:p>
            <a:pPr indent="0" marL="0">
              <a:buNone/>
            </a:pPr>
            <a:r>
              <a:rPr lang="en-US" sz="750" b="1" dirty="0">
                <a:solidFill>
                  <a:srgbClr val="F59E0B"/>
                </a:solidFill>
                <a:latin typeface="Calibri" pitchFamily="34" charset="0"/>
                <a:ea typeface="Calibri" pitchFamily="34" charset="-122"/>
                <a:cs typeface="Calibri" pitchFamily="34" charset="-120"/>
              </a:rPr>
              <a:t>FK  user_id  → users.id</a:t>
            </a:r>
            <a:endParaRPr lang="en-US" sz="750" dirty="0"/>
          </a:p>
        </p:txBody>
      </p:sp>
      <p:sp>
        <p:nvSpPr>
          <p:cNvPr id="22" name="Text 20"/>
          <p:cNvSpPr/>
          <p:nvPr/>
        </p:nvSpPr>
        <p:spPr>
          <a:xfrm>
            <a:off x="3429000" y="1746504"/>
            <a:ext cx="228600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name,  sector</a:t>
            </a:r>
            <a:endParaRPr lang="en-US" sz="750" dirty="0"/>
          </a:p>
        </p:txBody>
      </p:sp>
      <p:sp>
        <p:nvSpPr>
          <p:cNvPr id="23" name="Text 21"/>
          <p:cNvSpPr/>
          <p:nvPr/>
        </p:nvSpPr>
        <p:spPr>
          <a:xfrm>
            <a:off x="3429000" y="1947672"/>
            <a:ext cx="228600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city,  years_in_ops</a:t>
            </a:r>
            <a:endParaRPr lang="en-US" sz="750" dirty="0"/>
          </a:p>
        </p:txBody>
      </p:sp>
      <p:sp>
        <p:nvSpPr>
          <p:cNvPr id="24" name="Text 22"/>
          <p:cNvSpPr/>
          <p:nvPr/>
        </p:nvSpPr>
        <p:spPr>
          <a:xfrm>
            <a:off x="3429000" y="2148840"/>
            <a:ext cx="228600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is_registered  (bool)</a:t>
            </a:r>
            <a:endParaRPr lang="en-US" sz="750" dirty="0"/>
          </a:p>
        </p:txBody>
      </p:sp>
      <p:sp>
        <p:nvSpPr>
          <p:cNvPr id="25" name="Shape 23"/>
          <p:cNvSpPr/>
          <p:nvPr/>
        </p:nvSpPr>
        <p:spPr>
          <a:xfrm>
            <a:off x="6309360" y="1005840"/>
            <a:ext cx="2560320" cy="310896"/>
          </a:xfrm>
          <a:prstGeom prst="rect">
            <a:avLst/>
          </a:prstGeom>
          <a:solidFill>
            <a:srgbClr val="112244"/>
          </a:solidFill>
          <a:ln w="12700">
            <a:solidFill>
              <a:srgbClr val="112244"/>
            </a:solidFill>
            <a:prstDash val="solid"/>
          </a:ln>
        </p:spPr>
      </p:sp>
      <p:sp>
        <p:nvSpPr>
          <p:cNvPr id="26" name="Text 24"/>
          <p:cNvSpPr/>
          <p:nvPr/>
        </p:nvSpPr>
        <p:spPr>
          <a:xfrm>
            <a:off x="6382512" y="1005840"/>
            <a:ext cx="2414016"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assessments</a:t>
            </a:r>
            <a:endParaRPr lang="en-US" sz="1000" dirty="0"/>
          </a:p>
        </p:txBody>
      </p:sp>
      <p:sp>
        <p:nvSpPr>
          <p:cNvPr id="27" name="Shape 25"/>
          <p:cNvSpPr/>
          <p:nvPr/>
        </p:nvSpPr>
        <p:spPr>
          <a:xfrm>
            <a:off x="6309360" y="1316736"/>
            <a:ext cx="2560320" cy="1261872"/>
          </a:xfrm>
          <a:prstGeom prst="rect">
            <a:avLst/>
          </a:prstGeom>
          <a:solidFill>
            <a:srgbClr val="FFFFFF"/>
          </a:solidFill>
          <a:ln w="9525">
            <a:solidFill>
              <a:srgbClr val="BBCCD5"/>
            </a:solidFill>
            <a:prstDash val="solid"/>
          </a:ln>
        </p:spPr>
      </p:sp>
      <p:sp>
        <p:nvSpPr>
          <p:cNvPr id="28" name="Text 26"/>
          <p:cNvSpPr/>
          <p:nvPr/>
        </p:nvSpPr>
        <p:spPr>
          <a:xfrm>
            <a:off x="6400800" y="1344168"/>
            <a:ext cx="2377440" cy="182880"/>
          </a:xfrm>
          <a:prstGeom prst="rect">
            <a:avLst/>
          </a:prstGeom>
          <a:noFill/>
          <a:ln/>
        </p:spPr>
        <p:txBody>
          <a:bodyPr wrap="square" lIns="0" tIns="0" rIns="0" bIns="0" rtlCol="0" anchor="ctr"/>
          <a:lstStyle/>
          <a:p>
            <a:pPr indent="0" marL="0">
              <a:buNone/>
            </a:pPr>
            <a:r>
              <a:rPr lang="en-US" sz="750" b="1" dirty="0">
                <a:solidFill>
                  <a:srgbClr val="0D7C8F"/>
                </a:solidFill>
                <a:latin typeface="Calibri" pitchFamily="34" charset="0"/>
                <a:ea typeface="Calibri" pitchFamily="34" charset="-122"/>
                <a:cs typeface="Calibri" pitchFamily="34" charset="-120"/>
              </a:rPr>
              <a:t>PK  id  (UUID)</a:t>
            </a:r>
            <a:endParaRPr lang="en-US" sz="750" dirty="0"/>
          </a:p>
        </p:txBody>
      </p:sp>
      <p:sp>
        <p:nvSpPr>
          <p:cNvPr id="29" name="Text 27"/>
          <p:cNvSpPr/>
          <p:nvPr/>
        </p:nvSpPr>
        <p:spPr>
          <a:xfrm>
            <a:off x="6400800" y="1545336"/>
            <a:ext cx="2377440" cy="182880"/>
          </a:xfrm>
          <a:prstGeom prst="rect">
            <a:avLst/>
          </a:prstGeom>
          <a:noFill/>
          <a:ln/>
        </p:spPr>
        <p:txBody>
          <a:bodyPr wrap="square" lIns="0" tIns="0" rIns="0" bIns="0" rtlCol="0" anchor="ctr"/>
          <a:lstStyle/>
          <a:p>
            <a:pPr indent="0" marL="0">
              <a:buNone/>
            </a:pPr>
            <a:r>
              <a:rPr lang="en-US" sz="750" b="1" dirty="0">
                <a:solidFill>
                  <a:srgbClr val="F59E0B"/>
                </a:solidFill>
                <a:latin typeface="Calibri" pitchFamily="34" charset="0"/>
                <a:ea typeface="Calibri" pitchFamily="34" charset="-122"/>
                <a:cs typeface="Calibri" pitchFamily="34" charset="-120"/>
              </a:rPr>
              <a:t>FK  business_id  → businesses.id</a:t>
            </a:r>
            <a:endParaRPr lang="en-US" sz="750" dirty="0"/>
          </a:p>
        </p:txBody>
      </p:sp>
      <p:sp>
        <p:nvSpPr>
          <p:cNvPr id="30" name="Text 28"/>
          <p:cNvSpPr/>
          <p:nvPr/>
        </p:nvSpPr>
        <p:spPr>
          <a:xfrm>
            <a:off x="6400800" y="1746504"/>
            <a:ext cx="237744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capital,  employees</a:t>
            </a:r>
            <a:endParaRPr lang="en-US" sz="750" dirty="0"/>
          </a:p>
        </p:txBody>
      </p:sp>
      <p:sp>
        <p:nvSpPr>
          <p:cNvPr id="31" name="Text 29"/>
          <p:cNvSpPr/>
          <p:nvPr/>
        </p:nvSpPr>
        <p:spPr>
          <a:xfrm>
            <a:off x="6400800" y="1947672"/>
            <a:ext cx="237744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monthly_revenue</a:t>
            </a:r>
            <a:endParaRPr lang="en-US" sz="750" dirty="0"/>
          </a:p>
        </p:txBody>
      </p:sp>
      <p:sp>
        <p:nvSpPr>
          <p:cNvPr id="32" name="Text 30"/>
          <p:cNvSpPr/>
          <p:nvPr/>
        </p:nvSpPr>
        <p:spPr>
          <a:xfrm>
            <a:off x="6400800" y="2148840"/>
            <a:ext cx="237744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market_access  (enum)</a:t>
            </a:r>
            <a:endParaRPr lang="en-US" sz="750" dirty="0"/>
          </a:p>
        </p:txBody>
      </p:sp>
      <p:sp>
        <p:nvSpPr>
          <p:cNvPr id="33" name="Text 31"/>
          <p:cNvSpPr/>
          <p:nvPr/>
        </p:nvSpPr>
        <p:spPr>
          <a:xfrm>
            <a:off x="6400800" y="2350008"/>
            <a:ext cx="237744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submitted_at</a:t>
            </a:r>
            <a:endParaRPr lang="en-US" sz="750" dirty="0"/>
          </a:p>
        </p:txBody>
      </p:sp>
      <p:sp>
        <p:nvSpPr>
          <p:cNvPr id="34" name="Shape 32"/>
          <p:cNvSpPr/>
          <p:nvPr/>
        </p:nvSpPr>
        <p:spPr>
          <a:xfrm>
            <a:off x="1280160" y="2743200"/>
            <a:ext cx="2743200" cy="310896"/>
          </a:xfrm>
          <a:prstGeom prst="rect">
            <a:avLst/>
          </a:prstGeom>
          <a:solidFill>
            <a:srgbClr val="0EA5C0"/>
          </a:solidFill>
          <a:ln w="12700">
            <a:solidFill>
              <a:srgbClr val="0EA5C0"/>
            </a:solidFill>
            <a:prstDash val="solid"/>
          </a:ln>
        </p:spPr>
      </p:sp>
      <p:sp>
        <p:nvSpPr>
          <p:cNvPr id="35" name="Text 33"/>
          <p:cNvSpPr/>
          <p:nvPr/>
        </p:nvSpPr>
        <p:spPr>
          <a:xfrm>
            <a:off x="1353312" y="2743200"/>
            <a:ext cx="2596896"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predictions</a:t>
            </a:r>
            <a:endParaRPr lang="en-US" sz="1000" dirty="0"/>
          </a:p>
        </p:txBody>
      </p:sp>
      <p:sp>
        <p:nvSpPr>
          <p:cNvPr id="36" name="Shape 34"/>
          <p:cNvSpPr/>
          <p:nvPr/>
        </p:nvSpPr>
        <p:spPr>
          <a:xfrm>
            <a:off x="1280160" y="3054096"/>
            <a:ext cx="2743200" cy="1463040"/>
          </a:xfrm>
          <a:prstGeom prst="rect">
            <a:avLst/>
          </a:prstGeom>
          <a:solidFill>
            <a:srgbClr val="FFFFFF"/>
          </a:solidFill>
          <a:ln w="9525">
            <a:solidFill>
              <a:srgbClr val="BBCCD5"/>
            </a:solidFill>
            <a:prstDash val="solid"/>
          </a:ln>
        </p:spPr>
      </p:sp>
      <p:sp>
        <p:nvSpPr>
          <p:cNvPr id="37" name="Text 35"/>
          <p:cNvSpPr/>
          <p:nvPr/>
        </p:nvSpPr>
        <p:spPr>
          <a:xfrm>
            <a:off x="1371600" y="3081528"/>
            <a:ext cx="2560320" cy="182880"/>
          </a:xfrm>
          <a:prstGeom prst="rect">
            <a:avLst/>
          </a:prstGeom>
          <a:noFill/>
          <a:ln/>
        </p:spPr>
        <p:txBody>
          <a:bodyPr wrap="square" lIns="0" tIns="0" rIns="0" bIns="0" rtlCol="0" anchor="ctr"/>
          <a:lstStyle/>
          <a:p>
            <a:pPr indent="0" marL="0">
              <a:buNone/>
            </a:pPr>
            <a:r>
              <a:rPr lang="en-US" sz="750" b="1" dirty="0">
                <a:solidFill>
                  <a:srgbClr val="0D7C8F"/>
                </a:solidFill>
                <a:latin typeface="Calibri" pitchFamily="34" charset="0"/>
                <a:ea typeface="Calibri" pitchFamily="34" charset="-122"/>
                <a:cs typeface="Calibri" pitchFamily="34" charset="-120"/>
              </a:rPr>
              <a:t>PK  id  (UUID)</a:t>
            </a:r>
            <a:endParaRPr lang="en-US" sz="750" dirty="0"/>
          </a:p>
        </p:txBody>
      </p:sp>
      <p:sp>
        <p:nvSpPr>
          <p:cNvPr id="38" name="Text 36"/>
          <p:cNvSpPr/>
          <p:nvPr/>
        </p:nvSpPr>
        <p:spPr>
          <a:xfrm>
            <a:off x="1371600" y="3282696"/>
            <a:ext cx="2560320" cy="182880"/>
          </a:xfrm>
          <a:prstGeom prst="rect">
            <a:avLst/>
          </a:prstGeom>
          <a:noFill/>
          <a:ln/>
        </p:spPr>
        <p:txBody>
          <a:bodyPr wrap="square" lIns="0" tIns="0" rIns="0" bIns="0" rtlCol="0" anchor="ctr"/>
          <a:lstStyle/>
          <a:p>
            <a:pPr indent="0" marL="0">
              <a:buNone/>
            </a:pPr>
            <a:r>
              <a:rPr lang="en-US" sz="750" b="1" dirty="0">
                <a:solidFill>
                  <a:srgbClr val="F59E0B"/>
                </a:solidFill>
                <a:latin typeface="Calibri" pitchFamily="34" charset="0"/>
                <a:ea typeface="Calibri" pitchFamily="34" charset="-122"/>
                <a:cs typeface="Calibri" pitchFamily="34" charset="-120"/>
              </a:rPr>
              <a:t>FK  assessment_id  → assessments.id</a:t>
            </a:r>
            <a:endParaRPr lang="en-US" sz="750" dirty="0"/>
          </a:p>
        </p:txBody>
      </p:sp>
      <p:sp>
        <p:nvSpPr>
          <p:cNvPr id="39" name="Text 37"/>
          <p:cNvSpPr/>
          <p:nvPr/>
        </p:nvSpPr>
        <p:spPr>
          <a:xfrm>
            <a:off x="1371600" y="3483864"/>
            <a:ext cx="256032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risk_score  (float 0-1)</a:t>
            </a:r>
            <a:endParaRPr lang="en-US" sz="750" dirty="0"/>
          </a:p>
        </p:txBody>
      </p:sp>
      <p:sp>
        <p:nvSpPr>
          <p:cNvPr id="40" name="Text 38"/>
          <p:cNvSpPr/>
          <p:nvPr/>
        </p:nvSpPr>
        <p:spPr>
          <a:xfrm>
            <a:off x="1371600" y="3685032"/>
            <a:ext cx="256032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risk_label  (Safe | High Risk)</a:t>
            </a:r>
            <a:endParaRPr lang="en-US" sz="750" dirty="0"/>
          </a:p>
        </p:txBody>
      </p:sp>
      <p:sp>
        <p:nvSpPr>
          <p:cNvPr id="41" name="Text 39"/>
          <p:cNvSpPr/>
          <p:nvPr/>
        </p:nvSpPr>
        <p:spPr>
          <a:xfrm>
            <a:off x="1371600" y="3886200"/>
            <a:ext cx="256032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survival_1yr / 2yr / 3yr</a:t>
            </a:r>
            <a:endParaRPr lang="en-US" sz="750" dirty="0"/>
          </a:p>
        </p:txBody>
      </p:sp>
      <p:sp>
        <p:nvSpPr>
          <p:cNvPr id="42" name="Text 40"/>
          <p:cNvSpPr/>
          <p:nvPr/>
        </p:nvSpPr>
        <p:spPr>
          <a:xfrm>
            <a:off x="1371600" y="4087368"/>
            <a:ext cx="256032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median_ttf  (months)</a:t>
            </a:r>
            <a:endParaRPr lang="en-US" sz="750" dirty="0"/>
          </a:p>
        </p:txBody>
      </p:sp>
      <p:sp>
        <p:nvSpPr>
          <p:cNvPr id="43" name="Text 41"/>
          <p:cNvSpPr/>
          <p:nvPr/>
        </p:nvSpPr>
        <p:spPr>
          <a:xfrm>
            <a:off x="1371600" y="4288536"/>
            <a:ext cx="256032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profit_projection  (CFA Fr)</a:t>
            </a:r>
            <a:endParaRPr lang="en-US" sz="750" dirty="0"/>
          </a:p>
        </p:txBody>
      </p:sp>
      <p:sp>
        <p:nvSpPr>
          <p:cNvPr id="44" name="Shape 42"/>
          <p:cNvSpPr/>
          <p:nvPr/>
        </p:nvSpPr>
        <p:spPr>
          <a:xfrm>
            <a:off x="4754880" y="2743200"/>
            <a:ext cx="2926080" cy="310896"/>
          </a:xfrm>
          <a:prstGeom prst="rect">
            <a:avLst/>
          </a:prstGeom>
          <a:solidFill>
            <a:srgbClr val="059669"/>
          </a:solidFill>
          <a:ln w="12700">
            <a:solidFill>
              <a:srgbClr val="059669"/>
            </a:solidFill>
            <a:prstDash val="solid"/>
          </a:ln>
        </p:spPr>
      </p:sp>
      <p:sp>
        <p:nvSpPr>
          <p:cNvPr id="45" name="Text 43"/>
          <p:cNvSpPr/>
          <p:nvPr/>
        </p:nvSpPr>
        <p:spPr>
          <a:xfrm>
            <a:off x="4828032" y="2743200"/>
            <a:ext cx="2779776"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advisory_reports</a:t>
            </a:r>
            <a:endParaRPr lang="en-US" sz="1000" dirty="0"/>
          </a:p>
        </p:txBody>
      </p:sp>
      <p:sp>
        <p:nvSpPr>
          <p:cNvPr id="46" name="Shape 44"/>
          <p:cNvSpPr/>
          <p:nvPr/>
        </p:nvSpPr>
        <p:spPr>
          <a:xfrm>
            <a:off x="4754880" y="3054096"/>
            <a:ext cx="2926080" cy="1261872"/>
          </a:xfrm>
          <a:prstGeom prst="rect">
            <a:avLst/>
          </a:prstGeom>
          <a:solidFill>
            <a:srgbClr val="FFFFFF"/>
          </a:solidFill>
          <a:ln w="9525">
            <a:solidFill>
              <a:srgbClr val="BBCCD5"/>
            </a:solidFill>
            <a:prstDash val="solid"/>
          </a:ln>
        </p:spPr>
      </p:sp>
      <p:sp>
        <p:nvSpPr>
          <p:cNvPr id="47" name="Text 45"/>
          <p:cNvSpPr/>
          <p:nvPr/>
        </p:nvSpPr>
        <p:spPr>
          <a:xfrm>
            <a:off x="4846320" y="3081528"/>
            <a:ext cx="2743200" cy="182880"/>
          </a:xfrm>
          <a:prstGeom prst="rect">
            <a:avLst/>
          </a:prstGeom>
          <a:noFill/>
          <a:ln/>
        </p:spPr>
        <p:txBody>
          <a:bodyPr wrap="square" lIns="0" tIns="0" rIns="0" bIns="0" rtlCol="0" anchor="ctr"/>
          <a:lstStyle/>
          <a:p>
            <a:pPr indent="0" marL="0">
              <a:buNone/>
            </a:pPr>
            <a:r>
              <a:rPr lang="en-US" sz="750" b="1" dirty="0">
                <a:solidFill>
                  <a:srgbClr val="0D7C8F"/>
                </a:solidFill>
                <a:latin typeface="Calibri" pitchFamily="34" charset="0"/>
                <a:ea typeface="Calibri" pitchFamily="34" charset="-122"/>
                <a:cs typeface="Calibri" pitchFamily="34" charset="-120"/>
              </a:rPr>
              <a:t>PK  id  (UUID)</a:t>
            </a:r>
            <a:endParaRPr lang="en-US" sz="750" dirty="0"/>
          </a:p>
        </p:txBody>
      </p:sp>
      <p:sp>
        <p:nvSpPr>
          <p:cNvPr id="48" name="Text 46"/>
          <p:cNvSpPr/>
          <p:nvPr/>
        </p:nvSpPr>
        <p:spPr>
          <a:xfrm>
            <a:off x="4846320" y="3282696"/>
            <a:ext cx="2743200" cy="182880"/>
          </a:xfrm>
          <a:prstGeom prst="rect">
            <a:avLst/>
          </a:prstGeom>
          <a:noFill/>
          <a:ln/>
        </p:spPr>
        <p:txBody>
          <a:bodyPr wrap="square" lIns="0" tIns="0" rIns="0" bIns="0" rtlCol="0" anchor="ctr"/>
          <a:lstStyle/>
          <a:p>
            <a:pPr indent="0" marL="0">
              <a:buNone/>
            </a:pPr>
            <a:r>
              <a:rPr lang="en-US" sz="750" b="1" dirty="0">
                <a:solidFill>
                  <a:srgbClr val="F59E0B"/>
                </a:solidFill>
                <a:latin typeface="Calibri" pitchFamily="34" charset="0"/>
                <a:ea typeface="Calibri" pitchFamily="34" charset="-122"/>
                <a:cs typeface="Calibri" pitchFamily="34" charset="-120"/>
              </a:rPr>
              <a:t>FK  prediction_id  → predictions.id</a:t>
            </a:r>
            <a:endParaRPr lang="en-US" sz="750" dirty="0"/>
          </a:p>
        </p:txBody>
      </p:sp>
      <p:sp>
        <p:nvSpPr>
          <p:cNvPr id="49" name="Text 47"/>
          <p:cNvSpPr/>
          <p:nvPr/>
        </p:nvSpPr>
        <p:spPr>
          <a:xfrm>
            <a:off x="4846320" y="3483864"/>
            <a:ext cx="274320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content  (TEXT)</a:t>
            </a:r>
            <a:endParaRPr lang="en-US" sz="750" dirty="0"/>
          </a:p>
        </p:txBody>
      </p:sp>
      <p:sp>
        <p:nvSpPr>
          <p:cNvPr id="50" name="Text 48"/>
          <p:cNvSpPr/>
          <p:nvPr/>
        </p:nvSpPr>
        <p:spPr>
          <a:xfrm>
            <a:off x="4846320" y="3685032"/>
            <a:ext cx="274320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groq_model,  tokens_used</a:t>
            </a:r>
            <a:endParaRPr lang="en-US" sz="750" dirty="0"/>
          </a:p>
        </p:txBody>
      </p:sp>
      <p:sp>
        <p:nvSpPr>
          <p:cNvPr id="51" name="Text 49"/>
          <p:cNvSpPr/>
          <p:nvPr/>
        </p:nvSpPr>
        <p:spPr>
          <a:xfrm>
            <a:off x="4846320" y="3886200"/>
            <a:ext cx="274320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generated_at</a:t>
            </a:r>
            <a:endParaRPr lang="en-US" sz="750" dirty="0"/>
          </a:p>
        </p:txBody>
      </p:sp>
      <p:sp>
        <p:nvSpPr>
          <p:cNvPr id="52" name="Text 50"/>
          <p:cNvSpPr/>
          <p:nvPr/>
        </p:nvSpPr>
        <p:spPr>
          <a:xfrm>
            <a:off x="4846320" y="4087368"/>
            <a:ext cx="2743200" cy="182880"/>
          </a:xfrm>
          <a:prstGeom prst="rect">
            <a:avLst/>
          </a:prstGeom>
          <a:noFill/>
          <a:ln/>
        </p:spPr>
        <p:txBody>
          <a:bodyPr wrap="square" lIns="0" tIns="0" rIns="0" bIns="0" rtlCol="0" anchor="ctr"/>
          <a:lstStyle/>
          <a:p>
            <a:pPr indent="0" marL="0">
              <a:buNone/>
            </a:pPr>
            <a:r>
              <a:rPr lang="en-US" sz="750" dirty="0">
                <a:solidFill>
                  <a:srgbClr val="0F1F2E"/>
                </a:solidFill>
                <a:latin typeface="Calibri" pitchFamily="34" charset="0"/>
                <a:ea typeface="Calibri" pitchFamily="34" charset="-122"/>
                <a:cs typeface="Calibri" pitchFamily="34" charset="-120"/>
              </a:rPr>
              <a:t>    pdf_url  (storage link)</a:t>
            </a:r>
            <a:endParaRPr lang="en-US" sz="750" dirty="0"/>
          </a:p>
        </p:txBody>
      </p:sp>
      <p:sp>
        <p:nvSpPr>
          <p:cNvPr id="53" name="Shape 51"/>
          <p:cNvSpPr/>
          <p:nvPr/>
        </p:nvSpPr>
        <p:spPr>
          <a:xfrm>
            <a:off x="2724912" y="1161288"/>
            <a:ext cx="612648" cy="45720"/>
          </a:xfrm>
          <a:prstGeom prst="rect">
            <a:avLst/>
          </a:prstGeom>
          <a:solidFill>
            <a:srgbClr val="AABBC8"/>
          </a:solidFill>
          <a:ln w="12700">
            <a:solidFill>
              <a:srgbClr val="AABBC8"/>
            </a:solidFill>
            <a:prstDash val="solid"/>
          </a:ln>
        </p:spPr>
      </p:sp>
      <p:sp>
        <p:nvSpPr>
          <p:cNvPr id="54" name="Text 52"/>
          <p:cNvSpPr/>
          <p:nvPr/>
        </p:nvSpPr>
        <p:spPr>
          <a:xfrm>
            <a:off x="2779776" y="978408"/>
            <a:ext cx="493776" cy="182880"/>
          </a:xfrm>
          <a:prstGeom prst="rect">
            <a:avLst/>
          </a:prstGeom>
          <a:noFill/>
          <a:ln/>
        </p:spPr>
        <p:txBody>
          <a:bodyPr wrap="square" lIns="0" tIns="0" rIns="0" bIns="0" rtlCol="0" anchor="ctr"/>
          <a:lstStyle/>
          <a:p>
            <a:pPr algn="ctr" indent="0" marL="0">
              <a:buNone/>
            </a:pPr>
            <a:r>
              <a:rPr lang="en-US" sz="750" i="1" dirty="0">
                <a:solidFill>
                  <a:srgbClr val="7A95A8"/>
                </a:solidFill>
                <a:latin typeface="Calibri" pitchFamily="34" charset="0"/>
                <a:ea typeface="Calibri" pitchFamily="34" charset="-122"/>
                <a:cs typeface="Calibri" pitchFamily="34" charset="-120"/>
              </a:rPr>
              <a:t>1 : N</a:t>
            </a:r>
            <a:endParaRPr lang="en-US" sz="750" dirty="0"/>
          </a:p>
        </p:txBody>
      </p:sp>
      <p:sp>
        <p:nvSpPr>
          <p:cNvPr id="55" name="Shape 53"/>
          <p:cNvSpPr/>
          <p:nvPr/>
        </p:nvSpPr>
        <p:spPr>
          <a:xfrm>
            <a:off x="5806440" y="1161288"/>
            <a:ext cx="502920" cy="45720"/>
          </a:xfrm>
          <a:prstGeom prst="rect">
            <a:avLst/>
          </a:prstGeom>
          <a:solidFill>
            <a:srgbClr val="AABBC8"/>
          </a:solidFill>
          <a:ln w="12700">
            <a:solidFill>
              <a:srgbClr val="AABBC8"/>
            </a:solidFill>
            <a:prstDash val="solid"/>
          </a:ln>
        </p:spPr>
      </p:sp>
      <p:sp>
        <p:nvSpPr>
          <p:cNvPr id="56" name="Text 54"/>
          <p:cNvSpPr/>
          <p:nvPr/>
        </p:nvSpPr>
        <p:spPr>
          <a:xfrm>
            <a:off x="5806440" y="978408"/>
            <a:ext cx="502920" cy="182880"/>
          </a:xfrm>
          <a:prstGeom prst="rect">
            <a:avLst/>
          </a:prstGeom>
          <a:noFill/>
          <a:ln/>
        </p:spPr>
        <p:txBody>
          <a:bodyPr wrap="square" lIns="0" tIns="0" rIns="0" bIns="0" rtlCol="0" anchor="ctr"/>
          <a:lstStyle/>
          <a:p>
            <a:pPr algn="ctr" indent="0" marL="0">
              <a:buNone/>
            </a:pPr>
            <a:r>
              <a:rPr lang="en-US" sz="750" i="1" dirty="0">
                <a:solidFill>
                  <a:srgbClr val="7A95A8"/>
                </a:solidFill>
                <a:latin typeface="Calibri" pitchFamily="34" charset="0"/>
                <a:ea typeface="Calibri" pitchFamily="34" charset="-122"/>
                <a:cs typeface="Calibri" pitchFamily="34" charset="-120"/>
              </a:rPr>
              <a:t>1 : N</a:t>
            </a:r>
            <a:endParaRPr lang="en-US" sz="750" dirty="0"/>
          </a:p>
        </p:txBody>
      </p:sp>
      <p:sp>
        <p:nvSpPr>
          <p:cNvPr id="57" name="Shape 55"/>
          <p:cNvSpPr/>
          <p:nvPr/>
        </p:nvSpPr>
        <p:spPr>
          <a:xfrm>
            <a:off x="7534656" y="2487168"/>
            <a:ext cx="45720" cy="219456"/>
          </a:xfrm>
          <a:prstGeom prst="rect">
            <a:avLst/>
          </a:prstGeom>
          <a:solidFill>
            <a:srgbClr val="AABBC8"/>
          </a:solidFill>
          <a:ln w="12700">
            <a:solidFill>
              <a:srgbClr val="AABBC8"/>
            </a:solidFill>
            <a:prstDash val="solid"/>
          </a:ln>
        </p:spPr>
      </p:sp>
      <p:sp>
        <p:nvSpPr>
          <p:cNvPr id="58" name="Shape 56"/>
          <p:cNvSpPr/>
          <p:nvPr/>
        </p:nvSpPr>
        <p:spPr>
          <a:xfrm>
            <a:off x="4023360" y="2670048"/>
            <a:ext cx="3557016" cy="45720"/>
          </a:xfrm>
          <a:prstGeom prst="rect">
            <a:avLst/>
          </a:prstGeom>
          <a:solidFill>
            <a:srgbClr val="AABBC8"/>
          </a:solidFill>
          <a:ln w="12700">
            <a:solidFill>
              <a:srgbClr val="AABBC8"/>
            </a:solidFill>
            <a:prstDash val="solid"/>
          </a:ln>
        </p:spPr>
      </p:sp>
      <p:sp>
        <p:nvSpPr>
          <p:cNvPr id="59" name="Shape 57"/>
          <p:cNvSpPr/>
          <p:nvPr/>
        </p:nvSpPr>
        <p:spPr>
          <a:xfrm>
            <a:off x="4023360" y="2670048"/>
            <a:ext cx="45720" cy="73152"/>
          </a:xfrm>
          <a:prstGeom prst="rect">
            <a:avLst/>
          </a:prstGeom>
          <a:solidFill>
            <a:srgbClr val="AABBC8"/>
          </a:solidFill>
          <a:ln w="12700">
            <a:solidFill>
              <a:srgbClr val="AABBC8"/>
            </a:solidFill>
            <a:prstDash val="solid"/>
          </a:ln>
        </p:spPr>
      </p:sp>
      <p:sp>
        <p:nvSpPr>
          <p:cNvPr id="60" name="Text 58"/>
          <p:cNvSpPr/>
          <p:nvPr/>
        </p:nvSpPr>
        <p:spPr>
          <a:xfrm>
            <a:off x="7607808" y="2505456"/>
            <a:ext cx="438912" cy="182880"/>
          </a:xfrm>
          <a:prstGeom prst="rect">
            <a:avLst/>
          </a:prstGeom>
          <a:noFill/>
          <a:ln/>
        </p:spPr>
        <p:txBody>
          <a:bodyPr wrap="square" lIns="0" tIns="0" rIns="0" bIns="0" rtlCol="0" anchor="ctr"/>
          <a:lstStyle/>
          <a:p>
            <a:pPr indent="0" marL="0">
              <a:buNone/>
            </a:pPr>
            <a:r>
              <a:rPr lang="en-US" sz="750" i="1" dirty="0">
                <a:solidFill>
                  <a:srgbClr val="7A95A8"/>
                </a:solidFill>
                <a:latin typeface="Calibri" pitchFamily="34" charset="0"/>
                <a:ea typeface="Calibri" pitchFamily="34" charset="-122"/>
                <a:cs typeface="Calibri" pitchFamily="34" charset="-120"/>
              </a:rPr>
              <a:t>1 : 1</a:t>
            </a:r>
            <a:endParaRPr lang="en-US" sz="750" dirty="0"/>
          </a:p>
        </p:txBody>
      </p:sp>
      <p:sp>
        <p:nvSpPr>
          <p:cNvPr id="61" name="Shape 59"/>
          <p:cNvSpPr/>
          <p:nvPr/>
        </p:nvSpPr>
        <p:spPr>
          <a:xfrm>
            <a:off x="4023360" y="2898648"/>
            <a:ext cx="731520" cy="45720"/>
          </a:xfrm>
          <a:prstGeom prst="rect">
            <a:avLst/>
          </a:prstGeom>
          <a:solidFill>
            <a:srgbClr val="AABBC8"/>
          </a:solidFill>
          <a:ln w="12700">
            <a:solidFill>
              <a:srgbClr val="AABBC8"/>
            </a:solidFill>
            <a:prstDash val="solid"/>
          </a:ln>
        </p:spPr>
      </p:sp>
      <p:sp>
        <p:nvSpPr>
          <p:cNvPr id="62" name="Text 60"/>
          <p:cNvSpPr/>
          <p:nvPr/>
        </p:nvSpPr>
        <p:spPr>
          <a:xfrm>
            <a:off x="4041648" y="2715768"/>
            <a:ext cx="694944" cy="182880"/>
          </a:xfrm>
          <a:prstGeom prst="rect">
            <a:avLst/>
          </a:prstGeom>
          <a:noFill/>
          <a:ln/>
        </p:spPr>
        <p:txBody>
          <a:bodyPr wrap="square" lIns="0" tIns="0" rIns="0" bIns="0" rtlCol="0" anchor="ctr"/>
          <a:lstStyle/>
          <a:p>
            <a:pPr algn="ctr" indent="0" marL="0">
              <a:buNone/>
            </a:pPr>
            <a:r>
              <a:rPr lang="en-US" sz="750" i="1" dirty="0">
                <a:solidFill>
                  <a:srgbClr val="7A95A8"/>
                </a:solidFill>
                <a:latin typeface="Calibri" pitchFamily="34" charset="0"/>
                <a:ea typeface="Calibri" pitchFamily="34" charset="-122"/>
                <a:cs typeface="Calibri" pitchFamily="34" charset="-120"/>
              </a:rPr>
              <a:t>1 : 1</a:t>
            </a:r>
            <a:endParaRPr lang="en-US" sz="750" dirty="0"/>
          </a:p>
        </p:txBody>
      </p:sp>
      <p:sp>
        <p:nvSpPr>
          <p:cNvPr id="63" name="Shape 61"/>
          <p:cNvSpPr/>
          <p:nvPr/>
        </p:nvSpPr>
        <p:spPr>
          <a:xfrm>
            <a:off x="256032" y="4681728"/>
            <a:ext cx="8631936" cy="237744"/>
          </a:xfrm>
          <a:prstGeom prst="rect">
            <a:avLst/>
          </a:prstGeom>
          <a:solidFill>
            <a:srgbClr val="E2EDF2"/>
          </a:solidFill>
          <a:ln w="6350">
            <a:solidFill>
              <a:srgbClr val="E2EDF2"/>
            </a:solidFill>
            <a:prstDash val="solid"/>
          </a:ln>
        </p:spPr>
      </p:sp>
      <p:sp>
        <p:nvSpPr>
          <p:cNvPr id="64" name="Text 62"/>
          <p:cNvSpPr/>
          <p:nvPr/>
        </p:nvSpPr>
        <p:spPr>
          <a:xfrm>
            <a:off x="329184" y="4690872"/>
            <a:ext cx="8485632" cy="201168"/>
          </a:xfrm>
          <a:prstGeom prst="rect">
            <a:avLst/>
          </a:prstGeom>
          <a:noFill/>
          <a:ln/>
        </p:spPr>
        <p:txBody>
          <a:bodyPr wrap="square" lIns="0" tIns="0" rIns="0" bIns="0" rtlCol="0" anchor="ctr"/>
          <a:lstStyle/>
          <a:p>
            <a:pPr indent="0" marL="0">
              <a:buNone/>
            </a:pPr>
            <a:r>
              <a:rPr lang="en-US" sz="750" i="1" dirty="0">
                <a:solidFill>
                  <a:srgbClr val="3A5068"/>
                </a:solidFill>
                <a:latin typeface="Calibri" pitchFamily="34" charset="0"/>
                <a:ea typeface="Calibri" pitchFamily="34" charset="-122"/>
                <a:cs typeface="Calibri" pitchFamily="34" charset="-120"/>
              </a:rPr>
              <a:t>All tables use UUID primary keys  ·  Row-level security enforces user-scoped access  ·  Supabase auto-generates typed REST API and client SDKs from the schema</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Use Case Diagram</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Actors and key interactions with the BizSense OS platform</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1417320" y="1005840"/>
            <a:ext cx="6492240" cy="3977640"/>
          </a:xfrm>
          <a:prstGeom prst="rect">
            <a:avLst/>
          </a:prstGeom>
          <a:solidFill>
            <a:srgbClr val="EEF4F7"/>
          </a:solidFill>
          <a:ln w="19050">
            <a:solidFill>
              <a:srgbClr val="0D7C8F"/>
            </a:solidFill>
            <a:prstDash val="solid"/>
          </a:ln>
        </p:spPr>
      </p:sp>
      <p:sp>
        <p:nvSpPr>
          <p:cNvPr id="10" name="Text 8"/>
          <p:cNvSpPr/>
          <p:nvPr/>
        </p:nvSpPr>
        <p:spPr>
          <a:xfrm>
            <a:off x="1417320" y="1005840"/>
            <a:ext cx="6492240" cy="274320"/>
          </a:xfrm>
          <a:prstGeom prst="rect">
            <a:avLst/>
          </a:prstGeom>
          <a:noFill/>
          <a:ln/>
        </p:spPr>
        <p:txBody>
          <a:bodyPr wrap="square" lIns="0" tIns="0" rIns="0" bIns="0" rtlCol="0" anchor="ctr"/>
          <a:lstStyle/>
          <a:p>
            <a:pPr algn="ctr" indent="0" marL="0">
              <a:buNone/>
            </a:pPr>
            <a:r>
              <a:rPr lang="en-US" sz="850" b="1" dirty="0">
                <a:solidFill>
                  <a:srgbClr val="0D7C8F"/>
                </a:solidFill>
                <a:latin typeface="Calibri" pitchFamily="34" charset="0"/>
                <a:ea typeface="Calibri" pitchFamily="34" charset="-122"/>
                <a:cs typeface="Calibri" pitchFamily="34" charset="-120"/>
              </a:rPr>
              <a:t>BizSense Operations Suite — Platform Boundary</a:t>
            </a:r>
            <a:endParaRPr lang="en-US" sz="850" dirty="0"/>
          </a:p>
        </p:txBody>
      </p:sp>
      <p:sp>
        <p:nvSpPr>
          <p:cNvPr id="11" name="Shape 9"/>
          <p:cNvSpPr/>
          <p:nvPr/>
        </p:nvSpPr>
        <p:spPr>
          <a:xfrm>
            <a:off x="1645920" y="1389888"/>
            <a:ext cx="2331720" cy="347472"/>
          </a:xfrm>
          <a:prstGeom prst="ellipse">
            <a:avLst/>
          </a:prstGeom>
          <a:solidFill>
            <a:srgbClr val="0A1931"/>
          </a:solidFill>
          <a:ln w="12700">
            <a:solidFill>
              <a:srgbClr val="0A1931"/>
            </a:solidFill>
            <a:prstDash val="solid"/>
          </a:ln>
        </p:spPr>
      </p:sp>
      <p:sp>
        <p:nvSpPr>
          <p:cNvPr id="12" name="Text 10"/>
          <p:cNvSpPr/>
          <p:nvPr/>
        </p:nvSpPr>
        <p:spPr>
          <a:xfrm>
            <a:off x="1645920" y="1389888"/>
            <a:ext cx="2331720" cy="34747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Register &amp; Login</a:t>
            </a:r>
            <a:endParaRPr lang="en-US" sz="800" dirty="0"/>
          </a:p>
        </p:txBody>
      </p:sp>
      <p:sp>
        <p:nvSpPr>
          <p:cNvPr id="13" name="Shape 11"/>
          <p:cNvSpPr/>
          <p:nvPr/>
        </p:nvSpPr>
        <p:spPr>
          <a:xfrm>
            <a:off x="1645920" y="1883664"/>
            <a:ext cx="2331720" cy="347472"/>
          </a:xfrm>
          <a:prstGeom prst="ellipse">
            <a:avLst/>
          </a:prstGeom>
          <a:solidFill>
            <a:srgbClr val="0A1931"/>
          </a:solidFill>
          <a:ln w="12700">
            <a:solidFill>
              <a:srgbClr val="0A1931"/>
            </a:solidFill>
            <a:prstDash val="solid"/>
          </a:ln>
        </p:spPr>
      </p:sp>
      <p:sp>
        <p:nvSpPr>
          <p:cNvPr id="14" name="Text 12"/>
          <p:cNvSpPr/>
          <p:nvPr/>
        </p:nvSpPr>
        <p:spPr>
          <a:xfrm>
            <a:off x="1645920" y="1883664"/>
            <a:ext cx="2331720" cy="34747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Register Business Profile</a:t>
            </a:r>
            <a:endParaRPr lang="en-US" sz="800" dirty="0"/>
          </a:p>
        </p:txBody>
      </p:sp>
      <p:sp>
        <p:nvSpPr>
          <p:cNvPr id="15" name="Shape 13"/>
          <p:cNvSpPr/>
          <p:nvPr/>
        </p:nvSpPr>
        <p:spPr>
          <a:xfrm>
            <a:off x="1645920" y="2377440"/>
            <a:ext cx="2331720" cy="347472"/>
          </a:xfrm>
          <a:prstGeom prst="ellipse">
            <a:avLst/>
          </a:prstGeom>
          <a:solidFill>
            <a:srgbClr val="0A1931"/>
          </a:solidFill>
          <a:ln w="12700">
            <a:solidFill>
              <a:srgbClr val="0A1931"/>
            </a:solidFill>
            <a:prstDash val="solid"/>
          </a:ln>
        </p:spPr>
      </p:sp>
      <p:sp>
        <p:nvSpPr>
          <p:cNvPr id="16" name="Text 14"/>
          <p:cNvSpPr/>
          <p:nvPr/>
        </p:nvSpPr>
        <p:spPr>
          <a:xfrm>
            <a:off x="1645920" y="2377440"/>
            <a:ext cx="2331720" cy="34747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Submit Assessment Form</a:t>
            </a:r>
            <a:endParaRPr lang="en-US" sz="800" dirty="0"/>
          </a:p>
        </p:txBody>
      </p:sp>
      <p:sp>
        <p:nvSpPr>
          <p:cNvPr id="17" name="Shape 15"/>
          <p:cNvSpPr/>
          <p:nvPr/>
        </p:nvSpPr>
        <p:spPr>
          <a:xfrm>
            <a:off x="1645920" y="2871216"/>
            <a:ext cx="2331720" cy="347472"/>
          </a:xfrm>
          <a:prstGeom prst="ellipse">
            <a:avLst/>
          </a:prstGeom>
          <a:solidFill>
            <a:srgbClr val="0A1931"/>
          </a:solidFill>
          <a:ln w="12700">
            <a:solidFill>
              <a:srgbClr val="0A1931"/>
            </a:solidFill>
            <a:prstDash val="solid"/>
          </a:ln>
        </p:spPr>
      </p:sp>
      <p:sp>
        <p:nvSpPr>
          <p:cNvPr id="18" name="Text 16"/>
          <p:cNvSpPr/>
          <p:nvPr/>
        </p:nvSpPr>
        <p:spPr>
          <a:xfrm>
            <a:off x="1645920" y="2871216"/>
            <a:ext cx="2331720" cy="34747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View Risk Prediction</a:t>
            </a:r>
            <a:endParaRPr lang="en-US" sz="800" dirty="0"/>
          </a:p>
        </p:txBody>
      </p:sp>
      <p:sp>
        <p:nvSpPr>
          <p:cNvPr id="19" name="Shape 17"/>
          <p:cNvSpPr/>
          <p:nvPr/>
        </p:nvSpPr>
        <p:spPr>
          <a:xfrm>
            <a:off x="1645920" y="3364992"/>
            <a:ext cx="2331720" cy="347472"/>
          </a:xfrm>
          <a:prstGeom prst="ellipse">
            <a:avLst/>
          </a:prstGeom>
          <a:solidFill>
            <a:srgbClr val="0A1931"/>
          </a:solidFill>
          <a:ln w="12700">
            <a:solidFill>
              <a:srgbClr val="0A1931"/>
            </a:solidFill>
            <a:prstDash val="solid"/>
          </a:ln>
        </p:spPr>
      </p:sp>
      <p:sp>
        <p:nvSpPr>
          <p:cNvPr id="20" name="Text 18"/>
          <p:cNvSpPr/>
          <p:nvPr/>
        </p:nvSpPr>
        <p:spPr>
          <a:xfrm>
            <a:off x="1645920" y="3364992"/>
            <a:ext cx="2331720" cy="34747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Read AI Advisory Report</a:t>
            </a:r>
            <a:endParaRPr lang="en-US" sz="800" dirty="0"/>
          </a:p>
        </p:txBody>
      </p:sp>
      <p:sp>
        <p:nvSpPr>
          <p:cNvPr id="21" name="Shape 19"/>
          <p:cNvSpPr/>
          <p:nvPr/>
        </p:nvSpPr>
        <p:spPr>
          <a:xfrm>
            <a:off x="1645920" y="3858768"/>
            <a:ext cx="2331720" cy="347472"/>
          </a:xfrm>
          <a:prstGeom prst="ellipse">
            <a:avLst/>
          </a:prstGeom>
          <a:solidFill>
            <a:srgbClr val="0A1931"/>
          </a:solidFill>
          <a:ln w="12700">
            <a:solidFill>
              <a:srgbClr val="0A1931"/>
            </a:solidFill>
            <a:prstDash val="solid"/>
          </a:ln>
        </p:spPr>
      </p:sp>
      <p:sp>
        <p:nvSpPr>
          <p:cNvPr id="22" name="Text 20"/>
          <p:cNvSpPr/>
          <p:nvPr/>
        </p:nvSpPr>
        <p:spPr>
          <a:xfrm>
            <a:off x="1645920" y="3858768"/>
            <a:ext cx="2331720" cy="34747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Download PDF Report</a:t>
            </a:r>
            <a:endParaRPr lang="en-US" sz="800" dirty="0"/>
          </a:p>
        </p:txBody>
      </p:sp>
      <p:sp>
        <p:nvSpPr>
          <p:cNvPr id="23" name="Shape 21"/>
          <p:cNvSpPr/>
          <p:nvPr/>
        </p:nvSpPr>
        <p:spPr>
          <a:xfrm>
            <a:off x="4251960" y="1389888"/>
            <a:ext cx="2194560" cy="347472"/>
          </a:xfrm>
          <a:prstGeom prst="ellipse">
            <a:avLst/>
          </a:prstGeom>
          <a:solidFill>
            <a:srgbClr val="059669"/>
          </a:solidFill>
          <a:ln w="12700">
            <a:solidFill>
              <a:srgbClr val="059669"/>
            </a:solidFill>
            <a:prstDash val="solid"/>
          </a:ln>
        </p:spPr>
      </p:sp>
      <p:sp>
        <p:nvSpPr>
          <p:cNvPr id="24" name="Text 22"/>
          <p:cNvSpPr/>
          <p:nvPr/>
        </p:nvSpPr>
        <p:spPr>
          <a:xfrm>
            <a:off x="4251960" y="1389888"/>
            <a:ext cx="2194560" cy="34747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Auto-Cache Prediction</a:t>
            </a:r>
            <a:endParaRPr lang="en-US" sz="800" dirty="0"/>
          </a:p>
        </p:txBody>
      </p:sp>
      <p:sp>
        <p:nvSpPr>
          <p:cNvPr id="25" name="Shape 23"/>
          <p:cNvSpPr/>
          <p:nvPr/>
        </p:nvSpPr>
        <p:spPr>
          <a:xfrm>
            <a:off x="4251960" y="2377440"/>
            <a:ext cx="2194560" cy="347472"/>
          </a:xfrm>
          <a:prstGeom prst="ellipse">
            <a:avLst/>
          </a:prstGeom>
          <a:solidFill>
            <a:srgbClr val="0D7C8F"/>
          </a:solidFill>
          <a:ln w="12700">
            <a:solidFill>
              <a:srgbClr val="0D7C8F"/>
            </a:solidFill>
            <a:prstDash val="solid"/>
          </a:ln>
        </p:spPr>
      </p:sp>
      <p:sp>
        <p:nvSpPr>
          <p:cNvPr id="26" name="Text 24"/>
          <p:cNvSpPr/>
          <p:nvPr/>
        </p:nvSpPr>
        <p:spPr>
          <a:xfrm>
            <a:off x="4251960" y="2377440"/>
            <a:ext cx="2194560" cy="34747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View Survival Timeline</a:t>
            </a:r>
            <a:endParaRPr lang="en-US" sz="800" dirty="0"/>
          </a:p>
        </p:txBody>
      </p:sp>
      <p:sp>
        <p:nvSpPr>
          <p:cNvPr id="27" name="Shape 25"/>
          <p:cNvSpPr/>
          <p:nvPr/>
        </p:nvSpPr>
        <p:spPr>
          <a:xfrm>
            <a:off x="4251960" y="3364992"/>
            <a:ext cx="2194560" cy="347472"/>
          </a:xfrm>
          <a:prstGeom prst="ellipse">
            <a:avLst/>
          </a:prstGeom>
          <a:solidFill>
            <a:srgbClr val="0D7C8F"/>
          </a:solidFill>
          <a:ln w="12700">
            <a:solidFill>
              <a:srgbClr val="0D7C8F"/>
            </a:solidFill>
            <a:prstDash val="solid"/>
          </a:ln>
        </p:spPr>
      </p:sp>
      <p:sp>
        <p:nvSpPr>
          <p:cNvPr id="28" name="Text 26"/>
          <p:cNvSpPr/>
          <p:nvPr/>
        </p:nvSpPr>
        <p:spPr>
          <a:xfrm>
            <a:off x="4251960" y="3364992"/>
            <a:ext cx="2194560" cy="34747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View SHAP Explanations</a:t>
            </a:r>
            <a:endParaRPr lang="en-US" sz="800" dirty="0"/>
          </a:p>
        </p:txBody>
      </p:sp>
      <p:sp>
        <p:nvSpPr>
          <p:cNvPr id="29" name="Shape 27"/>
          <p:cNvSpPr/>
          <p:nvPr/>
        </p:nvSpPr>
        <p:spPr>
          <a:xfrm>
            <a:off x="5742432" y="1883664"/>
            <a:ext cx="2011680" cy="347472"/>
          </a:xfrm>
          <a:prstGeom prst="ellipse">
            <a:avLst/>
          </a:prstGeom>
          <a:solidFill>
            <a:srgbClr val="112244"/>
          </a:solidFill>
          <a:ln w="12700">
            <a:solidFill>
              <a:srgbClr val="112244"/>
            </a:solidFill>
            <a:prstDash val="solid"/>
          </a:ln>
        </p:spPr>
      </p:sp>
      <p:sp>
        <p:nvSpPr>
          <p:cNvPr id="30" name="Text 28"/>
          <p:cNvSpPr/>
          <p:nvPr/>
        </p:nvSpPr>
        <p:spPr>
          <a:xfrm>
            <a:off x="5742432" y="1883664"/>
            <a:ext cx="2011680" cy="34747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Manage User Accounts</a:t>
            </a:r>
            <a:endParaRPr lang="en-US" sz="800" dirty="0"/>
          </a:p>
        </p:txBody>
      </p:sp>
      <p:sp>
        <p:nvSpPr>
          <p:cNvPr id="31" name="Shape 29"/>
          <p:cNvSpPr/>
          <p:nvPr/>
        </p:nvSpPr>
        <p:spPr>
          <a:xfrm>
            <a:off x="5742432" y="2871216"/>
            <a:ext cx="2011680" cy="347472"/>
          </a:xfrm>
          <a:prstGeom prst="ellipse">
            <a:avLst/>
          </a:prstGeom>
          <a:solidFill>
            <a:srgbClr val="112244"/>
          </a:solidFill>
          <a:ln w="12700">
            <a:solidFill>
              <a:srgbClr val="112244"/>
            </a:solidFill>
            <a:prstDash val="solid"/>
          </a:ln>
        </p:spPr>
      </p:sp>
      <p:sp>
        <p:nvSpPr>
          <p:cNvPr id="32" name="Text 30"/>
          <p:cNvSpPr/>
          <p:nvPr/>
        </p:nvSpPr>
        <p:spPr>
          <a:xfrm>
            <a:off x="5742432" y="2871216"/>
            <a:ext cx="2011680" cy="34747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View All Assessments</a:t>
            </a:r>
            <a:endParaRPr lang="en-US" sz="800" dirty="0"/>
          </a:p>
        </p:txBody>
      </p:sp>
      <p:sp>
        <p:nvSpPr>
          <p:cNvPr id="33" name="Shape 31"/>
          <p:cNvSpPr/>
          <p:nvPr/>
        </p:nvSpPr>
        <p:spPr>
          <a:xfrm>
            <a:off x="5742432" y="3858768"/>
            <a:ext cx="2011680" cy="347472"/>
          </a:xfrm>
          <a:prstGeom prst="ellipse">
            <a:avLst/>
          </a:prstGeom>
          <a:solidFill>
            <a:srgbClr val="112244"/>
          </a:solidFill>
          <a:ln w="12700">
            <a:solidFill>
              <a:srgbClr val="112244"/>
            </a:solidFill>
            <a:prstDash val="solid"/>
          </a:ln>
        </p:spPr>
      </p:sp>
      <p:sp>
        <p:nvSpPr>
          <p:cNvPr id="34" name="Text 32"/>
          <p:cNvSpPr/>
          <p:nvPr/>
        </p:nvSpPr>
        <p:spPr>
          <a:xfrm>
            <a:off x="5742432" y="3858768"/>
            <a:ext cx="2011680" cy="34747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Monitor System Logs</a:t>
            </a:r>
            <a:endParaRPr lang="en-US" sz="800" dirty="0"/>
          </a:p>
        </p:txBody>
      </p:sp>
      <p:sp>
        <p:nvSpPr>
          <p:cNvPr id="35" name="Shape 33"/>
          <p:cNvSpPr/>
          <p:nvPr/>
        </p:nvSpPr>
        <p:spPr>
          <a:xfrm>
            <a:off x="228600" y="2542032"/>
            <a:ext cx="402336" cy="402336"/>
          </a:xfrm>
          <a:prstGeom prst="ellipse">
            <a:avLst/>
          </a:prstGeom>
          <a:solidFill>
            <a:srgbClr val="0A1931"/>
          </a:solidFill>
          <a:ln w="12700">
            <a:solidFill>
              <a:srgbClr val="0A1931"/>
            </a:solidFill>
            <a:prstDash val="solid"/>
          </a:ln>
        </p:spPr>
      </p:sp>
      <p:sp>
        <p:nvSpPr>
          <p:cNvPr id="36" name="Shape 34"/>
          <p:cNvSpPr/>
          <p:nvPr/>
        </p:nvSpPr>
        <p:spPr>
          <a:xfrm>
            <a:off x="347472" y="2944368"/>
            <a:ext cx="164592" cy="402336"/>
          </a:xfrm>
          <a:prstGeom prst="rect">
            <a:avLst/>
          </a:prstGeom>
          <a:solidFill>
            <a:srgbClr val="0A1931"/>
          </a:solidFill>
          <a:ln w="12700">
            <a:solidFill>
              <a:srgbClr val="0A1931"/>
            </a:solidFill>
            <a:prstDash val="solid"/>
          </a:ln>
        </p:spPr>
      </p:sp>
      <p:sp>
        <p:nvSpPr>
          <p:cNvPr id="37" name="Shape 35"/>
          <p:cNvSpPr/>
          <p:nvPr/>
        </p:nvSpPr>
        <p:spPr>
          <a:xfrm>
            <a:off x="164592" y="3017520"/>
            <a:ext cx="530352" cy="54864"/>
          </a:xfrm>
          <a:prstGeom prst="rect">
            <a:avLst/>
          </a:prstGeom>
          <a:solidFill>
            <a:srgbClr val="0A1931"/>
          </a:solidFill>
          <a:ln w="12700">
            <a:solidFill>
              <a:srgbClr val="0A1931"/>
            </a:solidFill>
            <a:prstDash val="solid"/>
          </a:ln>
        </p:spPr>
      </p:sp>
      <p:sp>
        <p:nvSpPr>
          <p:cNvPr id="38" name="Shape 36"/>
          <p:cNvSpPr/>
          <p:nvPr/>
        </p:nvSpPr>
        <p:spPr>
          <a:xfrm>
            <a:off x="256032" y="3346704"/>
            <a:ext cx="146304" cy="329184"/>
          </a:xfrm>
          <a:prstGeom prst="rect">
            <a:avLst/>
          </a:prstGeom>
          <a:solidFill>
            <a:srgbClr val="0A1931"/>
          </a:solidFill>
          <a:ln w="12700">
            <a:solidFill>
              <a:srgbClr val="0A1931"/>
            </a:solidFill>
            <a:prstDash val="solid"/>
          </a:ln>
        </p:spPr>
      </p:sp>
      <p:sp>
        <p:nvSpPr>
          <p:cNvPr id="39" name="Shape 37"/>
          <p:cNvSpPr/>
          <p:nvPr/>
        </p:nvSpPr>
        <p:spPr>
          <a:xfrm>
            <a:off x="457200" y="3346704"/>
            <a:ext cx="146304" cy="329184"/>
          </a:xfrm>
          <a:prstGeom prst="rect">
            <a:avLst/>
          </a:prstGeom>
          <a:solidFill>
            <a:srgbClr val="0A1931"/>
          </a:solidFill>
          <a:ln w="12700">
            <a:solidFill>
              <a:srgbClr val="0A1931"/>
            </a:solidFill>
            <a:prstDash val="solid"/>
          </a:ln>
        </p:spPr>
      </p:sp>
      <p:sp>
        <p:nvSpPr>
          <p:cNvPr id="40" name="Text 38"/>
          <p:cNvSpPr/>
          <p:nvPr/>
        </p:nvSpPr>
        <p:spPr>
          <a:xfrm>
            <a:off x="73152" y="3730752"/>
            <a:ext cx="713232" cy="347472"/>
          </a:xfrm>
          <a:prstGeom prst="rect">
            <a:avLst/>
          </a:prstGeom>
          <a:noFill/>
          <a:ln/>
        </p:spPr>
        <p:txBody>
          <a:bodyPr wrap="square" lIns="0" tIns="0" rIns="0" bIns="0" rtlCol="0" anchor="ctr"/>
          <a:lstStyle/>
          <a:p>
            <a:pPr algn="ctr" indent="0" marL="0">
              <a:buNone/>
            </a:pPr>
            <a:r>
              <a:rPr lang="en-US" sz="750" b="1" dirty="0">
                <a:solidFill>
                  <a:srgbClr val="0A1931"/>
                </a:solidFill>
                <a:latin typeface="Calibri" pitchFamily="34" charset="0"/>
                <a:ea typeface="Calibri" pitchFamily="34" charset="-122"/>
                <a:cs typeface="Calibri" pitchFamily="34" charset="-120"/>
              </a:rPr>
              <a:t>SME Owner</a:t>
            </a:r>
            <a:endParaRPr lang="en-US" sz="750" dirty="0"/>
          </a:p>
          <a:p>
            <a:pPr algn="ctr" indent="0" marL="0">
              <a:buNone/>
            </a:pPr>
            <a:r>
              <a:rPr lang="en-US" sz="750" b="1" dirty="0">
                <a:solidFill>
                  <a:srgbClr val="0A1931"/>
                </a:solidFill>
                <a:latin typeface="Calibri" pitchFamily="34" charset="0"/>
                <a:ea typeface="Calibri" pitchFamily="34" charset="-122"/>
                <a:cs typeface="Calibri" pitchFamily="34" charset="-120"/>
              </a:rPr>
              <a:t>(Primary User)</a:t>
            </a:r>
            <a:endParaRPr lang="en-US" sz="750" dirty="0"/>
          </a:p>
        </p:txBody>
      </p:sp>
      <p:sp>
        <p:nvSpPr>
          <p:cNvPr id="41" name="Shape 39"/>
          <p:cNvSpPr/>
          <p:nvPr/>
        </p:nvSpPr>
        <p:spPr>
          <a:xfrm>
            <a:off x="8503920" y="2542032"/>
            <a:ext cx="402336" cy="402336"/>
          </a:xfrm>
          <a:prstGeom prst="ellipse">
            <a:avLst/>
          </a:prstGeom>
          <a:solidFill>
            <a:srgbClr val="0D7C8F"/>
          </a:solidFill>
          <a:ln w="12700">
            <a:solidFill>
              <a:srgbClr val="0D7C8F"/>
            </a:solidFill>
            <a:prstDash val="solid"/>
          </a:ln>
        </p:spPr>
      </p:sp>
      <p:sp>
        <p:nvSpPr>
          <p:cNvPr id="42" name="Shape 40"/>
          <p:cNvSpPr/>
          <p:nvPr/>
        </p:nvSpPr>
        <p:spPr>
          <a:xfrm>
            <a:off x="8622792" y="2944368"/>
            <a:ext cx="164592" cy="402336"/>
          </a:xfrm>
          <a:prstGeom prst="rect">
            <a:avLst/>
          </a:prstGeom>
          <a:solidFill>
            <a:srgbClr val="0D7C8F"/>
          </a:solidFill>
          <a:ln w="12700">
            <a:solidFill>
              <a:srgbClr val="0D7C8F"/>
            </a:solidFill>
            <a:prstDash val="solid"/>
          </a:ln>
        </p:spPr>
      </p:sp>
      <p:sp>
        <p:nvSpPr>
          <p:cNvPr id="43" name="Shape 41"/>
          <p:cNvSpPr/>
          <p:nvPr/>
        </p:nvSpPr>
        <p:spPr>
          <a:xfrm>
            <a:off x="8439912" y="3017520"/>
            <a:ext cx="530352" cy="54864"/>
          </a:xfrm>
          <a:prstGeom prst="rect">
            <a:avLst/>
          </a:prstGeom>
          <a:solidFill>
            <a:srgbClr val="0D7C8F"/>
          </a:solidFill>
          <a:ln w="12700">
            <a:solidFill>
              <a:srgbClr val="0D7C8F"/>
            </a:solidFill>
            <a:prstDash val="solid"/>
          </a:ln>
        </p:spPr>
      </p:sp>
      <p:sp>
        <p:nvSpPr>
          <p:cNvPr id="44" name="Shape 42"/>
          <p:cNvSpPr/>
          <p:nvPr/>
        </p:nvSpPr>
        <p:spPr>
          <a:xfrm>
            <a:off x="8531352" y="3346704"/>
            <a:ext cx="146304" cy="329184"/>
          </a:xfrm>
          <a:prstGeom prst="rect">
            <a:avLst/>
          </a:prstGeom>
          <a:solidFill>
            <a:srgbClr val="0D7C8F"/>
          </a:solidFill>
          <a:ln w="12700">
            <a:solidFill>
              <a:srgbClr val="0D7C8F"/>
            </a:solidFill>
            <a:prstDash val="solid"/>
          </a:ln>
        </p:spPr>
      </p:sp>
      <p:sp>
        <p:nvSpPr>
          <p:cNvPr id="45" name="Shape 43"/>
          <p:cNvSpPr/>
          <p:nvPr/>
        </p:nvSpPr>
        <p:spPr>
          <a:xfrm>
            <a:off x="8732520" y="3346704"/>
            <a:ext cx="146304" cy="329184"/>
          </a:xfrm>
          <a:prstGeom prst="rect">
            <a:avLst/>
          </a:prstGeom>
          <a:solidFill>
            <a:srgbClr val="0D7C8F"/>
          </a:solidFill>
          <a:ln w="12700">
            <a:solidFill>
              <a:srgbClr val="0D7C8F"/>
            </a:solidFill>
            <a:prstDash val="solid"/>
          </a:ln>
        </p:spPr>
      </p:sp>
      <p:sp>
        <p:nvSpPr>
          <p:cNvPr id="46" name="Text 44"/>
          <p:cNvSpPr/>
          <p:nvPr/>
        </p:nvSpPr>
        <p:spPr>
          <a:xfrm>
            <a:off x="8357616" y="3730752"/>
            <a:ext cx="713232" cy="347472"/>
          </a:xfrm>
          <a:prstGeom prst="rect">
            <a:avLst/>
          </a:prstGeom>
          <a:noFill/>
          <a:ln/>
        </p:spPr>
        <p:txBody>
          <a:bodyPr wrap="square" lIns="0" tIns="0" rIns="0" bIns="0" rtlCol="0" anchor="ctr"/>
          <a:lstStyle/>
          <a:p>
            <a:pPr algn="ctr" indent="0" marL="0">
              <a:buNone/>
            </a:pPr>
            <a:r>
              <a:rPr lang="en-US" sz="750" b="1" dirty="0">
                <a:solidFill>
                  <a:srgbClr val="0D7C8F"/>
                </a:solidFill>
                <a:latin typeface="Calibri" pitchFamily="34" charset="0"/>
                <a:ea typeface="Calibri" pitchFamily="34" charset="-122"/>
                <a:cs typeface="Calibri" pitchFamily="34" charset="-120"/>
              </a:rPr>
              <a:t>Platform</a:t>
            </a:r>
            <a:endParaRPr lang="en-US" sz="750" dirty="0"/>
          </a:p>
          <a:p>
            <a:pPr algn="ctr" indent="0" marL="0">
              <a:buNone/>
            </a:pPr>
            <a:r>
              <a:rPr lang="en-US" sz="750" b="1" dirty="0">
                <a:solidFill>
                  <a:srgbClr val="0D7C8F"/>
                </a:solidFill>
                <a:latin typeface="Calibri" pitchFamily="34" charset="0"/>
                <a:ea typeface="Calibri" pitchFamily="34" charset="-122"/>
                <a:cs typeface="Calibri" pitchFamily="34" charset="-120"/>
              </a:rPr>
              <a:t>Admin</a:t>
            </a:r>
            <a:endParaRPr lang="en-US" sz="750" dirty="0"/>
          </a:p>
        </p:txBody>
      </p:sp>
      <p:sp>
        <p:nvSpPr>
          <p:cNvPr id="47" name="Shape 45"/>
          <p:cNvSpPr/>
          <p:nvPr/>
        </p:nvSpPr>
        <p:spPr>
          <a:xfrm>
            <a:off x="640080" y="1545336"/>
            <a:ext cx="1005840" cy="36576"/>
          </a:xfrm>
          <a:prstGeom prst="rect">
            <a:avLst/>
          </a:prstGeom>
          <a:solidFill>
            <a:srgbClr val="AABBC8"/>
          </a:solidFill>
          <a:ln w="12700">
            <a:solidFill>
              <a:srgbClr val="AABBC8"/>
            </a:solidFill>
            <a:prstDash val="solid"/>
          </a:ln>
        </p:spPr>
      </p:sp>
      <p:sp>
        <p:nvSpPr>
          <p:cNvPr id="48" name="Shape 46"/>
          <p:cNvSpPr/>
          <p:nvPr/>
        </p:nvSpPr>
        <p:spPr>
          <a:xfrm>
            <a:off x="640080" y="2039112"/>
            <a:ext cx="1005840" cy="36576"/>
          </a:xfrm>
          <a:prstGeom prst="rect">
            <a:avLst/>
          </a:prstGeom>
          <a:solidFill>
            <a:srgbClr val="AABBC8"/>
          </a:solidFill>
          <a:ln w="12700">
            <a:solidFill>
              <a:srgbClr val="AABBC8"/>
            </a:solidFill>
            <a:prstDash val="solid"/>
          </a:ln>
        </p:spPr>
      </p:sp>
      <p:sp>
        <p:nvSpPr>
          <p:cNvPr id="49" name="Shape 47"/>
          <p:cNvSpPr/>
          <p:nvPr/>
        </p:nvSpPr>
        <p:spPr>
          <a:xfrm>
            <a:off x="640080" y="2532888"/>
            <a:ext cx="1005840" cy="36576"/>
          </a:xfrm>
          <a:prstGeom prst="rect">
            <a:avLst/>
          </a:prstGeom>
          <a:solidFill>
            <a:srgbClr val="AABBC8"/>
          </a:solidFill>
          <a:ln w="12700">
            <a:solidFill>
              <a:srgbClr val="AABBC8"/>
            </a:solidFill>
            <a:prstDash val="solid"/>
          </a:ln>
        </p:spPr>
      </p:sp>
      <p:sp>
        <p:nvSpPr>
          <p:cNvPr id="50" name="Shape 48"/>
          <p:cNvSpPr/>
          <p:nvPr/>
        </p:nvSpPr>
        <p:spPr>
          <a:xfrm>
            <a:off x="640080" y="3026664"/>
            <a:ext cx="1005840" cy="36576"/>
          </a:xfrm>
          <a:prstGeom prst="rect">
            <a:avLst/>
          </a:prstGeom>
          <a:solidFill>
            <a:srgbClr val="AABBC8"/>
          </a:solidFill>
          <a:ln w="12700">
            <a:solidFill>
              <a:srgbClr val="AABBC8"/>
            </a:solidFill>
            <a:prstDash val="solid"/>
          </a:ln>
        </p:spPr>
      </p:sp>
      <p:sp>
        <p:nvSpPr>
          <p:cNvPr id="51" name="Shape 49"/>
          <p:cNvSpPr/>
          <p:nvPr/>
        </p:nvSpPr>
        <p:spPr>
          <a:xfrm>
            <a:off x="640080" y="3520440"/>
            <a:ext cx="1005840" cy="36576"/>
          </a:xfrm>
          <a:prstGeom prst="rect">
            <a:avLst/>
          </a:prstGeom>
          <a:solidFill>
            <a:srgbClr val="AABBC8"/>
          </a:solidFill>
          <a:ln w="12700">
            <a:solidFill>
              <a:srgbClr val="AABBC8"/>
            </a:solidFill>
            <a:prstDash val="solid"/>
          </a:ln>
        </p:spPr>
      </p:sp>
      <p:sp>
        <p:nvSpPr>
          <p:cNvPr id="52" name="Shape 50"/>
          <p:cNvSpPr/>
          <p:nvPr/>
        </p:nvSpPr>
        <p:spPr>
          <a:xfrm>
            <a:off x="640080" y="4014216"/>
            <a:ext cx="1005840" cy="36576"/>
          </a:xfrm>
          <a:prstGeom prst="rect">
            <a:avLst/>
          </a:prstGeom>
          <a:solidFill>
            <a:srgbClr val="AABBC8"/>
          </a:solidFill>
          <a:ln w="12700">
            <a:solidFill>
              <a:srgbClr val="AABBC8"/>
            </a:solidFill>
            <a:prstDash val="solid"/>
          </a:ln>
        </p:spPr>
      </p:sp>
      <p:sp>
        <p:nvSpPr>
          <p:cNvPr id="53" name="Shape 51"/>
          <p:cNvSpPr/>
          <p:nvPr/>
        </p:nvSpPr>
        <p:spPr>
          <a:xfrm>
            <a:off x="7754112" y="2039112"/>
            <a:ext cx="731520" cy="36576"/>
          </a:xfrm>
          <a:prstGeom prst="rect">
            <a:avLst/>
          </a:prstGeom>
          <a:solidFill>
            <a:srgbClr val="AABBC8"/>
          </a:solidFill>
          <a:ln w="12700">
            <a:solidFill>
              <a:srgbClr val="AABBC8"/>
            </a:solidFill>
            <a:prstDash val="solid"/>
          </a:ln>
        </p:spPr>
      </p:sp>
      <p:sp>
        <p:nvSpPr>
          <p:cNvPr id="54" name="Shape 52"/>
          <p:cNvSpPr/>
          <p:nvPr/>
        </p:nvSpPr>
        <p:spPr>
          <a:xfrm>
            <a:off x="7754112" y="3026664"/>
            <a:ext cx="731520" cy="36576"/>
          </a:xfrm>
          <a:prstGeom prst="rect">
            <a:avLst/>
          </a:prstGeom>
          <a:solidFill>
            <a:srgbClr val="AABBC8"/>
          </a:solidFill>
          <a:ln w="12700">
            <a:solidFill>
              <a:srgbClr val="AABBC8"/>
            </a:solidFill>
            <a:prstDash val="solid"/>
          </a:ln>
        </p:spPr>
      </p:sp>
      <p:sp>
        <p:nvSpPr>
          <p:cNvPr id="55" name="Shape 53"/>
          <p:cNvSpPr/>
          <p:nvPr/>
        </p:nvSpPr>
        <p:spPr>
          <a:xfrm>
            <a:off x="7754112" y="4014216"/>
            <a:ext cx="731520" cy="36576"/>
          </a:xfrm>
          <a:prstGeom prst="rect">
            <a:avLst/>
          </a:prstGeom>
          <a:solidFill>
            <a:srgbClr val="AABBC8"/>
          </a:solidFill>
          <a:ln w="12700">
            <a:solidFill>
              <a:srgbClr val="AABBC8"/>
            </a:solidFill>
            <a:prstDash val="solid"/>
          </a:ln>
        </p:spPr>
      </p:sp>
      <p:sp>
        <p:nvSpPr>
          <p:cNvPr id="56" name="Shape 54"/>
          <p:cNvSpPr/>
          <p:nvPr/>
        </p:nvSpPr>
        <p:spPr>
          <a:xfrm>
            <a:off x="3977640" y="2542032"/>
            <a:ext cx="274320" cy="36576"/>
          </a:xfrm>
          <a:prstGeom prst="rect">
            <a:avLst/>
          </a:prstGeom>
          <a:solidFill>
            <a:srgbClr val="99B8C8"/>
          </a:solidFill>
          <a:ln w="12700">
            <a:solidFill>
              <a:srgbClr val="99B8C8"/>
            </a:solidFill>
            <a:prstDash val="solid"/>
          </a:ln>
        </p:spPr>
      </p:sp>
      <p:sp>
        <p:nvSpPr>
          <p:cNvPr id="57" name="Shape 55"/>
          <p:cNvSpPr/>
          <p:nvPr/>
        </p:nvSpPr>
        <p:spPr>
          <a:xfrm>
            <a:off x="3977640" y="3035808"/>
            <a:ext cx="274320" cy="36576"/>
          </a:xfrm>
          <a:prstGeom prst="rect">
            <a:avLst/>
          </a:prstGeom>
          <a:solidFill>
            <a:srgbClr val="99B8C8"/>
          </a:solidFill>
          <a:ln w="12700">
            <a:solidFill>
              <a:srgbClr val="99B8C8"/>
            </a:solidFill>
            <a:prstDash val="solid"/>
          </a:ln>
        </p:spPr>
      </p:sp>
      <p:sp>
        <p:nvSpPr>
          <p:cNvPr id="58" name="Shape 56"/>
          <p:cNvSpPr/>
          <p:nvPr/>
        </p:nvSpPr>
        <p:spPr>
          <a:xfrm>
            <a:off x="3977640" y="3538728"/>
            <a:ext cx="274320" cy="36576"/>
          </a:xfrm>
          <a:prstGeom prst="rect">
            <a:avLst/>
          </a:prstGeom>
          <a:solidFill>
            <a:srgbClr val="99B8C8"/>
          </a:solidFill>
          <a:ln w="12700">
            <a:solidFill>
              <a:srgbClr val="99B8C8"/>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System Implementation</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Development stack, API structure, and engineering process</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256032" y="1005840"/>
            <a:ext cx="4114800" cy="329184"/>
          </a:xfrm>
          <a:prstGeom prst="rect">
            <a:avLst/>
          </a:prstGeom>
          <a:solidFill>
            <a:srgbClr val="0A1931"/>
          </a:solidFill>
          <a:ln w="12700">
            <a:solidFill>
              <a:srgbClr val="0A1931"/>
            </a:solidFill>
            <a:prstDash val="solid"/>
          </a:ln>
        </p:spPr>
      </p:sp>
      <p:sp>
        <p:nvSpPr>
          <p:cNvPr id="10" name="Text 8"/>
          <p:cNvSpPr/>
          <p:nvPr/>
        </p:nvSpPr>
        <p:spPr>
          <a:xfrm>
            <a:off x="256032" y="1005840"/>
            <a:ext cx="41148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Technology Stack</a:t>
            </a:r>
            <a:endParaRPr lang="en-US" sz="1100" dirty="0"/>
          </a:p>
        </p:txBody>
      </p:sp>
      <p:sp>
        <p:nvSpPr>
          <p:cNvPr id="11" name="Shape 9"/>
          <p:cNvSpPr/>
          <p:nvPr/>
        </p:nvSpPr>
        <p:spPr>
          <a:xfrm>
            <a:off x="256032" y="1371600"/>
            <a:ext cx="4114800" cy="329184"/>
          </a:xfrm>
          <a:prstGeom prst="rect">
            <a:avLst/>
          </a:prstGeom>
          <a:solidFill>
            <a:srgbClr val="FFFFFF"/>
          </a:solidFill>
          <a:ln w="5080">
            <a:solidFill>
              <a:srgbClr val="E2EDF2"/>
            </a:solidFill>
            <a:prstDash val="solid"/>
          </a:ln>
        </p:spPr>
      </p:sp>
      <p:pic>
        <p:nvPicPr>
          <p:cNvPr id="12" name="Image 0" descr="preencoded.png">    </p:cNvPr>
          <p:cNvPicPr>
            <a:picLocks noChangeAspect="1"/>
          </p:cNvPicPr>
          <p:nvPr/>
        </p:nvPicPr>
        <p:blipFill>
          <a:blip r:embed="rId1"/>
          <a:stretch>
            <a:fillRect/>
          </a:stretch>
        </p:blipFill>
        <p:spPr>
          <a:xfrm>
            <a:off x="329184" y="1408176"/>
            <a:ext cx="237744" cy="237744"/>
          </a:xfrm>
          <a:prstGeom prst="rect">
            <a:avLst/>
          </a:prstGeom>
        </p:spPr>
      </p:pic>
      <p:sp>
        <p:nvSpPr>
          <p:cNvPr id="13" name="Text 10"/>
          <p:cNvSpPr/>
          <p:nvPr/>
        </p:nvSpPr>
        <p:spPr>
          <a:xfrm>
            <a:off x="621792" y="1389888"/>
            <a:ext cx="1078992" cy="164592"/>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Backend API</a:t>
            </a:r>
            <a:endParaRPr lang="en-US" sz="800" dirty="0"/>
          </a:p>
        </p:txBody>
      </p:sp>
      <p:sp>
        <p:nvSpPr>
          <p:cNvPr id="14" name="Text 11"/>
          <p:cNvSpPr/>
          <p:nvPr/>
        </p:nvSpPr>
        <p:spPr>
          <a:xfrm>
            <a:off x="621792" y="1536192"/>
            <a:ext cx="3657600" cy="146304"/>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FastAPI 0.115.0  ·  Python 3.12  ·  Uvicorn  ·  Render.com (Docker)</a:t>
            </a:r>
            <a:endParaRPr lang="en-US" sz="750" dirty="0"/>
          </a:p>
        </p:txBody>
      </p:sp>
      <p:sp>
        <p:nvSpPr>
          <p:cNvPr id="15" name="Shape 12"/>
          <p:cNvSpPr/>
          <p:nvPr/>
        </p:nvSpPr>
        <p:spPr>
          <a:xfrm>
            <a:off x="256032" y="1728216"/>
            <a:ext cx="4114800" cy="329184"/>
          </a:xfrm>
          <a:prstGeom prst="rect">
            <a:avLst/>
          </a:prstGeom>
          <a:solidFill>
            <a:srgbClr val="F0F7FA"/>
          </a:solidFill>
          <a:ln w="5080">
            <a:solidFill>
              <a:srgbClr val="E2EDF2"/>
            </a:solidFill>
            <a:prstDash val="solid"/>
          </a:ln>
        </p:spPr>
      </p:sp>
      <p:pic>
        <p:nvPicPr>
          <p:cNvPr id="16" name="Image 1" descr="preencoded.png">    </p:cNvPr>
          <p:cNvPicPr>
            <a:picLocks noChangeAspect="1"/>
          </p:cNvPicPr>
          <p:nvPr/>
        </p:nvPicPr>
        <p:blipFill>
          <a:blip r:embed="rId2"/>
          <a:stretch>
            <a:fillRect/>
          </a:stretch>
        </p:blipFill>
        <p:spPr>
          <a:xfrm>
            <a:off x="329184" y="1764792"/>
            <a:ext cx="237744" cy="237744"/>
          </a:xfrm>
          <a:prstGeom prst="rect">
            <a:avLst/>
          </a:prstGeom>
        </p:spPr>
      </p:pic>
      <p:sp>
        <p:nvSpPr>
          <p:cNvPr id="17" name="Text 13"/>
          <p:cNvSpPr/>
          <p:nvPr/>
        </p:nvSpPr>
        <p:spPr>
          <a:xfrm>
            <a:off x="621792" y="1746504"/>
            <a:ext cx="1078992" cy="164592"/>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Web Frontend</a:t>
            </a:r>
            <a:endParaRPr lang="en-US" sz="800" dirty="0"/>
          </a:p>
        </p:txBody>
      </p:sp>
      <p:sp>
        <p:nvSpPr>
          <p:cNvPr id="18" name="Text 14"/>
          <p:cNvSpPr/>
          <p:nvPr/>
        </p:nvSpPr>
        <p:spPr>
          <a:xfrm>
            <a:off x="621792" y="1892808"/>
            <a:ext cx="3657600" cy="146304"/>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Next.js 16.2.0  ·  React 18  ·  TypeScript  ·  Vercel CDN</a:t>
            </a:r>
            <a:endParaRPr lang="en-US" sz="750" dirty="0"/>
          </a:p>
        </p:txBody>
      </p:sp>
      <p:sp>
        <p:nvSpPr>
          <p:cNvPr id="19" name="Shape 15"/>
          <p:cNvSpPr/>
          <p:nvPr/>
        </p:nvSpPr>
        <p:spPr>
          <a:xfrm>
            <a:off x="256032" y="2084832"/>
            <a:ext cx="4114800" cy="329184"/>
          </a:xfrm>
          <a:prstGeom prst="rect">
            <a:avLst/>
          </a:prstGeom>
          <a:solidFill>
            <a:srgbClr val="FFFFFF"/>
          </a:solidFill>
          <a:ln w="5080">
            <a:solidFill>
              <a:srgbClr val="E2EDF2"/>
            </a:solidFill>
            <a:prstDash val="solid"/>
          </a:ln>
        </p:spPr>
      </p:sp>
      <p:pic>
        <p:nvPicPr>
          <p:cNvPr id="20" name="Image 2" descr="preencoded.png">    </p:cNvPr>
          <p:cNvPicPr>
            <a:picLocks noChangeAspect="1"/>
          </p:cNvPicPr>
          <p:nvPr/>
        </p:nvPicPr>
        <p:blipFill>
          <a:blip r:embed="rId3"/>
          <a:stretch>
            <a:fillRect/>
          </a:stretch>
        </p:blipFill>
        <p:spPr>
          <a:xfrm>
            <a:off x="329184" y="2121408"/>
            <a:ext cx="237744" cy="237744"/>
          </a:xfrm>
          <a:prstGeom prst="rect">
            <a:avLst/>
          </a:prstGeom>
        </p:spPr>
      </p:pic>
      <p:sp>
        <p:nvSpPr>
          <p:cNvPr id="21" name="Text 16"/>
          <p:cNvSpPr/>
          <p:nvPr/>
        </p:nvSpPr>
        <p:spPr>
          <a:xfrm>
            <a:off x="621792" y="2103120"/>
            <a:ext cx="1078992" cy="164592"/>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Mobile App</a:t>
            </a:r>
            <a:endParaRPr lang="en-US" sz="800" dirty="0"/>
          </a:p>
        </p:txBody>
      </p:sp>
      <p:sp>
        <p:nvSpPr>
          <p:cNvPr id="22" name="Text 17"/>
          <p:cNvSpPr/>
          <p:nvPr/>
        </p:nvSpPr>
        <p:spPr>
          <a:xfrm>
            <a:off x="621792" y="2249424"/>
            <a:ext cx="3657600" cy="146304"/>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React Native  ·  Expo SDK 53.0.0  ·  EAS Build (Android / iOS)</a:t>
            </a:r>
            <a:endParaRPr lang="en-US" sz="750" dirty="0"/>
          </a:p>
        </p:txBody>
      </p:sp>
      <p:sp>
        <p:nvSpPr>
          <p:cNvPr id="23" name="Shape 18"/>
          <p:cNvSpPr/>
          <p:nvPr/>
        </p:nvSpPr>
        <p:spPr>
          <a:xfrm>
            <a:off x="256032" y="2441448"/>
            <a:ext cx="4114800" cy="329184"/>
          </a:xfrm>
          <a:prstGeom prst="rect">
            <a:avLst/>
          </a:prstGeom>
          <a:solidFill>
            <a:srgbClr val="F0F7FA"/>
          </a:solidFill>
          <a:ln w="5080">
            <a:solidFill>
              <a:srgbClr val="E2EDF2"/>
            </a:solidFill>
            <a:prstDash val="solid"/>
          </a:ln>
        </p:spPr>
      </p:sp>
      <p:pic>
        <p:nvPicPr>
          <p:cNvPr id="24" name="Image 3" descr="preencoded.png">    </p:cNvPr>
          <p:cNvPicPr>
            <a:picLocks noChangeAspect="1"/>
          </p:cNvPicPr>
          <p:nvPr/>
        </p:nvPicPr>
        <p:blipFill>
          <a:blip r:embed="rId4"/>
          <a:stretch>
            <a:fillRect/>
          </a:stretch>
        </p:blipFill>
        <p:spPr>
          <a:xfrm>
            <a:off x="329184" y="2478024"/>
            <a:ext cx="237744" cy="237744"/>
          </a:xfrm>
          <a:prstGeom prst="rect">
            <a:avLst/>
          </a:prstGeom>
        </p:spPr>
      </p:pic>
      <p:sp>
        <p:nvSpPr>
          <p:cNvPr id="25" name="Text 19"/>
          <p:cNvSpPr/>
          <p:nvPr/>
        </p:nvSpPr>
        <p:spPr>
          <a:xfrm>
            <a:off x="621792" y="2459736"/>
            <a:ext cx="1078992" cy="164592"/>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Database</a:t>
            </a:r>
            <a:endParaRPr lang="en-US" sz="800" dirty="0"/>
          </a:p>
        </p:txBody>
      </p:sp>
      <p:sp>
        <p:nvSpPr>
          <p:cNvPr id="26" name="Text 20"/>
          <p:cNvSpPr/>
          <p:nvPr/>
        </p:nvSpPr>
        <p:spPr>
          <a:xfrm>
            <a:off x="621792" y="2606040"/>
            <a:ext cx="3657600" cy="146304"/>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Supabase PostgreSQL 15  ·  Row-level security  ·  Auth module</a:t>
            </a:r>
            <a:endParaRPr lang="en-US" sz="750" dirty="0"/>
          </a:p>
        </p:txBody>
      </p:sp>
      <p:sp>
        <p:nvSpPr>
          <p:cNvPr id="27" name="Shape 21"/>
          <p:cNvSpPr/>
          <p:nvPr/>
        </p:nvSpPr>
        <p:spPr>
          <a:xfrm>
            <a:off x="256032" y="2798064"/>
            <a:ext cx="4114800" cy="329184"/>
          </a:xfrm>
          <a:prstGeom prst="rect">
            <a:avLst/>
          </a:prstGeom>
          <a:solidFill>
            <a:srgbClr val="FFFFFF"/>
          </a:solidFill>
          <a:ln w="5080">
            <a:solidFill>
              <a:srgbClr val="E2EDF2"/>
            </a:solidFill>
            <a:prstDash val="solid"/>
          </a:ln>
        </p:spPr>
      </p:sp>
      <p:pic>
        <p:nvPicPr>
          <p:cNvPr id="28" name="Image 4" descr="preencoded.png">    </p:cNvPr>
          <p:cNvPicPr>
            <a:picLocks noChangeAspect="1"/>
          </p:cNvPicPr>
          <p:nvPr/>
        </p:nvPicPr>
        <p:blipFill>
          <a:blip r:embed="rId5"/>
          <a:stretch>
            <a:fillRect/>
          </a:stretch>
        </p:blipFill>
        <p:spPr>
          <a:xfrm>
            <a:off x="329184" y="2834640"/>
            <a:ext cx="237744" cy="237744"/>
          </a:xfrm>
          <a:prstGeom prst="rect">
            <a:avLst/>
          </a:prstGeom>
        </p:spPr>
      </p:pic>
      <p:sp>
        <p:nvSpPr>
          <p:cNvPr id="29" name="Text 22"/>
          <p:cNvSpPr/>
          <p:nvPr/>
        </p:nvSpPr>
        <p:spPr>
          <a:xfrm>
            <a:off x="621792" y="2816352"/>
            <a:ext cx="1078992" cy="164592"/>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Cache</a:t>
            </a:r>
            <a:endParaRPr lang="en-US" sz="800" dirty="0"/>
          </a:p>
        </p:txBody>
      </p:sp>
      <p:sp>
        <p:nvSpPr>
          <p:cNvPr id="30" name="Text 23"/>
          <p:cNvSpPr/>
          <p:nvPr/>
        </p:nvSpPr>
        <p:spPr>
          <a:xfrm>
            <a:off x="621792" y="2962656"/>
            <a:ext cx="3657600" cy="146304"/>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Upstash Redis (serverless)  ·  Cache-aside  ·  TTL: 3600s</a:t>
            </a:r>
            <a:endParaRPr lang="en-US" sz="750" dirty="0"/>
          </a:p>
        </p:txBody>
      </p:sp>
      <p:sp>
        <p:nvSpPr>
          <p:cNvPr id="31" name="Shape 24"/>
          <p:cNvSpPr/>
          <p:nvPr/>
        </p:nvSpPr>
        <p:spPr>
          <a:xfrm>
            <a:off x="256032" y="3154680"/>
            <a:ext cx="4114800" cy="329184"/>
          </a:xfrm>
          <a:prstGeom prst="rect">
            <a:avLst/>
          </a:prstGeom>
          <a:solidFill>
            <a:srgbClr val="F0F7FA"/>
          </a:solidFill>
          <a:ln w="5080">
            <a:solidFill>
              <a:srgbClr val="E2EDF2"/>
            </a:solidFill>
            <a:prstDash val="solid"/>
          </a:ln>
        </p:spPr>
      </p:sp>
      <p:pic>
        <p:nvPicPr>
          <p:cNvPr id="32" name="Image 5" descr="preencoded.png">    </p:cNvPr>
          <p:cNvPicPr>
            <a:picLocks noChangeAspect="1"/>
          </p:cNvPicPr>
          <p:nvPr/>
        </p:nvPicPr>
        <p:blipFill>
          <a:blip r:embed="rId6"/>
          <a:stretch>
            <a:fillRect/>
          </a:stretch>
        </p:blipFill>
        <p:spPr>
          <a:xfrm>
            <a:off x="329184" y="3191256"/>
            <a:ext cx="237744" cy="237744"/>
          </a:xfrm>
          <a:prstGeom prst="rect">
            <a:avLst/>
          </a:prstGeom>
        </p:spPr>
      </p:pic>
      <p:sp>
        <p:nvSpPr>
          <p:cNvPr id="33" name="Text 25"/>
          <p:cNvSpPr/>
          <p:nvPr/>
        </p:nvSpPr>
        <p:spPr>
          <a:xfrm>
            <a:off x="621792" y="3172968"/>
            <a:ext cx="1078992" cy="164592"/>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ML Models</a:t>
            </a:r>
            <a:endParaRPr lang="en-US" sz="800" dirty="0"/>
          </a:p>
        </p:txBody>
      </p:sp>
      <p:sp>
        <p:nvSpPr>
          <p:cNvPr id="34" name="Text 26"/>
          <p:cNvSpPr/>
          <p:nvPr/>
        </p:nvSpPr>
        <p:spPr>
          <a:xfrm>
            <a:off x="621792" y="3319272"/>
            <a:ext cx="3657600" cy="146304"/>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LightGBM 4.3  ·  CatBoost 1.2.5  ·  XGBoost 2.0  ·  lifelines 0.29</a:t>
            </a:r>
            <a:endParaRPr lang="en-US" sz="750" dirty="0"/>
          </a:p>
        </p:txBody>
      </p:sp>
      <p:sp>
        <p:nvSpPr>
          <p:cNvPr id="35" name="Shape 27"/>
          <p:cNvSpPr/>
          <p:nvPr/>
        </p:nvSpPr>
        <p:spPr>
          <a:xfrm>
            <a:off x="256032" y="3511296"/>
            <a:ext cx="4114800" cy="329184"/>
          </a:xfrm>
          <a:prstGeom prst="rect">
            <a:avLst/>
          </a:prstGeom>
          <a:solidFill>
            <a:srgbClr val="FFFFFF"/>
          </a:solidFill>
          <a:ln w="5080">
            <a:solidFill>
              <a:srgbClr val="E2EDF2"/>
            </a:solidFill>
            <a:prstDash val="solid"/>
          </a:ln>
        </p:spPr>
      </p:sp>
      <p:pic>
        <p:nvPicPr>
          <p:cNvPr id="36" name="Image 6" descr="preencoded.png">    </p:cNvPr>
          <p:cNvPicPr>
            <a:picLocks noChangeAspect="1"/>
          </p:cNvPicPr>
          <p:nvPr/>
        </p:nvPicPr>
        <p:blipFill>
          <a:blip r:embed="rId7"/>
          <a:stretch>
            <a:fillRect/>
          </a:stretch>
        </p:blipFill>
        <p:spPr>
          <a:xfrm>
            <a:off x="329184" y="3547872"/>
            <a:ext cx="237744" cy="237744"/>
          </a:xfrm>
          <a:prstGeom prst="rect">
            <a:avLst/>
          </a:prstGeom>
        </p:spPr>
      </p:pic>
      <p:sp>
        <p:nvSpPr>
          <p:cNvPr id="37" name="Text 28"/>
          <p:cNvSpPr/>
          <p:nvPr/>
        </p:nvSpPr>
        <p:spPr>
          <a:xfrm>
            <a:off x="621792" y="3529584"/>
            <a:ext cx="1078992" cy="164592"/>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LLM / AI</a:t>
            </a:r>
            <a:endParaRPr lang="en-US" sz="800" dirty="0"/>
          </a:p>
        </p:txBody>
      </p:sp>
      <p:sp>
        <p:nvSpPr>
          <p:cNvPr id="38" name="Text 29"/>
          <p:cNvSpPr/>
          <p:nvPr/>
        </p:nvSpPr>
        <p:spPr>
          <a:xfrm>
            <a:off x="621792" y="3675888"/>
            <a:ext cx="3657600" cy="146304"/>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Groq API  ·  llama-3.3-70b-versatile  ·  JSON mode  ·  avg 1.8s</a:t>
            </a:r>
            <a:endParaRPr lang="en-US" sz="750" dirty="0"/>
          </a:p>
        </p:txBody>
      </p:sp>
      <p:sp>
        <p:nvSpPr>
          <p:cNvPr id="39" name="Shape 30"/>
          <p:cNvSpPr/>
          <p:nvPr/>
        </p:nvSpPr>
        <p:spPr>
          <a:xfrm>
            <a:off x="256032" y="3867912"/>
            <a:ext cx="4114800" cy="329184"/>
          </a:xfrm>
          <a:prstGeom prst="rect">
            <a:avLst/>
          </a:prstGeom>
          <a:solidFill>
            <a:srgbClr val="F0F7FA"/>
          </a:solidFill>
          <a:ln w="5080">
            <a:solidFill>
              <a:srgbClr val="E2EDF2"/>
            </a:solidFill>
            <a:prstDash val="solid"/>
          </a:ln>
        </p:spPr>
      </p:sp>
      <p:pic>
        <p:nvPicPr>
          <p:cNvPr id="40" name="Image 7" descr="preencoded.png">    </p:cNvPr>
          <p:cNvPicPr>
            <a:picLocks noChangeAspect="1"/>
          </p:cNvPicPr>
          <p:nvPr/>
        </p:nvPicPr>
        <p:blipFill>
          <a:blip r:embed="rId8"/>
          <a:stretch>
            <a:fillRect/>
          </a:stretch>
        </p:blipFill>
        <p:spPr>
          <a:xfrm>
            <a:off x="329184" y="3904488"/>
            <a:ext cx="237744" cy="237744"/>
          </a:xfrm>
          <a:prstGeom prst="rect">
            <a:avLst/>
          </a:prstGeom>
        </p:spPr>
      </p:pic>
      <p:sp>
        <p:nvSpPr>
          <p:cNvPr id="41" name="Text 31"/>
          <p:cNvSpPr/>
          <p:nvPr/>
        </p:nvSpPr>
        <p:spPr>
          <a:xfrm>
            <a:off x="621792" y="3886200"/>
            <a:ext cx="1078992" cy="164592"/>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Security</a:t>
            </a:r>
            <a:endParaRPr lang="en-US" sz="800" dirty="0"/>
          </a:p>
        </p:txBody>
      </p:sp>
      <p:sp>
        <p:nvSpPr>
          <p:cNvPr id="42" name="Text 32"/>
          <p:cNvSpPr/>
          <p:nvPr/>
        </p:nvSpPr>
        <p:spPr>
          <a:xfrm>
            <a:off x="621792" y="4032504"/>
            <a:ext cx="3657600" cy="146304"/>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JWT HMAC-SHA256  ·  30min access  ·  7-day refresh  ·  Pydantic</a:t>
            </a:r>
            <a:endParaRPr lang="en-US" sz="750" dirty="0"/>
          </a:p>
        </p:txBody>
      </p:sp>
      <p:sp>
        <p:nvSpPr>
          <p:cNvPr id="43" name="Shape 33"/>
          <p:cNvSpPr/>
          <p:nvPr/>
        </p:nvSpPr>
        <p:spPr>
          <a:xfrm>
            <a:off x="256032" y="4224528"/>
            <a:ext cx="4114800" cy="329184"/>
          </a:xfrm>
          <a:prstGeom prst="rect">
            <a:avLst/>
          </a:prstGeom>
          <a:solidFill>
            <a:srgbClr val="FFFFFF"/>
          </a:solidFill>
          <a:ln w="5080">
            <a:solidFill>
              <a:srgbClr val="E2EDF2"/>
            </a:solidFill>
            <a:prstDash val="solid"/>
          </a:ln>
        </p:spPr>
      </p:sp>
      <p:pic>
        <p:nvPicPr>
          <p:cNvPr id="44" name="Image 8" descr="preencoded.png">    </p:cNvPr>
          <p:cNvPicPr>
            <a:picLocks noChangeAspect="1"/>
          </p:cNvPicPr>
          <p:nvPr/>
        </p:nvPicPr>
        <p:blipFill>
          <a:blip r:embed="rId9"/>
          <a:stretch>
            <a:fillRect/>
          </a:stretch>
        </p:blipFill>
        <p:spPr>
          <a:xfrm>
            <a:off x="329184" y="4261104"/>
            <a:ext cx="237744" cy="237744"/>
          </a:xfrm>
          <a:prstGeom prst="rect">
            <a:avLst/>
          </a:prstGeom>
        </p:spPr>
      </p:pic>
      <p:sp>
        <p:nvSpPr>
          <p:cNvPr id="45" name="Text 34"/>
          <p:cNvSpPr/>
          <p:nvPr/>
        </p:nvSpPr>
        <p:spPr>
          <a:xfrm>
            <a:off x="621792" y="4242816"/>
            <a:ext cx="1078992" cy="164592"/>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Testing</a:t>
            </a:r>
            <a:endParaRPr lang="en-US" sz="800" dirty="0"/>
          </a:p>
        </p:txBody>
      </p:sp>
      <p:sp>
        <p:nvSpPr>
          <p:cNvPr id="46" name="Text 35"/>
          <p:cNvSpPr/>
          <p:nvPr/>
        </p:nvSpPr>
        <p:spPr>
          <a:xfrm>
            <a:off x="621792" y="4389120"/>
            <a:ext cx="3657600" cy="146304"/>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pytest 8.1.0  ·  42 unit  ·  8 integration  ·  8 Playwright E2E</a:t>
            </a:r>
            <a:endParaRPr lang="en-US" sz="750" dirty="0"/>
          </a:p>
        </p:txBody>
      </p:sp>
      <p:sp>
        <p:nvSpPr>
          <p:cNvPr id="47" name="Shape 36"/>
          <p:cNvSpPr/>
          <p:nvPr/>
        </p:nvSpPr>
        <p:spPr>
          <a:xfrm>
            <a:off x="4663440" y="1005840"/>
            <a:ext cx="4224528" cy="329184"/>
          </a:xfrm>
          <a:prstGeom prst="rect">
            <a:avLst/>
          </a:prstGeom>
          <a:solidFill>
            <a:srgbClr val="0D7C8F"/>
          </a:solidFill>
          <a:ln w="12700">
            <a:solidFill>
              <a:srgbClr val="0D7C8F"/>
            </a:solidFill>
            <a:prstDash val="solid"/>
          </a:ln>
        </p:spPr>
      </p:sp>
      <p:sp>
        <p:nvSpPr>
          <p:cNvPr id="48" name="Text 37"/>
          <p:cNvSpPr/>
          <p:nvPr/>
        </p:nvSpPr>
        <p:spPr>
          <a:xfrm>
            <a:off x="4663440" y="1005840"/>
            <a:ext cx="422452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Key REST API Endpoints</a:t>
            </a:r>
            <a:endParaRPr lang="en-US" sz="1100" dirty="0"/>
          </a:p>
        </p:txBody>
      </p:sp>
      <p:sp>
        <p:nvSpPr>
          <p:cNvPr id="49" name="Shape 38"/>
          <p:cNvSpPr/>
          <p:nvPr/>
        </p:nvSpPr>
        <p:spPr>
          <a:xfrm>
            <a:off x="4663440" y="1371600"/>
            <a:ext cx="4224528" cy="310896"/>
          </a:xfrm>
          <a:prstGeom prst="rect">
            <a:avLst/>
          </a:prstGeom>
          <a:solidFill>
            <a:srgbClr val="FFFFFF"/>
          </a:solidFill>
          <a:ln w="5080">
            <a:solidFill>
              <a:srgbClr val="E2EDF2"/>
            </a:solidFill>
            <a:prstDash val="solid"/>
          </a:ln>
        </p:spPr>
      </p:sp>
      <p:sp>
        <p:nvSpPr>
          <p:cNvPr id="50" name="Shape 39"/>
          <p:cNvSpPr/>
          <p:nvPr/>
        </p:nvSpPr>
        <p:spPr>
          <a:xfrm>
            <a:off x="4681728" y="1417320"/>
            <a:ext cx="512064" cy="219456"/>
          </a:xfrm>
          <a:prstGeom prst="rect">
            <a:avLst/>
          </a:prstGeom>
          <a:solidFill>
            <a:srgbClr val="059669"/>
          </a:solidFill>
          <a:ln w="12700">
            <a:solidFill>
              <a:srgbClr val="059669"/>
            </a:solidFill>
            <a:prstDash val="solid"/>
          </a:ln>
        </p:spPr>
      </p:sp>
      <p:sp>
        <p:nvSpPr>
          <p:cNvPr id="51" name="Text 40"/>
          <p:cNvSpPr/>
          <p:nvPr/>
        </p:nvSpPr>
        <p:spPr>
          <a:xfrm>
            <a:off x="4681728" y="1417320"/>
            <a:ext cx="512064"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POST</a:t>
            </a:r>
            <a:endParaRPr lang="en-US" sz="700" dirty="0"/>
          </a:p>
        </p:txBody>
      </p:sp>
      <p:sp>
        <p:nvSpPr>
          <p:cNvPr id="52" name="Text 41"/>
          <p:cNvSpPr/>
          <p:nvPr/>
        </p:nvSpPr>
        <p:spPr>
          <a:xfrm>
            <a:off x="5230368" y="1417320"/>
            <a:ext cx="1901952" cy="219456"/>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/auth/register</a:t>
            </a:r>
            <a:endParaRPr lang="en-US" sz="800" dirty="0"/>
          </a:p>
        </p:txBody>
      </p:sp>
      <p:sp>
        <p:nvSpPr>
          <p:cNvPr id="53" name="Text 42"/>
          <p:cNvSpPr/>
          <p:nvPr/>
        </p:nvSpPr>
        <p:spPr>
          <a:xfrm>
            <a:off x="7168896" y="1417320"/>
            <a:ext cx="1664208" cy="219456"/>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Create user account + JWT pair</a:t>
            </a:r>
            <a:endParaRPr lang="en-US" sz="750" dirty="0"/>
          </a:p>
        </p:txBody>
      </p:sp>
      <p:sp>
        <p:nvSpPr>
          <p:cNvPr id="54" name="Shape 43"/>
          <p:cNvSpPr/>
          <p:nvPr/>
        </p:nvSpPr>
        <p:spPr>
          <a:xfrm>
            <a:off x="4663440" y="1719072"/>
            <a:ext cx="4224528" cy="310896"/>
          </a:xfrm>
          <a:prstGeom prst="rect">
            <a:avLst/>
          </a:prstGeom>
          <a:solidFill>
            <a:srgbClr val="F0F7FA"/>
          </a:solidFill>
          <a:ln w="5080">
            <a:solidFill>
              <a:srgbClr val="E2EDF2"/>
            </a:solidFill>
            <a:prstDash val="solid"/>
          </a:ln>
        </p:spPr>
      </p:sp>
      <p:sp>
        <p:nvSpPr>
          <p:cNvPr id="55" name="Shape 44"/>
          <p:cNvSpPr/>
          <p:nvPr/>
        </p:nvSpPr>
        <p:spPr>
          <a:xfrm>
            <a:off x="4681728" y="1764792"/>
            <a:ext cx="512064" cy="219456"/>
          </a:xfrm>
          <a:prstGeom prst="rect">
            <a:avLst/>
          </a:prstGeom>
          <a:solidFill>
            <a:srgbClr val="059669"/>
          </a:solidFill>
          <a:ln w="12700">
            <a:solidFill>
              <a:srgbClr val="059669"/>
            </a:solidFill>
            <a:prstDash val="solid"/>
          </a:ln>
        </p:spPr>
      </p:sp>
      <p:sp>
        <p:nvSpPr>
          <p:cNvPr id="56" name="Text 45"/>
          <p:cNvSpPr/>
          <p:nvPr/>
        </p:nvSpPr>
        <p:spPr>
          <a:xfrm>
            <a:off x="4681728" y="1764792"/>
            <a:ext cx="512064"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POST</a:t>
            </a:r>
            <a:endParaRPr lang="en-US" sz="700" dirty="0"/>
          </a:p>
        </p:txBody>
      </p:sp>
      <p:sp>
        <p:nvSpPr>
          <p:cNvPr id="57" name="Text 46"/>
          <p:cNvSpPr/>
          <p:nvPr/>
        </p:nvSpPr>
        <p:spPr>
          <a:xfrm>
            <a:off x="5230368" y="1764792"/>
            <a:ext cx="1901952" cy="219456"/>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/auth/login</a:t>
            </a:r>
            <a:endParaRPr lang="en-US" sz="800" dirty="0"/>
          </a:p>
        </p:txBody>
      </p:sp>
      <p:sp>
        <p:nvSpPr>
          <p:cNvPr id="58" name="Text 47"/>
          <p:cNvSpPr/>
          <p:nvPr/>
        </p:nvSpPr>
        <p:spPr>
          <a:xfrm>
            <a:off x="7168896" y="1764792"/>
            <a:ext cx="1664208" cy="219456"/>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Authenticate → return token pair</a:t>
            </a:r>
            <a:endParaRPr lang="en-US" sz="750" dirty="0"/>
          </a:p>
        </p:txBody>
      </p:sp>
      <p:sp>
        <p:nvSpPr>
          <p:cNvPr id="59" name="Shape 48"/>
          <p:cNvSpPr/>
          <p:nvPr/>
        </p:nvSpPr>
        <p:spPr>
          <a:xfrm>
            <a:off x="4663440" y="2066544"/>
            <a:ext cx="4224528" cy="310896"/>
          </a:xfrm>
          <a:prstGeom prst="rect">
            <a:avLst/>
          </a:prstGeom>
          <a:solidFill>
            <a:srgbClr val="FFFFFF"/>
          </a:solidFill>
          <a:ln w="5080">
            <a:solidFill>
              <a:srgbClr val="E2EDF2"/>
            </a:solidFill>
            <a:prstDash val="solid"/>
          </a:ln>
        </p:spPr>
      </p:sp>
      <p:sp>
        <p:nvSpPr>
          <p:cNvPr id="60" name="Shape 49"/>
          <p:cNvSpPr/>
          <p:nvPr/>
        </p:nvSpPr>
        <p:spPr>
          <a:xfrm>
            <a:off x="4681728" y="2112264"/>
            <a:ext cx="512064" cy="219456"/>
          </a:xfrm>
          <a:prstGeom prst="rect">
            <a:avLst/>
          </a:prstGeom>
          <a:solidFill>
            <a:srgbClr val="059669"/>
          </a:solidFill>
          <a:ln w="12700">
            <a:solidFill>
              <a:srgbClr val="059669"/>
            </a:solidFill>
            <a:prstDash val="solid"/>
          </a:ln>
        </p:spPr>
      </p:sp>
      <p:sp>
        <p:nvSpPr>
          <p:cNvPr id="61" name="Text 50"/>
          <p:cNvSpPr/>
          <p:nvPr/>
        </p:nvSpPr>
        <p:spPr>
          <a:xfrm>
            <a:off x="4681728" y="2112264"/>
            <a:ext cx="512064"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POST</a:t>
            </a:r>
            <a:endParaRPr lang="en-US" sz="700" dirty="0"/>
          </a:p>
        </p:txBody>
      </p:sp>
      <p:sp>
        <p:nvSpPr>
          <p:cNvPr id="62" name="Text 51"/>
          <p:cNvSpPr/>
          <p:nvPr/>
        </p:nvSpPr>
        <p:spPr>
          <a:xfrm>
            <a:off x="5230368" y="2112264"/>
            <a:ext cx="1901952" cy="219456"/>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/business/register</a:t>
            </a:r>
            <a:endParaRPr lang="en-US" sz="800" dirty="0"/>
          </a:p>
        </p:txBody>
      </p:sp>
      <p:sp>
        <p:nvSpPr>
          <p:cNvPr id="63" name="Text 52"/>
          <p:cNvSpPr/>
          <p:nvPr/>
        </p:nvSpPr>
        <p:spPr>
          <a:xfrm>
            <a:off x="7168896" y="2112264"/>
            <a:ext cx="1664208" cy="219456"/>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Create business profile</a:t>
            </a:r>
            <a:endParaRPr lang="en-US" sz="750" dirty="0"/>
          </a:p>
        </p:txBody>
      </p:sp>
      <p:sp>
        <p:nvSpPr>
          <p:cNvPr id="64" name="Shape 53"/>
          <p:cNvSpPr/>
          <p:nvPr/>
        </p:nvSpPr>
        <p:spPr>
          <a:xfrm>
            <a:off x="4663440" y="2414016"/>
            <a:ext cx="4224528" cy="310896"/>
          </a:xfrm>
          <a:prstGeom prst="rect">
            <a:avLst/>
          </a:prstGeom>
          <a:solidFill>
            <a:srgbClr val="F0F7FA"/>
          </a:solidFill>
          <a:ln w="5080">
            <a:solidFill>
              <a:srgbClr val="E2EDF2"/>
            </a:solidFill>
            <a:prstDash val="solid"/>
          </a:ln>
        </p:spPr>
      </p:sp>
      <p:sp>
        <p:nvSpPr>
          <p:cNvPr id="65" name="Shape 54"/>
          <p:cNvSpPr/>
          <p:nvPr/>
        </p:nvSpPr>
        <p:spPr>
          <a:xfrm>
            <a:off x="4681728" y="2459736"/>
            <a:ext cx="512064" cy="219456"/>
          </a:xfrm>
          <a:prstGeom prst="rect">
            <a:avLst/>
          </a:prstGeom>
          <a:solidFill>
            <a:srgbClr val="059669"/>
          </a:solidFill>
          <a:ln w="12700">
            <a:solidFill>
              <a:srgbClr val="059669"/>
            </a:solidFill>
            <a:prstDash val="solid"/>
          </a:ln>
        </p:spPr>
      </p:sp>
      <p:sp>
        <p:nvSpPr>
          <p:cNvPr id="66" name="Text 55"/>
          <p:cNvSpPr/>
          <p:nvPr/>
        </p:nvSpPr>
        <p:spPr>
          <a:xfrm>
            <a:off x="4681728" y="2459736"/>
            <a:ext cx="512064"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POST</a:t>
            </a:r>
            <a:endParaRPr lang="en-US" sz="700" dirty="0"/>
          </a:p>
        </p:txBody>
      </p:sp>
      <p:sp>
        <p:nvSpPr>
          <p:cNvPr id="67" name="Text 56"/>
          <p:cNvSpPr/>
          <p:nvPr/>
        </p:nvSpPr>
        <p:spPr>
          <a:xfrm>
            <a:off x="5230368" y="2459736"/>
            <a:ext cx="1901952" cy="219456"/>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/assess</a:t>
            </a:r>
            <a:endParaRPr lang="en-US" sz="800" dirty="0"/>
          </a:p>
        </p:txBody>
      </p:sp>
      <p:sp>
        <p:nvSpPr>
          <p:cNvPr id="68" name="Text 57"/>
          <p:cNvSpPr/>
          <p:nvPr/>
        </p:nvSpPr>
        <p:spPr>
          <a:xfrm>
            <a:off x="7168896" y="2459736"/>
            <a:ext cx="1664208" cy="219456"/>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Submit assessment → trigger ML pipeline</a:t>
            </a:r>
            <a:endParaRPr lang="en-US" sz="750" dirty="0"/>
          </a:p>
        </p:txBody>
      </p:sp>
      <p:sp>
        <p:nvSpPr>
          <p:cNvPr id="69" name="Shape 58"/>
          <p:cNvSpPr/>
          <p:nvPr/>
        </p:nvSpPr>
        <p:spPr>
          <a:xfrm>
            <a:off x="4663440" y="2761488"/>
            <a:ext cx="4224528" cy="310896"/>
          </a:xfrm>
          <a:prstGeom prst="rect">
            <a:avLst/>
          </a:prstGeom>
          <a:solidFill>
            <a:srgbClr val="FFFFFF"/>
          </a:solidFill>
          <a:ln w="5080">
            <a:solidFill>
              <a:srgbClr val="E2EDF2"/>
            </a:solidFill>
            <a:prstDash val="solid"/>
          </a:ln>
        </p:spPr>
      </p:sp>
      <p:sp>
        <p:nvSpPr>
          <p:cNvPr id="70" name="Shape 59"/>
          <p:cNvSpPr/>
          <p:nvPr/>
        </p:nvSpPr>
        <p:spPr>
          <a:xfrm>
            <a:off x="4681728" y="2807208"/>
            <a:ext cx="512064" cy="219456"/>
          </a:xfrm>
          <a:prstGeom prst="rect">
            <a:avLst/>
          </a:prstGeom>
          <a:solidFill>
            <a:srgbClr val="0EA5C0"/>
          </a:solidFill>
          <a:ln w="12700">
            <a:solidFill>
              <a:srgbClr val="0EA5C0"/>
            </a:solidFill>
            <a:prstDash val="solid"/>
          </a:ln>
        </p:spPr>
      </p:sp>
      <p:sp>
        <p:nvSpPr>
          <p:cNvPr id="71" name="Text 60"/>
          <p:cNvSpPr/>
          <p:nvPr/>
        </p:nvSpPr>
        <p:spPr>
          <a:xfrm>
            <a:off x="4681728" y="2807208"/>
            <a:ext cx="512064"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GET</a:t>
            </a:r>
            <a:endParaRPr lang="en-US" sz="700" dirty="0"/>
          </a:p>
        </p:txBody>
      </p:sp>
      <p:sp>
        <p:nvSpPr>
          <p:cNvPr id="72" name="Text 61"/>
          <p:cNvSpPr/>
          <p:nvPr/>
        </p:nvSpPr>
        <p:spPr>
          <a:xfrm>
            <a:off x="5230368" y="2807208"/>
            <a:ext cx="1901952" cy="219456"/>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/predict/{id}</a:t>
            </a:r>
            <a:endParaRPr lang="en-US" sz="800" dirty="0"/>
          </a:p>
        </p:txBody>
      </p:sp>
      <p:sp>
        <p:nvSpPr>
          <p:cNvPr id="73" name="Text 62"/>
          <p:cNvSpPr/>
          <p:nvPr/>
        </p:nvSpPr>
        <p:spPr>
          <a:xfrm>
            <a:off x="7168896" y="2807208"/>
            <a:ext cx="1664208" cy="219456"/>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Fetch prediction (cached or fresh)</a:t>
            </a:r>
            <a:endParaRPr lang="en-US" sz="750" dirty="0"/>
          </a:p>
        </p:txBody>
      </p:sp>
      <p:sp>
        <p:nvSpPr>
          <p:cNvPr id="74" name="Shape 63"/>
          <p:cNvSpPr/>
          <p:nvPr/>
        </p:nvSpPr>
        <p:spPr>
          <a:xfrm>
            <a:off x="4663440" y="3108960"/>
            <a:ext cx="4224528" cy="310896"/>
          </a:xfrm>
          <a:prstGeom prst="rect">
            <a:avLst/>
          </a:prstGeom>
          <a:solidFill>
            <a:srgbClr val="F0F7FA"/>
          </a:solidFill>
          <a:ln w="5080">
            <a:solidFill>
              <a:srgbClr val="E2EDF2"/>
            </a:solidFill>
            <a:prstDash val="solid"/>
          </a:ln>
        </p:spPr>
      </p:sp>
      <p:sp>
        <p:nvSpPr>
          <p:cNvPr id="75" name="Shape 64"/>
          <p:cNvSpPr/>
          <p:nvPr/>
        </p:nvSpPr>
        <p:spPr>
          <a:xfrm>
            <a:off x="4681728" y="3154680"/>
            <a:ext cx="512064" cy="219456"/>
          </a:xfrm>
          <a:prstGeom prst="rect">
            <a:avLst/>
          </a:prstGeom>
          <a:solidFill>
            <a:srgbClr val="0EA5C0"/>
          </a:solidFill>
          <a:ln w="12700">
            <a:solidFill>
              <a:srgbClr val="0EA5C0"/>
            </a:solidFill>
            <a:prstDash val="solid"/>
          </a:ln>
        </p:spPr>
      </p:sp>
      <p:sp>
        <p:nvSpPr>
          <p:cNvPr id="76" name="Text 65"/>
          <p:cNvSpPr/>
          <p:nvPr/>
        </p:nvSpPr>
        <p:spPr>
          <a:xfrm>
            <a:off x="4681728" y="3154680"/>
            <a:ext cx="512064"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GET</a:t>
            </a:r>
            <a:endParaRPr lang="en-US" sz="700" dirty="0"/>
          </a:p>
        </p:txBody>
      </p:sp>
      <p:sp>
        <p:nvSpPr>
          <p:cNvPr id="77" name="Text 66"/>
          <p:cNvSpPr/>
          <p:nvPr/>
        </p:nvSpPr>
        <p:spPr>
          <a:xfrm>
            <a:off x="5230368" y="3154680"/>
            <a:ext cx="1901952" cy="219456"/>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/advisory/{id}</a:t>
            </a:r>
            <a:endParaRPr lang="en-US" sz="800" dirty="0"/>
          </a:p>
        </p:txBody>
      </p:sp>
      <p:sp>
        <p:nvSpPr>
          <p:cNvPr id="78" name="Text 67"/>
          <p:cNvSpPr/>
          <p:nvPr/>
        </p:nvSpPr>
        <p:spPr>
          <a:xfrm>
            <a:off x="7168896" y="3154680"/>
            <a:ext cx="1664208" cy="219456"/>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Get Groq LLM advisory text</a:t>
            </a:r>
            <a:endParaRPr lang="en-US" sz="750" dirty="0"/>
          </a:p>
        </p:txBody>
      </p:sp>
      <p:sp>
        <p:nvSpPr>
          <p:cNvPr id="79" name="Shape 68"/>
          <p:cNvSpPr/>
          <p:nvPr/>
        </p:nvSpPr>
        <p:spPr>
          <a:xfrm>
            <a:off x="4663440" y="3456432"/>
            <a:ext cx="4224528" cy="310896"/>
          </a:xfrm>
          <a:prstGeom prst="rect">
            <a:avLst/>
          </a:prstGeom>
          <a:solidFill>
            <a:srgbClr val="FFFFFF"/>
          </a:solidFill>
          <a:ln w="5080">
            <a:solidFill>
              <a:srgbClr val="E2EDF2"/>
            </a:solidFill>
            <a:prstDash val="solid"/>
          </a:ln>
        </p:spPr>
      </p:sp>
      <p:sp>
        <p:nvSpPr>
          <p:cNvPr id="80" name="Shape 69"/>
          <p:cNvSpPr/>
          <p:nvPr/>
        </p:nvSpPr>
        <p:spPr>
          <a:xfrm>
            <a:off x="4681728" y="3502152"/>
            <a:ext cx="512064" cy="219456"/>
          </a:xfrm>
          <a:prstGeom prst="rect">
            <a:avLst/>
          </a:prstGeom>
          <a:solidFill>
            <a:srgbClr val="0EA5C0"/>
          </a:solidFill>
          <a:ln w="12700">
            <a:solidFill>
              <a:srgbClr val="0EA5C0"/>
            </a:solidFill>
            <a:prstDash val="solid"/>
          </a:ln>
        </p:spPr>
      </p:sp>
      <p:sp>
        <p:nvSpPr>
          <p:cNvPr id="81" name="Text 70"/>
          <p:cNvSpPr/>
          <p:nvPr/>
        </p:nvSpPr>
        <p:spPr>
          <a:xfrm>
            <a:off x="4681728" y="3502152"/>
            <a:ext cx="512064"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GET</a:t>
            </a:r>
            <a:endParaRPr lang="en-US" sz="700" dirty="0"/>
          </a:p>
        </p:txBody>
      </p:sp>
      <p:sp>
        <p:nvSpPr>
          <p:cNvPr id="82" name="Text 71"/>
          <p:cNvSpPr/>
          <p:nvPr/>
        </p:nvSpPr>
        <p:spPr>
          <a:xfrm>
            <a:off x="5230368" y="3502152"/>
            <a:ext cx="1901952" cy="219456"/>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/report/{id}</a:t>
            </a:r>
            <a:endParaRPr lang="en-US" sz="800" dirty="0"/>
          </a:p>
        </p:txBody>
      </p:sp>
      <p:sp>
        <p:nvSpPr>
          <p:cNvPr id="83" name="Text 72"/>
          <p:cNvSpPr/>
          <p:nvPr/>
        </p:nvSpPr>
        <p:spPr>
          <a:xfrm>
            <a:off x="7168896" y="3502152"/>
            <a:ext cx="1664208" cy="219456"/>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Download generated PDF report</a:t>
            </a:r>
            <a:endParaRPr lang="en-US" sz="750" dirty="0"/>
          </a:p>
        </p:txBody>
      </p:sp>
      <p:sp>
        <p:nvSpPr>
          <p:cNvPr id="84" name="Shape 73"/>
          <p:cNvSpPr/>
          <p:nvPr/>
        </p:nvSpPr>
        <p:spPr>
          <a:xfrm>
            <a:off x="4663440" y="3803904"/>
            <a:ext cx="4224528" cy="310896"/>
          </a:xfrm>
          <a:prstGeom prst="rect">
            <a:avLst/>
          </a:prstGeom>
          <a:solidFill>
            <a:srgbClr val="F0F7FA"/>
          </a:solidFill>
          <a:ln w="5080">
            <a:solidFill>
              <a:srgbClr val="E2EDF2"/>
            </a:solidFill>
            <a:prstDash val="solid"/>
          </a:ln>
        </p:spPr>
      </p:sp>
      <p:sp>
        <p:nvSpPr>
          <p:cNvPr id="85" name="Shape 74"/>
          <p:cNvSpPr/>
          <p:nvPr/>
        </p:nvSpPr>
        <p:spPr>
          <a:xfrm>
            <a:off x="4681728" y="3849624"/>
            <a:ext cx="512064" cy="219456"/>
          </a:xfrm>
          <a:prstGeom prst="rect">
            <a:avLst/>
          </a:prstGeom>
          <a:solidFill>
            <a:srgbClr val="0EA5C0"/>
          </a:solidFill>
          <a:ln w="12700">
            <a:solidFill>
              <a:srgbClr val="0EA5C0"/>
            </a:solidFill>
            <a:prstDash val="solid"/>
          </a:ln>
        </p:spPr>
      </p:sp>
      <p:sp>
        <p:nvSpPr>
          <p:cNvPr id="86" name="Text 75"/>
          <p:cNvSpPr/>
          <p:nvPr/>
        </p:nvSpPr>
        <p:spPr>
          <a:xfrm>
            <a:off x="4681728" y="3849624"/>
            <a:ext cx="512064"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GET</a:t>
            </a:r>
            <a:endParaRPr lang="en-US" sz="700" dirty="0"/>
          </a:p>
        </p:txBody>
      </p:sp>
      <p:sp>
        <p:nvSpPr>
          <p:cNvPr id="87" name="Text 76"/>
          <p:cNvSpPr/>
          <p:nvPr/>
        </p:nvSpPr>
        <p:spPr>
          <a:xfrm>
            <a:off x="5230368" y="3849624"/>
            <a:ext cx="1901952" cy="219456"/>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/admin/users</a:t>
            </a:r>
            <a:endParaRPr lang="en-US" sz="800" dirty="0"/>
          </a:p>
        </p:txBody>
      </p:sp>
      <p:sp>
        <p:nvSpPr>
          <p:cNvPr id="88" name="Text 77"/>
          <p:cNvSpPr/>
          <p:nvPr/>
        </p:nvSpPr>
        <p:spPr>
          <a:xfrm>
            <a:off x="7168896" y="3849624"/>
            <a:ext cx="1664208" cy="219456"/>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Admin: paginated user list</a:t>
            </a:r>
            <a:endParaRPr lang="en-US" sz="750" dirty="0"/>
          </a:p>
        </p:txBody>
      </p:sp>
      <p:sp>
        <p:nvSpPr>
          <p:cNvPr id="89" name="Shape 78"/>
          <p:cNvSpPr/>
          <p:nvPr/>
        </p:nvSpPr>
        <p:spPr>
          <a:xfrm>
            <a:off x="4663440" y="4151376"/>
            <a:ext cx="4224528" cy="310896"/>
          </a:xfrm>
          <a:prstGeom prst="rect">
            <a:avLst/>
          </a:prstGeom>
          <a:solidFill>
            <a:srgbClr val="FFFFFF"/>
          </a:solidFill>
          <a:ln w="5080">
            <a:solidFill>
              <a:srgbClr val="E2EDF2"/>
            </a:solidFill>
            <a:prstDash val="solid"/>
          </a:ln>
        </p:spPr>
      </p:sp>
      <p:sp>
        <p:nvSpPr>
          <p:cNvPr id="90" name="Shape 79"/>
          <p:cNvSpPr/>
          <p:nvPr/>
        </p:nvSpPr>
        <p:spPr>
          <a:xfrm>
            <a:off x="4681728" y="4197096"/>
            <a:ext cx="512064" cy="219456"/>
          </a:xfrm>
          <a:prstGeom prst="rect">
            <a:avLst/>
          </a:prstGeom>
          <a:solidFill>
            <a:srgbClr val="0EA5C0"/>
          </a:solidFill>
          <a:ln w="12700">
            <a:solidFill>
              <a:srgbClr val="0EA5C0"/>
            </a:solidFill>
            <a:prstDash val="solid"/>
          </a:ln>
        </p:spPr>
      </p:sp>
      <p:sp>
        <p:nvSpPr>
          <p:cNvPr id="91" name="Text 80"/>
          <p:cNvSpPr/>
          <p:nvPr/>
        </p:nvSpPr>
        <p:spPr>
          <a:xfrm>
            <a:off x="4681728" y="4197096"/>
            <a:ext cx="512064"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GET</a:t>
            </a:r>
            <a:endParaRPr lang="en-US" sz="700" dirty="0"/>
          </a:p>
        </p:txBody>
      </p:sp>
      <p:sp>
        <p:nvSpPr>
          <p:cNvPr id="92" name="Text 81"/>
          <p:cNvSpPr/>
          <p:nvPr/>
        </p:nvSpPr>
        <p:spPr>
          <a:xfrm>
            <a:off x="5230368" y="4197096"/>
            <a:ext cx="1901952" cy="219456"/>
          </a:xfrm>
          <a:prstGeom prst="rect">
            <a:avLst/>
          </a:prstGeom>
          <a:noFill/>
          <a:ln/>
        </p:spPr>
        <p:txBody>
          <a:bodyPr wrap="square" lIns="0" tIns="0" rIns="0" bIns="0" rtlCol="0" anchor="ctr"/>
          <a:lstStyle/>
          <a:p>
            <a:pPr indent="0" marL="0">
              <a:buNone/>
            </a:pPr>
            <a:r>
              <a:rPr lang="en-US" sz="800" b="1" dirty="0">
                <a:solidFill>
                  <a:srgbClr val="0A1931"/>
                </a:solidFill>
                <a:latin typeface="Calibri" pitchFamily="34" charset="0"/>
                <a:ea typeface="Calibri" pitchFamily="34" charset="-122"/>
                <a:cs typeface="Calibri" pitchFamily="34" charset="-120"/>
              </a:rPr>
              <a:t>/admin/assessments</a:t>
            </a:r>
            <a:endParaRPr lang="en-US" sz="800" dirty="0"/>
          </a:p>
        </p:txBody>
      </p:sp>
      <p:sp>
        <p:nvSpPr>
          <p:cNvPr id="93" name="Text 82"/>
          <p:cNvSpPr/>
          <p:nvPr/>
        </p:nvSpPr>
        <p:spPr>
          <a:xfrm>
            <a:off x="7168896" y="4197096"/>
            <a:ext cx="1664208" cy="219456"/>
          </a:xfrm>
          <a:prstGeom prst="rect">
            <a:avLst/>
          </a:prstGeom>
          <a:noFill/>
          <a:ln/>
        </p:spPr>
        <p:txBody>
          <a:bodyPr wrap="square" lIns="0" tIns="0" rIns="0" bIns="0" rtlCol="0" anchor="ctr"/>
          <a:lstStyle/>
          <a:p>
            <a:pPr indent="0" marL="0">
              <a:buNone/>
            </a:pPr>
            <a:r>
              <a:rPr lang="en-US" sz="750" dirty="0">
                <a:solidFill>
                  <a:srgbClr val="3A5068"/>
                </a:solidFill>
                <a:latin typeface="Calibri" pitchFamily="34" charset="0"/>
                <a:ea typeface="Calibri" pitchFamily="34" charset="-122"/>
                <a:cs typeface="Calibri" pitchFamily="34" charset="-120"/>
              </a:rPr>
              <a:t>Admin: all submitted assessments</a:t>
            </a:r>
            <a:endParaRPr lang="en-US" sz="750" dirty="0"/>
          </a:p>
        </p:txBody>
      </p:sp>
      <p:sp>
        <p:nvSpPr>
          <p:cNvPr id="94" name="Shape 83"/>
          <p:cNvSpPr/>
          <p:nvPr/>
        </p:nvSpPr>
        <p:spPr>
          <a:xfrm>
            <a:off x="4663440" y="4507992"/>
            <a:ext cx="4224528" cy="493776"/>
          </a:xfrm>
          <a:prstGeom prst="rect">
            <a:avLst/>
          </a:prstGeom>
          <a:solidFill>
            <a:srgbClr val="142035"/>
          </a:solidFill>
          <a:ln w="12700">
            <a:solidFill>
              <a:srgbClr val="0A1931"/>
            </a:solidFill>
            <a:prstDash val="solid"/>
          </a:ln>
        </p:spPr>
      </p:sp>
      <p:sp>
        <p:nvSpPr>
          <p:cNvPr id="95" name="Text 84"/>
          <p:cNvSpPr/>
          <p:nvPr/>
        </p:nvSpPr>
        <p:spPr>
          <a:xfrm>
            <a:off x="4754880" y="4544568"/>
            <a:ext cx="4041648" cy="420624"/>
          </a:xfrm>
          <a:prstGeom prst="rect">
            <a:avLst/>
          </a:prstGeom>
          <a:noFill/>
          <a:ln/>
        </p:spPr>
        <p:txBody>
          <a:bodyPr wrap="square" lIns="0" tIns="0" rIns="0" bIns="0" rtlCol="0" anchor="ctr"/>
          <a:lstStyle/>
          <a:p>
            <a:pPr indent="0" marL="0">
              <a:buNone/>
            </a:pPr>
            <a:r>
              <a:rPr lang="en-US" sz="850" b="1" dirty="0">
                <a:solidFill>
                  <a:srgbClr val="0EA5C0"/>
                </a:solidFill>
                <a:latin typeface="Calibri" pitchFamily="34" charset="0"/>
                <a:ea typeface="Calibri" pitchFamily="34" charset="-122"/>
                <a:cs typeface="Calibri" pitchFamily="34" charset="-120"/>
              </a:rPr>
              <a:t>Dev Process: </a:t>
            </a:r>
            <a:pPr indent="0" marL="0">
              <a:buNone/>
            </a:pPr>
            <a:r>
              <a:rPr lang="en-US" sz="800" dirty="0">
                <a:solidFill>
                  <a:srgbClr val="C8DEE8"/>
                </a:solidFill>
                <a:latin typeface="Calibri" pitchFamily="34" charset="0"/>
                <a:ea typeface="Calibri" pitchFamily="34" charset="-122"/>
                <a:cs typeface="Calibri" pitchFamily="34" charset="-120"/>
              </a:rPr>
              <a:t>8 Agile sprints  ·  Waterfall planning phase  ·  GitHub version control  ·  Docker containerisation  ·  CI/CD on every push to main  ·  pytest + Playwright test gates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System Demo — Application Screens</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Mobile app (React Native / Expo) and Web Dashboard (Next.js) — wireframe-accurate mockups</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Text 7"/>
          <p:cNvSpPr/>
          <p:nvPr/>
        </p:nvSpPr>
        <p:spPr>
          <a:xfrm>
            <a:off x="256032" y="1005840"/>
            <a:ext cx="4206240" cy="256032"/>
          </a:xfrm>
          <a:prstGeom prst="rect">
            <a:avLst/>
          </a:prstGeom>
          <a:noFill/>
          <a:ln/>
        </p:spPr>
        <p:txBody>
          <a:bodyPr wrap="square" lIns="0" tIns="0" rIns="0" bIns="0" rtlCol="0" anchor="ctr"/>
          <a:lstStyle/>
          <a:p>
            <a:pPr algn="ctr" indent="0" marL="0">
              <a:buNone/>
            </a:pPr>
            <a:r>
              <a:rPr lang="en-US" sz="1050" b="1" dirty="0">
                <a:solidFill>
                  <a:srgbClr val="0A1931"/>
                </a:solidFill>
                <a:latin typeface="Calibri" pitchFamily="34" charset="0"/>
                <a:ea typeface="Calibri" pitchFamily="34" charset="-122"/>
                <a:cs typeface="Calibri" pitchFamily="34" charset="-120"/>
              </a:rPr>
              <a:t>Mobile App  (Android / iOS)</a:t>
            </a:r>
            <a:endParaRPr lang="en-US" sz="1050" dirty="0"/>
          </a:p>
        </p:txBody>
      </p:sp>
      <p:sp>
        <p:nvSpPr>
          <p:cNvPr id="10" name="Text 8"/>
          <p:cNvSpPr/>
          <p:nvPr/>
        </p:nvSpPr>
        <p:spPr>
          <a:xfrm>
            <a:off x="4663440" y="1005840"/>
            <a:ext cx="4224528" cy="256032"/>
          </a:xfrm>
          <a:prstGeom prst="rect">
            <a:avLst/>
          </a:prstGeom>
          <a:noFill/>
          <a:ln/>
        </p:spPr>
        <p:txBody>
          <a:bodyPr wrap="square" lIns="0" tIns="0" rIns="0" bIns="0" rtlCol="0" anchor="ctr"/>
          <a:lstStyle/>
          <a:p>
            <a:pPr algn="ctr" indent="0" marL="0">
              <a:buNone/>
            </a:pPr>
            <a:r>
              <a:rPr lang="en-US" sz="1050" b="1" dirty="0">
                <a:solidFill>
                  <a:srgbClr val="0A1931"/>
                </a:solidFill>
                <a:latin typeface="Calibri" pitchFamily="34" charset="0"/>
                <a:ea typeface="Calibri" pitchFamily="34" charset="-122"/>
                <a:cs typeface="Calibri" pitchFamily="34" charset="-120"/>
              </a:rPr>
              <a:t>Web Dashboard  (Next.js · Vercel)</a:t>
            </a:r>
            <a:endParaRPr lang="en-US" sz="1050" dirty="0"/>
          </a:p>
        </p:txBody>
      </p:sp>
      <p:sp>
        <p:nvSpPr>
          <p:cNvPr id="11" name="Shape 9"/>
          <p:cNvSpPr/>
          <p:nvPr/>
        </p:nvSpPr>
        <p:spPr>
          <a:xfrm>
            <a:off x="274320" y="1298448"/>
            <a:ext cx="1865376" cy="3493008"/>
          </a:xfrm>
          <a:prstGeom prst="roundRect">
            <a:avLst>
              <a:gd name="adj" fmla="val 6863"/>
            </a:avLst>
          </a:prstGeom>
          <a:solidFill>
            <a:srgbClr val="111827"/>
          </a:solidFill>
          <a:ln w="19050">
            <a:solidFill>
              <a:srgbClr val="2D3748"/>
            </a:solidFill>
            <a:prstDash val="solid"/>
          </a:ln>
        </p:spPr>
      </p:sp>
      <p:sp>
        <p:nvSpPr>
          <p:cNvPr id="12" name="Shape 10"/>
          <p:cNvSpPr/>
          <p:nvPr/>
        </p:nvSpPr>
        <p:spPr>
          <a:xfrm>
            <a:off x="1078992" y="1353312"/>
            <a:ext cx="256032" cy="109728"/>
          </a:xfrm>
          <a:prstGeom prst="ellipse">
            <a:avLst/>
          </a:prstGeom>
          <a:solidFill>
            <a:srgbClr val="1A2535"/>
          </a:solidFill>
          <a:ln w="12700">
            <a:solidFill>
              <a:srgbClr val="1A2535"/>
            </a:solidFill>
            <a:prstDash val="solid"/>
          </a:ln>
        </p:spPr>
      </p:sp>
      <p:sp>
        <p:nvSpPr>
          <p:cNvPr id="13" name="Shape 11"/>
          <p:cNvSpPr/>
          <p:nvPr/>
        </p:nvSpPr>
        <p:spPr>
          <a:xfrm>
            <a:off x="384048" y="1463040"/>
            <a:ext cx="1645920" cy="3054096"/>
          </a:xfrm>
          <a:prstGeom prst="rect">
            <a:avLst/>
          </a:prstGeom>
          <a:solidFill>
            <a:srgbClr val="F0F7FA"/>
          </a:solidFill>
          <a:ln w="5080">
            <a:solidFill>
              <a:srgbClr val="E2EDF2"/>
            </a:solidFill>
            <a:prstDash val="solid"/>
          </a:ln>
        </p:spPr>
      </p:sp>
      <p:sp>
        <p:nvSpPr>
          <p:cNvPr id="14" name="Shape 12"/>
          <p:cNvSpPr/>
          <p:nvPr/>
        </p:nvSpPr>
        <p:spPr>
          <a:xfrm>
            <a:off x="384048" y="1463040"/>
            <a:ext cx="1645920" cy="274320"/>
          </a:xfrm>
          <a:prstGeom prst="rect">
            <a:avLst/>
          </a:prstGeom>
          <a:solidFill>
            <a:srgbClr val="0D7C8F"/>
          </a:solidFill>
          <a:ln w="12700">
            <a:solidFill>
              <a:srgbClr val="0D7C8F"/>
            </a:solidFill>
            <a:prstDash val="solid"/>
          </a:ln>
        </p:spPr>
      </p:sp>
      <p:sp>
        <p:nvSpPr>
          <p:cNvPr id="15" name="Text 13"/>
          <p:cNvSpPr/>
          <p:nvPr/>
        </p:nvSpPr>
        <p:spPr>
          <a:xfrm>
            <a:off x="384048" y="1463040"/>
            <a:ext cx="1645920"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BizSense OS</a:t>
            </a:r>
            <a:endParaRPr lang="en-US" sz="750" dirty="0"/>
          </a:p>
        </p:txBody>
      </p:sp>
      <p:sp>
        <p:nvSpPr>
          <p:cNvPr id="16" name="Shape 14"/>
          <p:cNvSpPr/>
          <p:nvPr/>
        </p:nvSpPr>
        <p:spPr>
          <a:xfrm>
            <a:off x="676656" y="1792224"/>
            <a:ext cx="1060704" cy="1060704"/>
          </a:xfrm>
          <a:prstGeom prst="ellipse">
            <a:avLst/>
          </a:prstGeom>
          <a:solidFill>
            <a:srgbClr val="DC2626"/>
          </a:solidFill>
          <a:ln w="12700">
            <a:solidFill>
              <a:srgbClr val="DC2626"/>
            </a:solidFill>
            <a:prstDash val="solid"/>
          </a:ln>
        </p:spPr>
      </p:sp>
      <p:sp>
        <p:nvSpPr>
          <p:cNvPr id="17" name="Text 15"/>
          <p:cNvSpPr/>
          <p:nvPr/>
        </p:nvSpPr>
        <p:spPr>
          <a:xfrm>
            <a:off x="676656" y="1956816"/>
            <a:ext cx="1060704"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RISK</a:t>
            </a:r>
            <a:endParaRPr lang="en-US" sz="1000" dirty="0"/>
          </a:p>
        </p:txBody>
      </p:sp>
      <p:sp>
        <p:nvSpPr>
          <p:cNvPr id="18" name="Text 16"/>
          <p:cNvSpPr/>
          <p:nvPr/>
        </p:nvSpPr>
        <p:spPr>
          <a:xfrm>
            <a:off x="676656" y="1792224"/>
            <a:ext cx="1060704" cy="201168"/>
          </a:xfrm>
          <a:prstGeom prst="rect">
            <a:avLst/>
          </a:prstGeom>
          <a:noFill/>
          <a:ln/>
        </p:spPr>
        <p:txBody>
          <a:bodyPr wrap="square" lIns="0" tIns="0" rIns="0" bIns="0" rtlCol="0" anchor="ctr"/>
          <a:lstStyle/>
          <a:p>
            <a:pPr algn="ctr" indent="0" marL="0">
              <a:buNone/>
            </a:pPr>
            <a:r>
              <a:rPr lang="en-US" sz="700" dirty="0">
                <a:solidFill>
                  <a:srgbClr val="FFCCCC"/>
                </a:solidFill>
                <a:latin typeface="Calibri" pitchFamily="34" charset="0"/>
                <a:ea typeface="Calibri" pitchFamily="34" charset="-122"/>
                <a:cs typeface="Calibri" pitchFamily="34" charset="-120"/>
              </a:rPr>
              <a:t>Score: 79%</a:t>
            </a:r>
            <a:endParaRPr lang="en-US" sz="700" dirty="0"/>
          </a:p>
        </p:txBody>
      </p:sp>
      <p:sp>
        <p:nvSpPr>
          <p:cNvPr id="19" name="Text 17"/>
          <p:cNvSpPr/>
          <p:nvPr/>
        </p:nvSpPr>
        <p:spPr>
          <a:xfrm>
            <a:off x="402336" y="2907792"/>
            <a:ext cx="1609344" cy="146304"/>
          </a:xfrm>
          <a:prstGeom prst="rect">
            <a:avLst/>
          </a:prstGeom>
          <a:noFill/>
          <a:ln/>
        </p:spPr>
        <p:txBody>
          <a:bodyPr wrap="square" lIns="0" tIns="0" rIns="0" bIns="0" rtlCol="0" anchor="ctr"/>
          <a:lstStyle/>
          <a:p>
            <a:pPr algn="ctr" indent="0" marL="0">
              <a:buNone/>
            </a:pPr>
            <a:r>
              <a:rPr lang="en-US" sz="650" b="1" dirty="0">
                <a:solidFill>
                  <a:srgbClr val="0A1931"/>
                </a:solidFill>
                <a:latin typeface="Calibri" pitchFamily="34" charset="0"/>
                <a:ea typeface="Calibri" pitchFamily="34" charset="-122"/>
                <a:cs typeface="Calibri" pitchFamily="34" charset="-120"/>
              </a:rPr>
              <a:t>Survival Curve</a:t>
            </a:r>
            <a:endParaRPr lang="en-US" sz="650" dirty="0"/>
          </a:p>
        </p:txBody>
      </p:sp>
      <p:sp>
        <p:nvSpPr>
          <p:cNvPr id="20" name="Shape 18"/>
          <p:cNvSpPr/>
          <p:nvPr/>
        </p:nvSpPr>
        <p:spPr>
          <a:xfrm>
            <a:off x="402336" y="3054096"/>
            <a:ext cx="1609344" cy="36576"/>
          </a:xfrm>
          <a:prstGeom prst="rect">
            <a:avLst/>
          </a:prstGeom>
          <a:solidFill>
            <a:srgbClr val="E2EDF2"/>
          </a:solidFill>
          <a:ln w="12700">
            <a:solidFill>
              <a:srgbClr val="E2EDF2"/>
            </a:solidFill>
            <a:prstDash val="solid"/>
          </a:ln>
        </p:spPr>
      </p:sp>
      <p:sp>
        <p:nvSpPr>
          <p:cNvPr id="21" name="Shape 19"/>
          <p:cNvSpPr/>
          <p:nvPr/>
        </p:nvSpPr>
        <p:spPr>
          <a:xfrm>
            <a:off x="475488" y="2615184"/>
            <a:ext cx="292608" cy="475488"/>
          </a:xfrm>
          <a:prstGeom prst="rect">
            <a:avLst/>
          </a:prstGeom>
          <a:solidFill>
            <a:srgbClr val="F59E0B"/>
          </a:solidFill>
          <a:ln w="12700">
            <a:solidFill>
              <a:srgbClr val="F59E0B"/>
            </a:solidFill>
            <a:prstDash val="solid"/>
          </a:ln>
        </p:spPr>
      </p:sp>
      <p:sp>
        <p:nvSpPr>
          <p:cNvPr id="22" name="Shape 20"/>
          <p:cNvSpPr/>
          <p:nvPr/>
        </p:nvSpPr>
        <p:spPr>
          <a:xfrm>
            <a:off x="877824" y="2770632"/>
            <a:ext cx="292608" cy="320040"/>
          </a:xfrm>
          <a:prstGeom prst="rect">
            <a:avLst/>
          </a:prstGeom>
          <a:solidFill>
            <a:srgbClr val="DC2626"/>
          </a:solidFill>
          <a:ln w="12700">
            <a:solidFill>
              <a:srgbClr val="DC2626"/>
            </a:solidFill>
            <a:prstDash val="solid"/>
          </a:ln>
        </p:spPr>
      </p:sp>
      <p:sp>
        <p:nvSpPr>
          <p:cNvPr id="23" name="Shape 21"/>
          <p:cNvSpPr/>
          <p:nvPr/>
        </p:nvSpPr>
        <p:spPr>
          <a:xfrm>
            <a:off x="1280160" y="2889504"/>
            <a:ext cx="292608" cy="201168"/>
          </a:xfrm>
          <a:prstGeom prst="rect">
            <a:avLst/>
          </a:prstGeom>
          <a:solidFill>
            <a:srgbClr val="DC2626"/>
          </a:solidFill>
          <a:ln w="12700">
            <a:solidFill>
              <a:srgbClr val="DC2626"/>
            </a:solidFill>
            <a:prstDash val="solid"/>
          </a:ln>
        </p:spPr>
      </p:sp>
      <p:sp>
        <p:nvSpPr>
          <p:cNvPr id="24" name="Text 22"/>
          <p:cNvSpPr/>
          <p:nvPr/>
        </p:nvSpPr>
        <p:spPr>
          <a:xfrm>
            <a:off x="402336" y="3145536"/>
            <a:ext cx="1609344" cy="128016"/>
          </a:xfrm>
          <a:prstGeom prst="rect">
            <a:avLst/>
          </a:prstGeom>
          <a:noFill/>
          <a:ln/>
        </p:spPr>
        <p:txBody>
          <a:bodyPr wrap="square" lIns="0" tIns="0" rIns="0" bIns="0" rtlCol="0" anchor="ctr"/>
          <a:lstStyle/>
          <a:p>
            <a:pPr algn="ctr" indent="0" marL="0">
              <a:buNone/>
            </a:pPr>
            <a:r>
              <a:rPr lang="en-US" sz="600" dirty="0">
                <a:solidFill>
                  <a:srgbClr val="7A95A8"/>
                </a:solidFill>
                <a:latin typeface="Calibri" pitchFamily="34" charset="0"/>
                <a:ea typeface="Calibri" pitchFamily="34" charset="-122"/>
                <a:cs typeface="Calibri" pitchFamily="34" charset="-120"/>
              </a:rPr>
              <a:t>Yr1   Yr2   Yr3</a:t>
            </a:r>
            <a:endParaRPr lang="en-US" sz="600" dirty="0"/>
          </a:p>
        </p:txBody>
      </p:sp>
      <p:sp>
        <p:nvSpPr>
          <p:cNvPr id="25" name="Shape 23"/>
          <p:cNvSpPr/>
          <p:nvPr/>
        </p:nvSpPr>
        <p:spPr>
          <a:xfrm>
            <a:off x="402336" y="3310128"/>
            <a:ext cx="1609344" cy="530352"/>
          </a:xfrm>
          <a:prstGeom prst="rect">
            <a:avLst/>
          </a:prstGeom>
          <a:solidFill>
            <a:srgbClr val="E8F4F8"/>
          </a:solidFill>
          <a:ln w="5080">
            <a:solidFill>
              <a:srgbClr val="E2EDF2"/>
            </a:solidFill>
            <a:prstDash val="solid"/>
          </a:ln>
        </p:spPr>
      </p:sp>
      <p:sp>
        <p:nvSpPr>
          <p:cNvPr id="26" name="Text 24"/>
          <p:cNvSpPr/>
          <p:nvPr/>
        </p:nvSpPr>
        <p:spPr>
          <a:xfrm>
            <a:off x="420624" y="3328416"/>
            <a:ext cx="1572768" cy="146304"/>
          </a:xfrm>
          <a:prstGeom prst="rect">
            <a:avLst/>
          </a:prstGeom>
          <a:noFill/>
          <a:ln/>
        </p:spPr>
        <p:txBody>
          <a:bodyPr wrap="square" lIns="0" tIns="0" rIns="0" bIns="0" rtlCol="0" anchor="ctr"/>
          <a:lstStyle/>
          <a:p>
            <a:pPr indent="0" marL="0">
              <a:buNone/>
            </a:pPr>
            <a:r>
              <a:rPr lang="en-US" sz="600" b="1" dirty="0">
                <a:solidFill>
                  <a:srgbClr val="0D7C8F"/>
                </a:solidFill>
                <a:latin typeface="Calibri" pitchFamily="34" charset="0"/>
                <a:ea typeface="Calibri" pitchFamily="34" charset="-122"/>
                <a:cs typeface="Calibri" pitchFamily="34" charset="-120"/>
              </a:rPr>
              <a:t>AI Advisory</a:t>
            </a:r>
            <a:endParaRPr lang="en-US" sz="600" dirty="0"/>
          </a:p>
        </p:txBody>
      </p:sp>
      <p:sp>
        <p:nvSpPr>
          <p:cNvPr id="27" name="Text 25"/>
          <p:cNvSpPr/>
          <p:nvPr/>
        </p:nvSpPr>
        <p:spPr>
          <a:xfrm>
            <a:off x="420624" y="3474720"/>
            <a:ext cx="1572768" cy="329184"/>
          </a:xfrm>
          <a:prstGeom prst="rect">
            <a:avLst/>
          </a:prstGeom>
          <a:noFill/>
          <a:ln/>
        </p:spPr>
        <p:txBody>
          <a:bodyPr wrap="square" lIns="0" tIns="0" rIns="0" bIns="0" rtlCol="0" anchor="ctr"/>
          <a:lstStyle/>
          <a:p>
            <a:pPr indent="0" marL="0">
              <a:buNone/>
            </a:pPr>
            <a:r>
              <a:rPr lang="en-US" sz="550" dirty="0">
                <a:solidFill>
                  <a:srgbClr val="3A5068"/>
                </a:solidFill>
                <a:latin typeface="Calibri" pitchFamily="34" charset="0"/>
                <a:ea typeface="Calibri" pitchFamily="34" charset="-122"/>
                <a:cs typeface="Calibri" pitchFamily="34" charset="-120"/>
              </a:rPr>
              <a:t>Focus on capital efficiency.</a:t>
            </a:r>
            <a:endParaRPr lang="en-US" sz="550" dirty="0"/>
          </a:p>
          <a:p>
            <a:pPr indent="0" marL="0">
              <a:buNone/>
            </a:pPr>
            <a:r>
              <a:rPr lang="en-US" sz="550" dirty="0">
                <a:solidFill>
                  <a:srgbClr val="3A5068"/>
                </a:solidFill>
                <a:latin typeface="Calibri" pitchFamily="34" charset="0"/>
                <a:ea typeface="Calibri" pitchFamily="34" charset="-122"/>
                <a:cs typeface="Calibri" pitchFamily="34" charset="-120"/>
              </a:rPr>
              <a:t>Seek MINPMEESA microfinance.</a:t>
            </a:r>
            <a:endParaRPr lang="en-US" sz="550" dirty="0"/>
          </a:p>
          <a:p>
            <a:pPr indent="0" marL="0">
              <a:buNone/>
            </a:pPr>
            <a:r>
              <a:rPr lang="en-US" sz="550" dirty="0">
                <a:solidFill>
                  <a:srgbClr val="3A5068"/>
                </a:solidFill>
                <a:latin typeface="Calibri" pitchFamily="34" charset="0"/>
                <a:ea typeface="Calibri" pitchFamily="34" charset="-122"/>
                <a:cs typeface="Calibri" pitchFamily="34" charset="-120"/>
              </a:rPr>
              <a:t>Formalize bookkeeping now.</a:t>
            </a:r>
            <a:endParaRPr lang="en-US" sz="550" dirty="0"/>
          </a:p>
        </p:txBody>
      </p:sp>
      <p:sp>
        <p:nvSpPr>
          <p:cNvPr id="28" name="Shape 26"/>
          <p:cNvSpPr/>
          <p:nvPr/>
        </p:nvSpPr>
        <p:spPr>
          <a:xfrm>
            <a:off x="822960" y="4553712"/>
            <a:ext cx="768096" cy="91440"/>
          </a:xfrm>
          <a:prstGeom prst="rect">
            <a:avLst/>
          </a:prstGeom>
          <a:solidFill>
            <a:srgbClr val="2D3748"/>
          </a:solidFill>
          <a:ln w="12700">
            <a:solidFill>
              <a:srgbClr val="2D3748"/>
            </a:solidFill>
            <a:prstDash val="solid"/>
          </a:ln>
        </p:spPr>
      </p:sp>
      <p:sp>
        <p:nvSpPr>
          <p:cNvPr id="29" name="Text 27"/>
          <p:cNvSpPr/>
          <p:nvPr/>
        </p:nvSpPr>
        <p:spPr>
          <a:xfrm>
            <a:off x="274320" y="4846320"/>
            <a:ext cx="1865376" cy="164592"/>
          </a:xfrm>
          <a:prstGeom prst="rect">
            <a:avLst/>
          </a:prstGeom>
          <a:noFill/>
          <a:ln/>
        </p:spPr>
        <p:txBody>
          <a:bodyPr wrap="square" lIns="0" tIns="0" rIns="0" bIns="0" rtlCol="0" anchor="ctr"/>
          <a:lstStyle/>
          <a:p>
            <a:pPr algn="ctr" indent="0" marL="0">
              <a:buNone/>
            </a:pPr>
            <a:r>
              <a:rPr lang="en-US" sz="700" i="1" dirty="0">
                <a:solidFill>
                  <a:srgbClr val="3A5068"/>
                </a:solidFill>
                <a:latin typeface="Calibri" pitchFamily="34" charset="0"/>
                <a:ea typeface="Calibri" pitchFamily="34" charset="-122"/>
                <a:cs typeface="Calibri" pitchFamily="34" charset="-120"/>
              </a:rPr>
              <a:t>Risk Prediction Screen</a:t>
            </a:r>
            <a:endParaRPr lang="en-US" sz="700" dirty="0"/>
          </a:p>
        </p:txBody>
      </p:sp>
      <p:sp>
        <p:nvSpPr>
          <p:cNvPr id="30" name="Shape 28"/>
          <p:cNvSpPr/>
          <p:nvPr/>
        </p:nvSpPr>
        <p:spPr>
          <a:xfrm>
            <a:off x="2322576" y="1298448"/>
            <a:ext cx="1865376" cy="3493008"/>
          </a:xfrm>
          <a:prstGeom prst="roundRect">
            <a:avLst>
              <a:gd name="adj" fmla="val 6863"/>
            </a:avLst>
          </a:prstGeom>
          <a:solidFill>
            <a:srgbClr val="111827"/>
          </a:solidFill>
          <a:ln w="19050">
            <a:solidFill>
              <a:srgbClr val="2D3748"/>
            </a:solidFill>
            <a:prstDash val="solid"/>
          </a:ln>
        </p:spPr>
      </p:sp>
      <p:sp>
        <p:nvSpPr>
          <p:cNvPr id="31" name="Shape 29"/>
          <p:cNvSpPr/>
          <p:nvPr/>
        </p:nvSpPr>
        <p:spPr>
          <a:xfrm>
            <a:off x="3127248" y="1353312"/>
            <a:ext cx="256032" cy="109728"/>
          </a:xfrm>
          <a:prstGeom prst="ellipse">
            <a:avLst/>
          </a:prstGeom>
          <a:solidFill>
            <a:srgbClr val="1A2535"/>
          </a:solidFill>
          <a:ln w="12700">
            <a:solidFill>
              <a:srgbClr val="1A2535"/>
            </a:solidFill>
            <a:prstDash val="solid"/>
          </a:ln>
        </p:spPr>
      </p:sp>
      <p:sp>
        <p:nvSpPr>
          <p:cNvPr id="32" name="Shape 30"/>
          <p:cNvSpPr/>
          <p:nvPr/>
        </p:nvSpPr>
        <p:spPr>
          <a:xfrm>
            <a:off x="2432304" y="1463040"/>
            <a:ext cx="1645920" cy="3054096"/>
          </a:xfrm>
          <a:prstGeom prst="rect">
            <a:avLst/>
          </a:prstGeom>
          <a:solidFill>
            <a:srgbClr val="F0F7FA"/>
          </a:solidFill>
          <a:ln w="5080">
            <a:solidFill>
              <a:srgbClr val="E2EDF2"/>
            </a:solidFill>
            <a:prstDash val="solid"/>
          </a:ln>
        </p:spPr>
      </p:sp>
      <p:sp>
        <p:nvSpPr>
          <p:cNvPr id="33" name="Shape 31"/>
          <p:cNvSpPr/>
          <p:nvPr/>
        </p:nvSpPr>
        <p:spPr>
          <a:xfrm>
            <a:off x="2432304" y="1463040"/>
            <a:ext cx="1645920" cy="274320"/>
          </a:xfrm>
          <a:prstGeom prst="rect">
            <a:avLst/>
          </a:prstGeom>
          <a:solidFill>
            <a:srgbClr val="0D7C8F"/>
          </a:solidFill>
          <a:ln w="12700">
            <a:solidFill>
              <a:srgbClr val="0D7C8F"/>
            </a:solidFill>
            <a:prstDash val="solid"/>
          </a:ln>
        </p:spPr>
      </p:sp>
      <p:sp>
        <p:nvSpPr>
          <p:cNvPr id="34" name="Text 32"/>
          <p:cNvSpPr/>
          <p:nvPr/>
        </p:nvSpPr>
        <p:spPr>
          <a:xfrm>
            <a:off x="2432304" y="1463040"/>
            <a:ext cx="164592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Assessment Form</a:t>
            </a:r>
            <a:endParaRPr lang="en-US" sz="700" dirty="0"/>
          </a:p>
        </p:txBody>
      </p:sp>
      <p:sp>
        <p:nvSpPr>
          <p:cNvPr id="35" name="Text 33"/>
          <p:cNvSpPr/>
          <p:nvPr/>
        </p:nvSpPr>
        <p:spPr>
          <a:xfrm>
            <a:off x="2468880" y="1792224"/>
            <a:ext cx="1572768" cy="146304"/>
          </a:xfrm>
          <a:prstGeom prst="rect">
            <a:avLst/>
          </a:prstGeom>
          <a:noFill/>
          <a:ln/>
        </p:spPr>
        <p:txBody>
          <a:bodyPr wrap="square" lIns="0" tIns="0" rIns="0" bIns="0" rtlCol="0" anchor="ctr"/>
          <a:lstStyle/>
          <a:p>
            <a:pPr indent="0" marL="0">
              <a:buNone/>
            </a:pPr>
            <a:r>
              <a:rPr lang="en-US" sz="600" dirty="0">
                <a:solidFill>
                  <a:srgbClr val="3A5068"/>
                </a:solidFill>
                <a:latin typeface="Calibri" pitchFamily="34" charset="0"/>
                <a:ea typeface="Calibri" pitchFamily="34" charset="-122"/>
                <a:cs typeface="Calibri" pitchFamily="34" charset="-120"/>
              </a:rPr>
              <a:t>Business Name</a:t>
            </a:r>
            <a:endParaRPr lang="en-US" sz="600" dirty="0"/>
          </a:p>
        </p:txBody>
      </p:sp>
      <p:sp>
        <p:nvSpPr>
          <p:cNvPr id="36" name="Shape 34"/>
          <p:cNvSpPr/>
          <p:nvPr/>
        </p:nvSpPr>
        <p:spPr>
          <a:xfrm>
            <a:off x="2468880" y="1938528"/>
            <a:ext cx="1572768" cy="201168"/>
          </a:xfrm>
          <a:prstGeom prst="rect">
            <a:avLst/>
          </a:prstGeom>
          <a:solidFill>
            <a:srgbClr val="FFFFFF"/>
          </a:solidFill>
          <a:ln w="9525">
            <a:solidFill>
              <a:srgbClr val="BBCCD5"/>
            </a:solidFill>
            <a:prstDash val="solid"/>
          </a:ln>
        </p:spPr>
      </p:sp>
      <p:sp>
        <p:nvSpPr>
          <p:cNvPr id="37" name="Text 35"/>
          <p:cNvSpPr/>
          <p:nvPr/>
        </p:nvSpPr>
        <p:spPr>
          <a:xfrm>
            <a:off x="2468880" y="2194560"/>
            <a:ext cx="1572768" cy="146304"/>
          </a:xfrm>
          <a:prstGeom prst="rect">
            <a:avLst/>
          </a:prstGeom>
          <a:noFill/>
          <a:ln/>
        </p:spPr>
        <p:txBody>
          <a:bodyPr wrap="square" lIns="0" tIns="0" rIns="0" bIns="0" rtlCol="0" anchor="ctr"/>
          <a:lstStyle/>
          <a:p>
            <a:pPr indent="0" marL="0">
              <a:buNone/>
            </a:pPr>
            <a:r>
              <a:rPr lang="en-US" sz="600" dirty="0">
                <a:solidFill>
                  <a:srgbClr val="3A5068"/>
                </a:solidFill>
                <a:latin typeface="Calibri" pitchFamily="34" charset="0"/>
                <a:ea typeface="Calibri" pitchFamily="34" charset="-122"/>
                <a:cs typeface="Calibri" pitchFamily="34" charset="-120"/>
              </a:rPr>
              <a:t>Sector / Industry</a:t>
            </a:r>
            <a:endParaRPr lang="en-US" sz="600" dirty="0"/>
          </a:p>
        </p:txBody>
      </p:sp>
      <p:sp>
        <p:nvSpPr>
          <p:cNvPr id="38" name="Shape 36"/>
          <p:cNvSpPr/>
          <p:nvPr/>
        </p:nvSpPr>
        <p:spPr>
          <a:xfrm>
            <a:off x="2468880" y="2340864"/>
            <a:ext cx="1572768" cy="201168"/>
          </a:xfrm>
          <a:prstGeom prst="rect">
            <a:avLst/>
          </a:prstGeom>
          <a:solidFill>
            <a:srgbClr val="FFFFFF"/>
          </a:solidFill>
          <a:ln w="9525">
            <a:solidFill>
              <a:srgbClr val="BBCCD5"/>
            </a:solidFill>
            <a:prstDash val="solid"/>
          </a:ln>
        </p:spPr>
      </p:sp>
      <p:sp>
        <p:nvSpPr>
          <p:cNvPr id="39" name="Text 37"/>
          <p:cNvSpPr/>
          <p:nvPr/>
        </p:nvSpPr>
        <p:spPr>
          <a:xfrm>
            <a:off x="2468880" y="2596896"/>
            <a:ext cx="1572768" cy="146304"/>
          </a:xfrm>
          <a:prstGeom prst="rect">
            <a:avLst/>
          </a:prstGeom>
          <a:noFill/>
          <a:ln/>
        </p:spPr>
        <p:txBody>
          <a:bodyPr wrap="square" lIns="0" tIns="0" rIns="0" bIns="0" rtlCol="0" anchor="ctr"/>
          <a:lstStyle/>
          <a:p>
            <a:pPr indent="0" marL="0">
              <a:buNone/>
            </a:pPr>
            <a:r>
              <a:rPr lang="en-US" sz="600" dirty="0">
                <a:solidFill>
                  <a:srgbClr val="3A5068"/>
                </a:solidFill>
                <a:latin typeface="Calibri" pitchFamily="34" charset="0"/>
                <a:ea typeface="Calibri" pitchFamily="34" charset="-122"/>
                <a:cs typeface="Calibri" pitchFamily="34" charset="-120"/>
              </a:rPr>
              <a:t>City</a:t>
            </a:r>
            <a:endParaRPr lang="en-US" sz="600" dirty="0"/>
          </a:p>
        </p:txBody>
      </p:sp>
      <p:sp>
        <p:nvSpPr>
          <p:cNvPr id="40" name="Shape 38"/>
          <p:cNvSpPr/>
          <p:nvPr/>
        </p:nvSpPr>
        <p:spPr>
          <a:xfrm>
            <a:off x="2468880" y="2743200"/>
            <a:ext cx="1572768" cy="201168"/>
          </a:xfrm>
          <a:prstGeom prst="rect">
            <a:avLst/>
          </a:prstGeom>
          <a:solidFill>
            <a:srgbClr val="FFFFFF"/>
          </a:solidFill>
          <a:ln w="9525">
            <a:solidFill>
              <a:srgbClr val="BBCCD5"/>
            </a:solidFill>
            <a:prstDash val="solid"/>
          </a:ln>
        </p:spPr>
      </p:sp>
      <p:sp>
        <p:nvSpPr>
          <p:cNvPr id="41" name="Text 39"/>
          <p:cNvSpPr/>
          <p:nvPr/>
        </p:nvSpPr>
        <p:spPr>
          <a:xfrm>
            <a:off x="2468880" y="2999232"/>
            <a:ext cx="1572768" cy="146304"/>
          </a:xfrm>
          <a:prstGeom prst="rect">
            <a:avLst/>
          </a:prstGeom>
          <a:noFill/>
          <a:ln/>
        </p:spPr>
        <p:txBody>
          <a:bodyPr wrap="square" lIns="0" tIns="0" rIns="0" bIns="0" rtlCol="0" anchor="ctr"/>
          <a:lstStyle/>
          <a:p>
            <a:pPr indent="0" marL="0">
              <a:buNone/>
            </a:pPr>
            <a:r>
              <a:rPr lang="en-US" sz="600" dirty="0">
                <a:solidFill>
                  <a:srgbClr val="3A5068"/>
                </a:solidFill>
                <a:latin typeface="Calibri" pitchFamily="34" charset="0"/>
                <a:ea typeface="Calibri" pitchFamily="34" charset="-122"/>
                <a:cs typeface="Calibri" pitchFamily="34" charset="-120"/>
              </a:rPr>
              <a:t>Capital (CFA Francs)</a:t>
            </a:r>
            <a:endParaRPr lang="en-US" sz="600" dirty="0"/>
          </a:p>
        </p:txBody>
      </p:sp>
      <p:sp>
        <p:nvSpPr>
          <p:cNvPr id="42" name="Shape 40"/>
          <p:cNvSpPr/>
          <p:nvPr/>
        </p:nvSpPr>
        <p:spPr>
          <a:xfrm>
            <a:off x="2468880" y="3145536"/>
            <a:ext cx="1572768" cy="201168"/>
          </a:xfrm>
          <a:prstGeom prst="rect">
            <a:avLst/>
          </a:prstGeom>
          <a:solidFill>
            <a:srgbClr val="FFFFFF"/>
          </a:solidFill>
          <a:ln w="9525">
            <a:solidFill>
              <a:srgbClr val="BBCCD5"/>
            </a:solidFill>
            <a:prstDash val="solid"/>
          </a:ln>
        </p:spPr>
      </p:sp>
      <p:sp>
        <p:nvSpPr>
          <p:cNvPr id="43" name="Text 41"/>
          <p:cNvSpPr/>
          <p:nvPr/>
        </p:nvSpPr>
        <p:spPr>
          <a:xfrm>
            <a:off x="2468880" y="3401568"/>
            <a:ext cx="1572768" cy="146304"/>
          </a:xfrm>
          <a:prstGeom prst="rect">
            <a:avLst/>
          </a:prstGeom>
          <a:noFill/>
          <a:ln/>
        </p:spPr>
        <p:txBody>
          <a:bodyPr wrap="square" lIns="0" tIns="0" rIns="0" bIns="0" rtlCol="0" anchor="ctr"/>
          <a:lstStyle/>
          <a:p>
            <a:pPr indent="0" marL="0">
              <a:buNone/>
            </a:pPr>
            <a:r>
              <a:rPr lang="en-US" sz="600" dirty="0">
                <a:solidFill>
                  <a:srgbClr val="3A5068"/>
                </a:solidFill>
                <a:latin typeface="Calibri" pitchFamily="34" charset="0"/>
                <a:ea typeface="Calibri" pitchFamily="34" charset="-122"/>
                <a:cs typeface="Calibri" pitchFamily="34" charset="-120"/>
              </a:rPr>
              <a:t>No. of Employees</a:t>
            </a:r>
            <a:endParaRPr lang="en-US" sz="600" dirty="0"/>
          </a:p>
        </p:txBody>
      </p:sp>
      <p:sp>
        <p:nvSpPr>
          <p:cNvPr id="44" name="Shape 42"/>
          <p:cNvSpPr/>
          <p:nvPr/>
        </p:nvSpPr>
        <p:spPr>
          <a:xfrm>
            <a:off x="2468880" y="3547872"/>
            <a:ext cx="1572768" cy="201168"/>
          </a:xfrm>
          <a:prstGeom prst="rect">
            <a:avLst/>
          </a:prstGeom>
          <a:solidFill>
            <a:srgbClr val="FFFFFF"/>
          </a:solidFill>
          <a:ln w="9525">
            <a:solidFill>
              <a:srgbClr val="BBCCD5"/>
            </a:solidFill>
            <a:prstDash val="solid"/>
          </a:ln>
        </p:spPr>
      </p:sp>
      <p:sp>
        <p:nvSpPr>
          <p:cNvPr id="45" name="Text 43"/>
          <p:cNvSpPr/>
          <p:nvPr/>
        </p:nvSpPr>
        <p:spPr>
          <a:xfrm>
            <a:off x="2468880" y="3803904"/>
            <a:ext cx="1572768" cy="146304"/>
          </a:xfrm>
          <a:prstGeom prst="rect">
            <a:avLst/>
          </a:prstGeom>
          <a:noFill/>
          <a:ln/>
        </p:spPr>
        <p:txBody>
          <a:bodyPr wrap="square" lIns="0" tIns="0" rIns="0" bIns="0" rtlCol="0" anchor="ctr"/>
          <a:lstStyle/>
          <a:p>
            <a:pPr indent="0" marL="0">
              <a:buNone/>
            </a:pPr>
            <a:r>
              <a:rPr lang="en-US" sz="600" dirty="0">
                <a:solidFill>
                  <a:srgbClr val="3A5068"/>
                </a:solidFill>
                <a:latin typeface="Calibri" pitchFamily="34" charset="0"/>
                <a:ea typeface="Calibri" pitchFamily="34" charset="-122"/>
                <a:cs typeface="Calibri" pitchFamily="34" charset="-120"/>
              </a:rPr>
              <a:t>Monthly Revenue</a:t>
            </a:r>
            <a:endParaRPr lang="en-US" sz="600" dirty="0"/>
          </a:p>
        </p:txBody>
      </p:sp>
      <p:sp>
        <p:nvSpPr>
          <p:cNvPr id="46" name="Shape 44"/>
          <p:cNvSpPr/>
          <p:nvPr/>
        </p:nvSpPr>
        <p:spPr>
          <a:xfrm>
            <a:off x="2468880" y="3950208"/>
            <a:ext cx="1572768" cy="201168"/>
          </a:xfrm>
          <a:prstGeom prst="rect">
            <a:avLst/>
          </a:prstGeom>
          <a:solidFill>
            <a:srgbClr val="FFFFFF"/>
          </a:solidFill>
          <a:ln w="9525">
            <a:solidFill>
              <a:srgbClr val="BBCCD5"/>
            </a:solidFill>
            <a:prstDash val="solid"/>
          </a:ln>
        </p:spPr>
      </p:sp>
      <p:sp>
        <p:nvSpPr>
          <p:cNvPr id="47" name="Shape 45"/>
          <p:cNvSpPr/>
          <p:nvPr/>
        </p:nvSpPr>
        <p:spPr>
          <a:xfrm>
            <a:off x="2468880" y="4261104"/>
            <a:ext cx="1572768" cy="201168"/>
          </a:xfrm>
          <a:prstGeom prst="rect">
            <a:avLst/>
          </a:prstGeom>
          <a:solidFill>
            <a:srgbClr val="059669"/>
          </a:solidFill>
          <a:ln w="12700">
            <a:solidFill>
              <a:srgbClr val="059669"/>
            </a:solidFill>
            <a:prstDash val="solid"/>
          </a:ln>
        </p:spPr>
      </p:sp>
      <p:sp>
        <p:nvSpPr>
          <p:cNvPr id="48" name="Text 46"/>
          <p:cNvSpPr/>
          <p:nvPr/>
        </p:nvSpPr>
        <p:spPr>
          <a:xfrm>
            <a:off x="2468880" y="4261104"/>
            <a:ext cx="1572768"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Analyse My Business</a:t>
            </a:r>
            <a:endParaRPr lang="en-US" sz="650" dirty="0"/>
          </a:p>
        </p:txBody>
      </p:sp>
      <p:sp>
        <p:nvSpPr>
          <p:cNvPr id="49" name="Shape 47"/>
          <p:cNvSpPr/>
          <p:nvPr/>
        </p:nvSpPr>
        <p:spPr>
          <a:xfrm>
            <a:off x="2871216" y="4553712"/>
            <a:ext cx="768096" cy="91440"/>
          </a:xfrm>
          <a:prstGeom prst="rect">
            <a:avLst/>
          </a:prstGeom>
          <a:solidFill>
            <a:srgbClr val="2D3748"/>
          </a:solidFill>
          <a:ln w="12700">
            <a:solidFill>
              <a:srgbClr val="2D3748"/>
            </a:solidFill>
            <a:prstDash val="solid"/>
          </a:ln>
        </p:spPr>
      </p:sp>
      <p:sp>
        <p:nvSpPr>
          <p:cNvPr id="50" name="Text 48"/>
          <p:cNvSpPr/>
          <p:nvPr/>
        </p:nvSpPr>
        <p:spPr>
          <a:xfrm>
            <a:off x="2322576" y="4846320"/>
            <a:ext cx="1865376" cy="164592"/>
          </a:xfrm>
          <a:prstGeom prst="rect">
            <a:avLst/>
          </a:prstGeom>
          <a:noFill/>
          <a:ln/>
        </p:spPr>
        <p:txBody>
          <a:bodyPr wrap="square" lIns="0" tIns="0" rIns="0" bIns="0" rtlCol="0" anchor="ctr"/>
          <a:lstStyle/>
          <a:p>
            <a:pPr algn="ctr" indent="0" marL="0">
              <a:buNone/>
            </a:pPr>
            <a:r>
              <a:rPr lang="en-US" sz="700" i="1" dirty="0">
                <a:solidFill>
                  <a:srgbClr val="3A5068"/>
                </a:solidFill>
                <a:latin typeface="Calibri" pitchFamily="34" charset="0"/>
                <a:ea typeface="Calibri" pitchFamily="34" charset="-122"/>
                <a:cs typeface="Calibri" pitchFamily="34" charset="-120"/>
              </a:rPr>
              <a:t>Assessment Form Screen</a:t>
            </a:r>
            <a:endParaRPr lang="en-US" sz="700" dirty="0"/>
          </a:p>
        </p:txBody>
      </p:sp>
      <p:sp>
        <p:nvSpPr>
          <p:cNvPr id="51" name="Shape 49"/>
          <p:cNvSpPr/>
          <p:nvPr/>
        </p:nvSpPr>
        <p:spPr>
          <a:xfrm>
            <a:off x="4663440" y="1298448"/>
            <a:ext cx="4224528" cy="3493008"/>
          </a:xfrm>
          <a:prstGeom prst="rect">
            <a:avLst/>
          </a:prstGeom>
          <a:solidFill>
            <a:srgbClr val="FFFFFF"/>
          </a:solidFill>
          <a:ln w="12700">
            <a:solidFill>
              <a:srgbClr val="AABBC8"/>
            </a:solidFill>
            <a:prstDash val="solid"/>
          </a:ln>
        </p:spPr>
      </p:sp>
      <p:sp>
        <p:nvSpPr>
          <p:cNvPr id="52" name="Shape 50"/>
          <p:cNvSpPr/>
          <p:nvPr/>
        </p:nvSpPr>
        <p:spPr>
          <a:xfrm>
            <a:off x="4663440" y="1298448"/>
            <a:ext cx="4224528" cy="292608"/>
          </a:xfrm>
          <a:prstGeom prst="rect">
            <a:avLst/>
          </a:prstGeom>
          <a:solidFill>
            <a:srgbClr val="E2E8EF"/>
          </a:solidFill>
          <a:ln w="5080">
            <a:solidFill>
              <a:srgbClr val="BBCCD5"/>
            </a:solidFill>
            <a:prstDash val="solid"/>
          </a:ln>
        </p:spPr>
      </p:sp>
      <p:sp>
        <p:nvSpPr>
          <p:cNvPr id="53" name="Shape 51"/>
          <p:cNvSpPr/>
          <p:nvPr/>
        </p:nvSpPr>
        <p:spPr>
          <a:xfrm>
            <a:off x="4754880" y="1389888"/>
            <a:ext cx="109728" cy="109728"/>
          </a:xfrm>
          <a:prstGeom prst="ellipse">
            <a:avLst/>
          </a:prstGeom>
          <a:solidFill>
            <a:srgbClr val="DC2626"/>
          </a:solidFill>
          <a:ln w="12700">
            <a:solidFill>
              <a:srgbClr val="DC2626"/>
            </a:solidFill>
            <a:prstDash val="solid"/>
          </a:ln>
        </p:spPr>
      </p:sp>
      <p:sp>
        <p:nvSpPr>
          <p:cNvPr id="54" name="Shape 52"/>
          <p:cNvSpPr/>
          <p:nvPr/>
        </p:nvSpPr>
        <p:spPr>
          <a:xfrm>
            <a:off x="4901184" y="1389888"/>
            <a:ext cx="109728" cy="109728"/>
          </a:xfrm>
          <a:prstGeom prst="ellipse">
            <a:avLst/>
          </a:prstGeom>
          <a:solidFill>
            <a:srgbClr val="F59E0B"/>
          </a:solidFill>
          <a:ln w="12700">
            <a:solidFill>
              <a:srgbClr val="F59E0B"/>
            </a:solidFill>
            <a:prstDash val="solid"/>
          </a:ln>
        </p:spPr>
      </p:sp>
      <p:sp>
        <p:nvSpPr>
          <p:cNvPr id="55" name="Shape 53"/>
          <p:cNvSpPr/>
          <p:nvPr/>
        </p:nvSpPr>
        <p:spPr>
          <a:xfrm>
            <a:off x="5047488" y="1389888"/>
            <a:ext cx="109728" cy="109728"/>
          </a:xfrm>
          <a:prstGeom prst="ellipse">
            <a:avLst/>
          </a:prstGeom>
          <a:solidFill>
            <a:srgbClr val="059669"/>
          </a:solidFill>
          <a:ln w="12700">
            <a:solidFill>
              <a:srgbClr val="059669"/>
            </a:solidFill>
            <a:prstDash val="solid"/>
          </a:ln>
        </p:spPr>
      </p:sp>
      <p:sp>
        <p:nvSpPr>
          <p:cNvPr id="56" name="Shape 54"/>
          <p:cNvSpPr/>
          <p:nvPr/>
        </p:nvSpPr>
        <p:spPr>
          <a:xfrm>
            <a:off x="5212080" y="1371600"/>
            <a:ext cx="3090672" cy="164592"/>
          </a:xfrm>
          <a:prstGeom prst="rect">
            <a:avLst/>
          </a:prstGeom>
          <a:solidFill>
            <a:srgbClr val="FFFFFF"/>
          </a:solidFill>
          <a:ln w="5080">
            <a:solidFill>
              <a:srgbClr val="CCCCCC"/>
            </a:solidFill>
            <a:prstDash val="solid"/>
          </a:ln>
        </p:spPr>
      </p:sp>
      <p:sp>
        <p:nvSpPr>
          <p:cNvPr id="57" name="Text 55"/>
          <p:cNvSpPr/>
          <p:nvPr/>
        </p:nvSpPr>
        <p:spPr>
          <a:xfrm>
            <a:off x="5230368" y="1389888"/>
            <a:ext cx="3054096" cy="128016"/>
          </a:xfrm>
          <a:prstGeom prst="rect">
            <a:avLst/>
          </a:prstGeom>
          <a:noFill/>
          <a:ln/>
        </p:spPr>
        <p:txBody>
          <a:bodyPr wrap="square" lIns="0" tIns="0" rIns="0" bIns="0" rtlCol="0" anchor="ctr"/>
          <a:lstStyle/>
          <a:p>
            <a:pPr indent="0" marL="0">
              <a:buNone/>
            </a:pPr>
            <a:r>
              <a:rPr lang="en-US" sz="550" dirty="0">
                <a:solidFill>
                  <a:srgbClr val="3A5068"/>
                </a:solidFill>
                <a:latin typeface="Calibri" pitchFamily="34" charset="0"/>
                <a:ea typeface="Calibri" pitchFamily="34" charset="-122"/>
                <a:cs typeface="Calibri" pitchFamily="34" charset="-120"/>
              </a:rPr>
              <a:t>bizsense-os.vercel.app / dashboard</a:t>
            </a:r>
            <a:endParaRPr lang="en-US" sz="550" dirty="0"/>
          </a:p>
        </p:txBody>
      </p:sp>
      <p:sp>
        <p:nvSpPr>
          <p:cNvPr id="58" name="Shape 56"/>
          <p:cNvSpPr/>
          <p:nvPr/>
        </p:nvSpPr>
        <p:spPr>
          <a:xfrm>
            <a:off x="4663440" y="1591056"/>
            <a:ext cx="4224528" cy="3200400"/>
          </a:xfrm>
          <a:prstGeom prst="rect">
            <a:avLst/>
          </a:prstGeom>
          <a:solidFill>
            <a:srgbClr val="F0F7FA"/>
          </a:solidFill>
          <a:ln w="12700">
            <a:solidFill>
              <a:srgbClr val="F0F7FA"/>
            </a:solidFill>
            <a:prstDash val="solid"/>
          </a:ln>
        </p:spPr>
      </p:sp>
      <p:sp>
        <p:nvSpPr>
          <p:cNvPr id="59" name="Shape 57"/>
          <p:cNvSpPr/>
          <p:nvPr/>
        </p:nvSpPr>
        <p:spPr>
          <a:xfrm>
            <a:off x="4663440" y="1591056"/>
            <a:ext cx="676656" cy="3200400"/>
          </a:xfrm>
          <a:prstGeom prst="rect">
            <a:avLst/>
          </a:prstGeom>
          <a:solidFill>
            <a:srgbClr val="0A1931"/>
          </a:solidFill>
          <a:ln w="12700">
            <a:solidFill>
              <a:srgbClr val="0A1931"/>
            </a:solidFill>
            <a:prstDash val="solid"/>
          </a:ln>
        </p:spPr>
      </p:sp>
      <p:sp>
        <p:nvSpPr>
          <p:cNvPr id="60" name="Shape 58"/>
          <p:cNvSpPr/>
          <p:nvPr/>
        </p:nvSpPr>
        <p:spPr>
          <a:xfrm>
            <a:off x="4663440" y="1627632"/>
            <a:ext cx="676656" cy="402336"/>
          </a:xfrm>
          <a:prstGeom prst="rect">
            <a:avLst/>
          </a:prstGeom>
          <a:solidFill>
            <a:srgbClr val="0D7C8F"/>
          </a:solidFill>
          <a:ln w="12700">
            <a:solidFill>
              <a:srgbClr val="0D7C8F"/>
            </a:solidFill>
            <a:prstDash val="solid"/>
          </a:ln>
        </p:spPr>
      </p:sp>
      <p:sp>
        <p:nvSpPr>
          <p:cNvPr id="61" name="Text 59"/>
          <p:cNvSpPr/>
          <p:nvPr/>
        </p:nvSpPr>
        <p:spPr>
          <a:xfrm>
            <a:off x="4663440" y="1627632"/>
            <a:ext cx="676656" cy="402336"/>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Dashboard</a:t>
            </a:r>
            <a:endParaRPr lang="en-US" sz="550" dirty="0"/>
          </a:p>
        </p:txBody>
      </p:sp>
      <p:sp>
        <p:nvSpPr>
          <p:cNvPr id="62" name="Text 60"/>
          <p:cNvSpPr/>
          <p:nvPr/>
        </p:nvSpPr>
        <p:spPr>
          <a:xfrm>
            <a:off x="4663440" y="2103120"/>
            <a:ext cx="676656" cy="402336"/>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Businesses</a:t>
            </a:r>
            <a:endParaRPr lang="en-US" sz="550" dirty="0"/>
          </a:p>
        </p:txBody>
      </p:sp>
      <p:sp>
        <p:nvSpPr>
          <p:cNvPr id="63" name="Text 61"/>
          <p:cNvSpPr/>
          <p:nvPr/>
        </p:nvSpPr>
        <p:spPr>
          <a:xfrm>
            <a:off x="4663440" y="2578608"/>
            <a:ext cx="676656" cy="402336"/>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Assessments</a:t>
            </a:r>
            <a:endParaRPr lang="en-US" sz="550" dirty="0"/>
          </a:p>
        </p:txBody>
      </p:sp>
      <p:sp>
        <p:nvSpPr>
          <p:cNvPr id="64" name="Text 62"/>
          <p:cNvSpPr/>
          <p:nvPr/>
        </p:nvSpPr>
        <p:spPr>
          <a:xfrm>
            <a:off x="4663440" y="3054096"/>
            <a:ext cx="676656" cy="402336"/>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Reports</a:t>
            </a:r>
            <a:endParaRPr lang="en-US" sz="550" dirty="0"/>
          </a:p>
        </p:txBody>
      </p:sp>
      <p:sp>
        <p:nvSpPr>
          <p:cNvPr id="65" name="Text 63"/>
          <p:cNvSpPr/>
          <p:nvPr/>
        </p:nvSpPr>
        <p:spPr>
          <a:xfrm>
            <a:off x="4663440" y="3529584"/>
            <a:ext cx="676656" cy="402336"/>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Admin</a:t>
            </a:r>
            <a:endParaRPr lang="en-US" sz="550" dirty="0"/>
          </a:p>
        </p:txBody>
      </p:sp>
      <p:sp>
        <p:nvSpPr>
          <p:cNvPr id="66" name="Shape 64"/>
          <p:cNvSpPr/>
          <p:nvPr/>
        </p:nvSpPr>
        <p:spPr>
          <a:xfrm>
            <a:off x="5449824" y="1627632"/>
            <a:ext cx="768096" cy="658368"/>
          </a:xfrm>
          <a:prstGeom prst="rect">
            <a:avLst/>
          </a:prstGeom>
          <a:solidFill>
            <a:srgbClr val="0D7C8F"/>
          </a:solidFill>
          <a:ln w="12700">
            <a:solidFill>
              <a:srgbClr val="0D7C8F"/>
            </a:solidFill>
            <a:prstDash val="solid"/>
          </a:ln>
        </p:spPr>
      </p:sp>
      <p:sp>
        <p:nvSpPr>
          <p:cNvPr id="67" name="Text 65"/>
          <p:cNvSpPr/>
          <p:nvPr/>
        </p:nvSpPr>
        <p:spPr>
          <a:xfrm>
            <a:off x="5449824" y="1664208"/>
            <a:ext cx="768096"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12</a:t>
            </a:r>
            <a:endParaRPr lang="en-US" sz="2000" dirty="0"/>
          </a:p>
        </p:txBody>
      </p:sp>
      <p:sp>
        <p:nvSpPr>
          <p:cNvPr id="68" name="Text 66"/>
          <p:cNvSpPr/>
          <p:nvPr/>
        </p:nvSpPr>
        <p:spPr>
          <a:xfrm>
            <a:off x="5449824" y="2011680"/>
            <a:ext cx="768096" cy="237744"/>
          </a:xfrm>
          <a:prstGeom prst="rect">
            <a:avLst/>
          </a:prstGeom>
          <a:noFill/>
          <a:ln/>
        </p:spPr>
        <p:txBody>
          <a:bodyPr wrap="square" lIns="0" tIns="0" rIns="0" bIns="0" rtlCol="0" anchor="ctr"/>
          <a:lstStyle/>
          <a:p>
            <a:pPr algn="ctr" indent="0" marL="0">
              <a:buNone/>
            </a:pPr>
            <a:r>
              <a:rPr lang="en-US" sz="500" dirty="0">
                <a:solidFill>
                  <a:srgbClr val="DDEEF6"/>
                </a:solidFill>
                <a:latin typeface="Calibri" pitchFamily="34" charset="0"/>
                <a:ea typeface="Calibri" pitchFamily="34" charset="-122"/>
                <a:cs typeface="Calibri" pitchFamily="34" charset="-120"/>
              </a:rPr>
              <a:t>Businesses</a:t>
            </a:r>
            <a:endParaRPr lang="en-US" sz="500" dirty="0"/>
          </a:p>
        </p:txBody>
      </p:sp>
      <p:sp>
        <p:nvSpPr>
          <p:cNvPr id="69" name="Shape 67"/>
          <p:cNvSpPr/>
          <p:nvPr/>
        </p:nvSpPr>
        <p:spPr>
          <a:xfrm>
            <a:off x="6309360" y="1627632"/>
            <a:ext cx="768096" cy="658368"/>
          </a:xfrm>
          <a:prstGeom prst="rect">
            <a:avLst/>
          </a:prstGeom>
          <a:solidFill>
            <a:srgbClr val="DC2626"/>
          </a:solidFill>
          <a:ln w="12700">
            <a:solidFill>
              <a:srgbClr val="DC2626"/>
            </a:solidFill>
            <a:prstDash val="solid"/>
          </a:ln>
        </p:spPr>
      </p:sp>
      <p:sp>
        <p:nvSpPr>
          <p:cNvPr id="70" name="Text 68"/>
          <p:cNvSpPr/>
          <p:nvPr/>
        </p:nvSpPr>
        <p:spPr>
          <a:xfrm>
            <a:off x="6309360" y="1664208"/>
            <a:ext cx="768096"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71" name="Text 69"/>
          <p:cNvSpPr/>
          <p:nvPr/>
        </p:nvSpPr>
        <p:spPr>
          <a:xfrm>
            <a:off x="6309360" y="2011680"/>
            <a:ext cx="768096" cy="237744"/>
          </a:xfrm>
          <a:prstGeom prst="rect">
            <a:avLst/>
          </a:prstGeom>
          <a:noFill/>
          <a:ln/>
        </p:spPr>
        <p:txBody>
          <a:bodyPr wrap="square" lIns="0" tIns="0" rIns="0" bIns="0" rtlCol="0" anchor="ctr"/>
          <a:lstStyle/>
          <a:p>
            <a:pPr algn="ctr" indent="0" marL="0">
              <a:buNone/>
            </a:pPr>
            <a:r>
              <a:rPr lang="en-US" sz="500" dirty="0">
                <a:solidFill>
                  <a:srgbClr val="DDEEF6"/>
                </a:solidFill>
                <a:latin typeface="Calibri" pitchFamily="34" charset="0"/>
                <a:ea typeface="Calibri" pitchFamily="34" charset="-122"/>
                <a:cs typeface="Calibri" pitchFamily="34" charset="-120"/>
              </a:rPr>
              <a:t>High Risk</a:t>
            </a:r>
            <a:endParaRPr lang="en-US" sz="500" dirty="0"/>
          </a:p>
        </p:txBody>
      </p:sp>
      <p:sp>
        <p:nvSpPr>
          <p:cNvPr id="72" name="Shape 70"/>
          <p:cNvSpPr/>
          <p:nvPr/>
        </p:nvSpPr>
        <p:spPr>
          <a:xfrm>
            <a:off x="7168896" y="1627632"/>
            <a:ext cx="768096" cy="658368"/>
          </a:xfrm>
          <a:prstGeom prst="rect">
            <a:avLst/>
          </a:prstGeom>
          <a:solidFill>
            <a:srgbClr val="059669"/>
          </a:solidFill>
          <a:ln w="12700">
            <a:solidFill>
              <a:srgbClr val="059669"/>
            </a:solidFill>
            <a:prstDash val="solid"/>
          </a:ln>
        </p:spPr>
      </p:sp>
      <p:sp>
        <p:nvSpPr>
          <p:cNvPr id="73" name="Text 71"/>
          <p:cNvSpPr/>
          <p:nvPr/>
        </p:nvSpPr>
        <p:spPr>
          <a:xfrm>
            <a:off x="7168896" y="1664208"/>
            <a:ext cx="768096"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74" name="Text 72"/>
          <p:cNvSpPr/>
          <p:nvPr/>
        </p:nvSpPr>
        <p:spPr>
          <a:xfrm>
            <a:off x="7168896" y="2011680"/>
            <a:ext cx="768096" cy="237744"/>
          </a:xfrm>
          <a:prstGeom prst="rect">
            <a:avLst/>
          </a:prstGeom>
          <a:noFill/>
          <a:ln/>
        </p:spPr>
        <p:txBody>
          <a:bodyPr wrap="square" lIns="0" tIns="0" rIns="0" bIns="0" rtlCol="0" anchor="ctr"/>
          <a:lstStyle/>
          <a:p>
            <a:pPr algn="ctr" indent="0" marL="0">
              <a:buNone/>
            </a:pPr>
            <a:r>
              <a:rPr lang="en-US" sz="500" dirty="0">
                <a:solidFill>
                  <a:srgbClr val="DDEEF6"/>
                </a:solidFill>
                <a:latin typeface="Calibri" pitchFamily="34" charset="0"/>
                <a:ea typeface="Calibri" pitchFamily="34" charset="-122"/>
                <a:cs typeface="Calibri" pitchFamily="34" charset="-120"/>
              </a:rPr>
              <a:t>Safe</a:t>
            </a:r>
            <a:endParaRPr lang="en-US" sz="500" dirty="0"/>
          </a:p>
        </p:txBody>
      </p:sp>
      <p:sp>
        <p:nvSpPr>
          <p:cNvPr id="75" name="Shape 73"/>
          <p:cNvSpPr/>
          <p:nvPr/>
        </p:nvSpPr>
        <p:spPr>
          <a:xfrm>
            <a:off x="8028432" y="1627632"/>
            <a:ext cx="768096" cy="658368"/>
          </a:xfrm>
          <a:prstGeom prst="rect">
            <a:avLst/>
          </a:prstGeom>
          <a:solidFill>
            <a:srgbClr val="112244"/>
          </a:solidFill>
          <a:ln w="12700">
            <a:solidFill>
              <a:srgbClr val="112244"/>
            </a:solidFill>
            <a:prstDash val="solid"/>
          </a:ln>
        </p:spPr>
      </p:sp>
      <p:sp>
        <p:nvSpPr>
          <p:cNvPr id="76" name="Text 74"/>
          <p:cNvSpPr/>
          <p:nvPr/>
        </p:nvSpPr>
        <p:spPr>
          <a:xfrm>
            <a:off x="8028432" y="1664208"/>
            <a:ext cx="768096"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12</a:t>
            </a:r>
            <a:endParaRPr lang="en-US" sz="2000" dirty="0"/>
          </a:p>
        </p:txBody>
      </p:sp>
      <p:sp>
        <p:nvSpPr>
          <p:cNvPr id="77" name="Text 75"/>
          <p:cNvSpPr/>
          <p:nvPr/>
        </p:nvSpPr>
        <p:spPr>
          <a:xfrm>
            <a:off x="8028432" y="2011680"/>
            <a:ext cx="768096" cy="237744"/>
          </a:xfrm>
          <a:prstGeom prst="rect">
            <a:avLst/>
          </a:prstGeom>
          <a:noFill/>
          <a:ln/>
        </p:spPr>
        <p:txBody>
          <a:bodyPr wrap="square" lIns="0" tIns="0" rIns="0" bIns="0" rtlCol="0" anchor="ctr"/>
          <a:lstStyle/>
          <a:p>
            <a:pPr algn="ctr" indent="0" marL="0">
              <a:buNone/>
            </a:pPr>
            <a:r>
              <a:rPr lang="en-US" sz="500" dirty="0">
                <a:solidFill>
                  <a:srgbClr val="DDEEF6"/>
                </a:solidFill>
                <a:latin typeface="Calibri" pitchFamily="34" charset="0"/>
                <a:ea typeface="Calibri" pitchFamily="34" charset="-122"/>
                <a:cs typeface="Calibri" pitchFamily="34" charset="-120"/>
              </a:rPr>
              <a:t>Reports</a:t>
            </a:r>
            <a:endParaRPr lang="en-US" sz="500" dirty="0"/>
          </a:p>
        </p:txBody>
      </p:sp>
      <p:sp>
        <p:nvSpPr>
          <p:cNvPr id="78" name="Shape 76"/>
          <p:cNvSpPr/>
          <p:nvPr/>
        </p:nvSpPr>
        <p:spPr>
          <a:xfrm>
            <a:off x="5449824" y="2359152"/>
            <a:ext cx="3364992" cy="201168"/>
          </a:xfrm>
          <a:prstGeom prst="rect">
            <a:avLst/>
          </a:prstGeom>
          <a:solidFill>
            <a:srgbClr val="0A1931"/>
          </a:solidFill>
          <a:ln w="12700">
            <a:solidFill>
              <a:srgbClr val="0A1931"/>
            </a:solidFill>
            <a:prstDash val="solid"/>
          </a:ln>
        </p:spPr>
      </p:sp>
      <p:sp>
        <p:nvSpPr>
          <p:cNvPr id="79" name="Text 77"/>
          <p:cNvSpPr/>
          <p:nvPr/>
        </p:nvSpPr>
        <p:spPr>
          <a:xfrm>
            <a:off x="5486400" y="2377440"/>
            <a:ext cx="3291840" cy="164592"/>
          </a:xfrm>
          <a:prstGeom prst="rect">
            <a:avLst/>
          </a:prstGeom>
          <a:noFill/>
          <a:ln/>
        </p:spPr>
        <p:txBody>
          <a:bodyPr wrap="square" lIns="0" tIns="0" rIns="0" bIns="0" rtlCol="0" anchor="ctr"/>
          <a:lstStyle/>
          <a:p>
            <a:pPr indent="0" marL="0">
              <a:buNone/>
            </a:pPr>
            <a:r>
              <a:rPr lang="en-US" sz="550" b="1" dirty="0">
                <a:solidFill>
                  <a:srgbClr val="FFFFFF"/>
                </a:solidFill>
                <a:latin typeface="Calibri" pitchFamily="34" charset="0"/>
                <a:ea typeface="Calibri" pitchFamily="34" charset="-122"/>
                <a:cs typeface="Calibri" pitchFamily="34" charset="-120"/>
              </a:rPr>
              <a:t>Business Name         Sector          Risk     Action</a:t>
            </a:r>
            <a:endParaRPr lang="en-US" sz="550" dirty="0"/>
          </a:p>
        </p:txBody>
      </p:sp>
      <p:sp>
        <p:nvSpPr>
          <p:cNvPr id="80" name="Shape 78"/>
          <p:cNvSpPr/>
          <p:nvPr/>
        </p:nvSpPr>
        <p:spPr>
          <a:xfrm>
            <a:off x="5449824" y="2578608"/>
            <a:ext cx="3364992" cy="246888"/>
          </a:xfrm>
          <a:prstGeom prst="rect">
            <a:avLst/>
          </a:prstGeom>
          <a:solidFill>
            <a:srgbClr val="FFFFFF"/>
          </a:solidFill>
          <a:ln w="3175">
            <a:solidFill>
              <a:srgbClr val="E2EDF2"/>
            </a:solidFill>
            <a:prstDash val="solid"/>
          </a:ln>
        </p:spPr>
      </p:sp>
      <p:sp>
        <p:nvSpPr>
          <p:cNvPr id="81" name="Text 79"/>
          <p:cNvSpPr/>
          <p:nvPr/>
        </p:nvSpPr>
        <p:spPr>
          <a:xfrm>
            <a:off x="5486400" y="2615184"/>
            <a:ext cx="1097280" cy="182880"/>
          </a:xfrm>
          <a:prstGeom prst="rect">
            <a:avLst/>
          </a:prstGeom>
          <a:noFill/>
          <a:ln/>
        </p:spPr>
        <p:txBody>
          <a:bodyPr wrap="square" lIns="0" tIns="0" rIns="0" bIns="0" rtlCol="0" anchor="ctr"/>
          <a:lstStyle/>
          <a:p>
            <a:pPr indent="0" marL="0">
              <a:buNone/>
            </a:pPr>
            <a:r>
              <a:rPr lang="en-US" sz="550" dirty="0">
                <a:solidFill>
                  <a:srgbClr val="0F1F2E"/>
                </a:solidFill>
                <a:latin typeface="Calibri" pitchFamily="34" charset="0"/>
                <a:ea typeface="Calibri" pitchFamily="34" charset="-122"/>
                <a:cs typeface="Calibri" pitchFamily="34" charset="-120"/>
              </a:rPr>
              <a:t>Douala Fashion Ltd</a:t>
            </a:r>
            <a:endParaRPr lang="en-US" sz="550" dirty="0"/>
          </a:p>
        </p:txBody>
      </p:sp>
      <p:sp>
        <p:nvSpPr>
          <p:cNvPr id="82" name="Text 80"/>
          <p:cNvSpPr/>
          <p:nvPr/>
        </p:nvSpPr>
        <p:spPr>
          <a:xfrm>
            <a:off x="6620256" y="2615184"/>
            <a:ext cx="749808" cy="182880"/>
          </a:xfrm>
          <a:prstGeom prst="rect">
            <a:avLst/>
          </a:prstGeom>
          <a:noFill/>
          <a:ln/>
        </p:spPr>
        <p:txBody>
          <a:bodyPr wrap="square" lIns="0" tIns="0" rIns="0" bIns="0" rtlCol="0" anchor="ctr"/>
          <a:lstStyle/>
          <a:p>
            <a:pPr indent="0" marL="0">
              <a:buNone/>
            </a:pPr>
            <a:r>
              <a:rPr lang="en-US" sz="550" dirty="0">
                <a:solidFill>
                  <a:srgbClr val="3A5068"/>
                </a:solidFill>
                <a:latin typeface="Calibri" pitchFamily="34" charset="0"/>
                <a:ea typeface="Calibri" pitchFamily="34" charset="-122"/>
                <a:cs typeface="Calibri" pitchFamily="34" charset="-120"/>
              </a:rPr>
              <a:t>Retail</a:t>
            </a:r>
            <a:endParaRPr lang="en-US" sz="550" dirty="0"/>
          </a:p>
        </p:txBody>
      </p:sp>
      <p:sp>
        <p:nvSpPr>
          <p:cNvPr id="83" name="Shape 81"/>
          <p:cNvSpPr/>
          <p:nvPr/>
        </p:nvSpPr>
        <p:spPr>
          <a:xfrm>
            <a:off x="7406640" y="2633472"/>
            <a:ext cx="457200" cy="146304"/>
          </a:xfrm>
          <a:prstGeom prst="rect">
            <a:avLst/>
          </a:prstGeom>
          <a:solidFill>
            <a:srgbClr val="DC2626"/>
          </a:solidFill>
          <a:ln w="12700">
            <a:solidFill>
              <a:srgbClr val="DC2626"/>
            </a:solidFill>
            <a:prstDash val="solid"/>
          </a:ln>
        </p:spPr>
      </p:sp>
      <p:sp>
        <p:nvSpPr>
          <p:cNvPr id="84" name="Text 82"/>
          <p:cNvSpPr/>
          <p:nvPr/>
        </p:nvSpPr>
        <p:spPr>
          <a:xfrm>
            <a:off x="7406640" y="2633472"/>
            <a:ext cx="457200" cy="146304"/>
          </a:xfrm>
          <a:prstGeom prst="rect">
            <a:avLst/>
          </a:prstGeom>
          <a:noFill/>
          <a:ln/>
        </p:spPr>
        <p:txBody>
          <a:bodyPr wrap="square" lIns="0" tIns="0" rIns="0" bIns="0" rtlCol="0" anchor="ctr"/>
          <a:lstStyle/>
          <a:p>
            <a:pPr algn="ctr" indent="0" marL="0">
              <a:buNone/>
            </a:pPr>
            <a:r>
              <a:rPr lang="en-US" sz="550" b="1" dirty="0">
                <a:solidFill>
                  <a:srgbClr val="FFFFFF"/>
                </a:solidFill>
                <a:latin typeface="Calibri" pitchFamily="34" charset="0"/>
                <a:ea typeface="Calibri" pitchFamily="34" charset="-122"/>
                <a:cs typeface="Calibri" pitchFamily="34" charset="-120"/>
              </a:rPr>
              <a:t>HIGH</a:t>
            </a:r>
            <a:endParaRPr lang="en-US" sz="550" dirty="0"/>
          </a:p>
        </p:txBody>
      </p:sp>
      <p:sp>
        <p:nvSpPr>
          <p:cNvPr id="85" name="Shape 83"/>
          <p:cNvSpPr/>
          <p:nvPr/>
        </p:nvSpPr>
        <p:spPr>
          <a:xfrm>
            <a:off x="7918704" y="2633472"/>
            <a:ext cx="512064" cy="146304"/>
          </a:xfrm>
          <a:prstGeom prst="rect">
            <a:avLst/>
          </a:prstGeom>
          <a:solidFill>
            <a:srgbClr val="0D7C8F"/>
          </a:solidFill>
          <a:ln w="12700">
            <a:solidFill>
              <a:srgbClr val="0D7C8F"/>
            </a:solidFill>
            <a:prstDash val="solid"/>
          </a:ln>
        </p:spPr>
      </p:sp>
      <p:sp>
        <p:nvSpPr>
          <p:cNvPr id="86" name="Text 84"/>
          <p:cNvSpPr/>
          <p:nvPr/>
        </p:nvSpPr>
        <p:spPr>
          <a:xfrm>
            <a:off x="7918704" y="2633472"/>
            <a:ext cx="512064" cy="146304"/>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View</a:t>
            </a:r>
            <a:endParaRPr lang="en-US" sz="550" dirty="0"/>
          </a:p>
        </p:txBody>
      </p:sp>
      <p:sp>
        <p:nvSpPr>
          <p:cNvPr id="87" name="Shape 85"/>
          <p:cNvSpPr/>
          <p:nvPr/>
        </p:nvSpPr>
        <p:spPr>
          <a:xfrm>
            <a:off x="5449824" y="2852928"/>
            <a:ext cx="3364992" cy="246888"/>
          </a:xfrm>
          <a:prstGeom prst="rect">
            <a:avLst/>
          </a:prstGeom>
          <a:solidFill>
            <a:srgbClr val="F0F7FA"/>
          </a:solidFill>
          <a:ln w="3175">
            <a:solidFill>
              <a:srgbClr val="E2EDF2"/>
            </a:solidFill>
            <a:prstDash val="solid"/>
          </a:ln>
        </p:spPr>
      </p:sp>
      <p:sp>
        <p:nvSpPr>
          <p:cNvPr id="88" name="Text 86"/>
          <p:cNvSpPr/>
          <p:nvPr/>
        </p:nvSpPr>
        <p:spPr>
          <a:xfrm>
            <a:off x="5486400" y="2889504"/>
            <a:ext cx="1097280" cy="182880"/>
          </a:xfrm>
          <a:prstGeom prst="rect">
            <a:avLst/>
          </a:prstGeom>
          <a:noFill/>
          <a:ln/>
        </p:spPr>
        <p:txBody>
          <a:bodyPr wrap="square" lIns="0" tIns="0" rIns="0" bIns="0" rtlCol="0" anchor="ctr"/>
          <a:lstStyle/>
          <a:p>
            <a:pPr indent="0" marL="0">
              <a:buNone/>
            </a:pPr>
            <a:r>
              <a:rPr lang="en-US" sz="550" dirty="0">
                <a:solidFill>
                  <a:srgbClr val="0F1F2E"/>
                </a:solidFill>
                <a:latin typeface="Calibri" pitchFamily="34" charset="0"/>
                <a:ea typeface="Calibri" pitchFamily="34" charset="-122"/>
                <a:cs typeface="Calibri" pitchFamily="34" charset="-120"/>
              </a:rPr>
              <a:t>Yaounde Bakes Co.</a:t>
            </a:r>
            <a:endParaRPr lang="en-US" sz="550" dirty="0"/>
          </a:p>
        </p:txBody>
      </p:sp>
      <p:sp>
        <p:nvSpPr>
          <p:cNvPr id="89" name="Text 87"/>
          <p:cNvSpPr/>
          <p:nvPr/>
        </p:nvSpPr>
        <p:spPr>
          <a:xfrm>
            <a:off x="6620256" y="2889504"/>
            <a:ext cx="749808" cy="182880"/>
          </a:xfrm>
          <a:prstGeom prst="rect">
            <a:avLst/>
          </a:prstGeom>
          <a:noFill/>
          <a:ln/>
        </p:spPr>
        <p:txBody>
          <a:bodyPr wrap="square" lIns="0" tIns="0" rIns="0" bIns="0" rtlCol="0" anchor="ctr"/>
          <a:lstStyle/>
          <a:p>
            <a:pPr indent="0" marL="0">
              <a:buNone/>
            </a:pPr>
            <a:r>
              <a:rPr lang="en-US" sz="550" dirty="0">
                <a:solidFill>
                  <a:srgbClr val="3A5068"/>
                </a:solidFill>
                <a:latin typeface="Calibri" pitchFamily="34" charset="0"/>
                <a:ea typeface="Calibri" pitchFamily="34" charset="-122"/>
                <a:cs typeface="Calibri" pitchFamily="34" charset="-120"/>
              </a:rPr>
              <a:t>Food</a:t>
            </a:r>
            <a:endParaRPr lang="en-US" sz="550" dirty="0"/>
          </a:p>
        </p:txBody>
      </p:sp>
      <p:sp>
        <p:nvSpPr>
          <p:cNvPr id="90" name="Shape 88"/>
          <p:cNvSpPr/>
          <p:nvPr/>
        </p:nvSpPr>
        <p:spPr>
          <a:xfrm>
            <a:off x="7406640" y="2907792"/>
            <a:ext cx="457200" cy="146304"/>
          </a:xfrm>
          <a:prstGeom prst="rect">
            <a:avLst/>
          </a:prstGeom>
          <a:solidFill>
            <a:srgbClr val="059669"/>
          </a:solidFill>
          <a:ln w="12700">
            <a:solidFill>
              <a:srgbClr val="059669"/>
            </a:solidFill>
            <a:prstDash val="solid"/>
          </a:ln>
        </p:spPr>
      </p:sp>
      <p:sp>
        <p:nvSpPr>
          <p:cNvPr id="91" name="Text 89"/>
          <p:cNvSpPr/>
          <p:nvPr/>
        </p:nvSpPr>
        <p:spPr>
          <a:xfrm>
            <a:off x="7406640" y="2907792"/>
            <a:ext cx="457200" cy="146304"/>
          </a:xfrm>
          <a:prstGeom prst="rect">
            <a:avLst/>
          </a:prstGeom>
          <a:noFill/>
          <a:ln/>
        </p:spPr>
        <p:txBody>
          <a:bodyPr wrap="square" lIns="0" tIns="0" rIns="0" bIns="0" rtlCol="0" anchor="ctr"/>
          <a:lstStyle/>
          <a:p>
            <a:pPr algn="ctr" indent="0" marL="0">
              <a:buNone/>
            </a:pPr>
            <a:r>
              <a:rPr lang="en-US" sz="550" b="1" dirty="0">
                <a:solidFill>
                  <a:srgbClr val="FFFFFF"/>
                </a:solidFill>
                <a:latin typeface="Calibri" pitchFamily="34" charset="0"/>
                <a:ea typeface="Calibri" pitchFamily="34" charset="-122"/>
                <a:cs typeface="Calibri" pitchFamily="34" charset="-120"/>
              </a:rPr>
              <a:t>SAFE</a:t>
            </a:r>
            <a:endParaRPr lang="en-US" sz="550" dirty="0"/>
          </a:p>
        </p:txBody>
      </p:sp>
      <p:sp>
        <p:nvSpPr>
          <p:cNvPr id="92" name="Shape 90"/>
          <p:cNvSpPr/>
          <p:nvPr/>
        </p:nvSpPr>
        <p:spPr>
          <a:xfrm>
            <a:off x="7918704" y="2907792"/>
            <a:ext cx="512064" cy="146304"/>
          </a:xfrm>
          <a:prstGeom prst="rect">
            <a:avLst/>
          </a:prstGeom>
          <a:solidFill>
            <a:srgbClr val="0D7C8F"/>
          </a:solidFill>
          <a:ln w="12700">
            <a:solidFill>
              <a:srgbClr val="0D7C8F"/>
            </a:solidFill>
            <a:prstDash val="solid"/>
          </a:ln>
        </p:spPr>
      </p:sp>
      <p:sp>
        <p:nvSpPr>
          <p:cNvPr id="93" name="Text 91"/>
          <p:cNvSpPr/>
          <p:nvPr/>
        </p:nvSpPr>
        <p:spPr>
          <a:xfrm>
            <a:off x="7918704" y="2907792"/>
            <a:ext cx="512064" cy="146304"/>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View</a:t>
            </a:r>
            <a:endParaRPr lang="en-US" sz="550" dirty="0"/>
          </a:p>
        </p:txBody>
      </p:sp>
      <p:sp>
        <p:nvSpPr>
          <p:cNvPr id="94" name="Shape 92"/>
          <p:cNvSpPr/>
          <p:nvPr/>
        </p:nvSpPr>
        <p:spPr>
          <a:xfrm>
            <a:off x="5449824" y="3127248"/>
            <a:ext cx="3364992" cy="246888"/>
          </a:xfrm>
          <a:prstGeom prst="rect">
            <a:avLst/>
          </a:prstGeom>
          <a:solidFill>
            <a:srgbClr val="FFFFFF"/>
          </a:solidFill>
          <a:ln w="3175">
            <a:solidFill>
              <a:srgbClr val="E2EDF2"/>
            </a:solidFill>
            <a:prstDash val="solid"/>
          </a:ln>
        </p:spPr>
      </p:sp>
      <p:sp>
        <p:nvSpPr>
          <p:cNvPr id="95" name="Text 93"/>
          <p:cNvSpPr/>
          <p:nvPr/>
        </p:nvSpPr>
        <p:spPr>
          <a:xfrm>
            <a:off x="5486400" y="3163824"/>
            <a:ext cx="1097280" cy="182880"/>
          </a:xfrm>
          <a:prstGeom prst="rect">
            <a:avLst/>
          </a:prstGeom>
          <a:noFill/>
          <a:ln/>
        </p:spPr>
        <p:txBody>
          <a:bodyPr wrap="square" lIns="0" tIns="0" rIns="0" bIns="0" rtlCol="0" anchor="ctr"/>
          <a:lstStyle/>
          <a:p>
            <a:pPr indent="0" marL="0">
              <a:buNone/>
            </a:pPr>
            <a:r>
              <a:rPr lang="en-US" sz="550" dirty="0">
                <a:solidFill>
                  <a:srgbClr val="0F1F2E"/>
                </a:solidFill>
                <a:latin typeface="Calibri" pitchFamily="34" charset="0"/>
                <a:ea typeface="Calibri" pitchFamily="34" charset="-122"/>
                <a:cs typeface="Calibri" pitchFamily="34" charset="-120"/>
              </a:rPr>
              <a:t>Tech Solutions Ltd</a:t>
            </a:r>
            <a:endParaRPr lang="en-US" sz="550" dirty="0"/>
          </a:p>
        </p:txBody>
      </p:sp>
      <p:sp>
        <p:nvSpPr>
          <p:cNvPr id="96" name="Text 94"/>
          <p:cNvSpPr/>
          <p:nvPr/>
        </p:nvSpPr>
        <p:spPr>
          <a:xfrm>
            <a:off x="6620256" y="3163824"/>
            <a:ext cx="749808" cy="182880"/>
          </a:xfrm>
          <a:prstGeom prst="rect">
            <a:avLst/>
          </a:prstGeom>
          <a:noFill/>
          <a:ln/>
        </p:spPr>
        <p:txBody>
          <a:bodyPr wrap="square" lIns="0" tIns="0" rIns="0" bIns="0" rtlCol="0" anchor="ctr"/>
          <a:lstStyle/>
          <a:p>
            <a:pPr indent="0" marL="0">
              <a:buNone/>
            </a:pPr>
            <a:r>
              <a:rPr lang="en-US" sz="550" dirty="0">
                <a:solidFill>
                  <a:srgbClr val="3A5068"/>
                </a:solidFill>
                <a:latin typeface="Calibri" pitchFamily="34" charset="0"/>
                <a:ea typeface="Calibri" pitchFamily="34" charset="-122"/>
                <a:cs typeface="Calibri" pitchFamily="34" charset="-120"/>
              </a:rPr>
              <a:t>ICT</a:t>
            </a:r>
            <a:endParaRPr lang="en-US" sz="550" dirty="0"/>
          </a:p>
        </p:txBody>
      </p:sp>
      <p:sp>
        <p:nvSpPr>
          <p:cNvPr id="97" name="Shape 95"/>
          <p:cNvSpPr/>
          <p:nvPr/>
        </p:nvSpPr>
        <p:spPr>
          <a:xfrm>
            <a:off x="7406640" y="3182112"/>
            <a:ext cx="457200" cy="146304"/>
          </a:xfrm>
          <a:prstGeom prst="rect">
            <a:avLst/>
          </a:prstGeom>
          <a:solidFill>
            <a:srgbClr val="DC2626"/>
          </a:solidFill>
          <a:ln w="12700">
            <a:solidFill>
              <a:srgbClr val="DC2626"/>
            </a:solidFill>
            <a:prstDash val="solid"/>
          </a:ln>
        </p:spPr>
      </p:sp>
      <p:sp>
        <p:nvSpPr>
          <p:cNvPr id="98" name="Text 96"/>
          <p:cNvSpPr/>
          <p:nvPr/>
        </p:nvSpPr>
        <p:spPr>
          <a:xfrm>
            <a:off x="7406640" y="3182112"/>
            <a:ext cx="457200" cy="146304"/>
          </a:xfrm>
          <a:prstGeom prst="rect">
            <a:avLst/>
          </a:prstGeom>
          <a:noFill/>
          <a:ln/>
        </p:spPr>
        <p:txBody>
          <a:bodyPr wrap="square" lIns="0" tIns="0" rIns="0" bIns="0" rtlCol="0" anchor="ctr"/>
          <a:lstStyle/>
          <a:p>
            <a:pPr algn="ctr" indent="0" marL="0">
              <a:buNone/>
            </a:pPr>
            <a:r>
              <a:rPr lang="en-US" sz="550" b="1" dirty="0">
                <a:solidFill>
                  <a:srgbClr val="FFFFFF"/>
                </a:solidFill>
                <a:latin typeface="Calibri" pitchFamily="34" charset="0"/>
                <a:ea typeface="Calibri" pitchFamily="34" charset="-122"/>
                <a:cs typeface="Calibri" pitchFamily="34" charset="-120"/>
              </a:rPr>
              <a:t>HIGH</a:t>
            </a:r>
            <a:endParaRPr lang="en-US" sz="550" dirty="0"/>
          </a:p>
        </p:txBody>
      </p:sp>
      <p:sp>
        <p:nvSpPr>
          <p:cNvPr id="99" name="Shape 97"/>
          <p:cNvSpPr/>
          <p:nvPr/>
        </p:nvSpPr>
        <p:spPr>
          <a:xfrm>
            <a:off x="7918704" y="3182112"/>
            <a:ext cx="512064" cy="146304"/>
          </a:xfrm>
          <a:prstGeom prst="rect">
            <a:avLst/>
          </a:prstGeom>
          <a:solidFill>
            <a:srgbClr val="0D7C8F"/>
          </a:solidFill>
          <a:ln w="12700">
            <a:solidFill>
              <a:srgbClr val="0D7C8F"/>
            </a:solidFill>
            <a:prstDash val="solid"/>
          </a:ln>
        </p:spPr>
      </p:sp>
      <p:sp>
        <p:nvSpPr>
          <p:cNvPr id="100" name="Text 98"/>
          <p:cNvSpPr/>
          <p:nvPr/>
        </p:nvSpPr>
        <p:spPr>
          <a:xfrm>
            <a:off x="7918704" y="3182112"/>
            <a:ext cx="512064" cy="146304"/>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View</a:t>
            </a:r>
            <a:endParaRPr lang="en-US" sz="550" dirty="0"/>
          </a:p>
        </p:txBody>
      </p:sp>
      <p:sp>
        <p:nvSpPr>
          <p:cNvPr id="101" name="Shape 99"/>
          <p:cNvSpPr/>
          <p:nvPr/>
        </p:nvSpPr>
        <p:spPr>
          <a:xfrm>
            <a:off x="5449824" y="3401568"/>
            <a:ext cx="3364992" cy="246888"/>
          </a:xfrm>
          <a:prstGeom prst="rect">
            <a:avLst/>
          </a:prstGeom>
          <a:solidFill>
            <a:srgbClr val="F0F7FA"/>
          </a:solidFill>
          <a:ln w="3175">
            <a:solidFill>
              <a:srgbClr val="E2EDF2"/>
            </a:solidFill>
            <a:prstDash val="solid"/>
          </a:ln>
        </p:spPr>
      </p:sp>
      <p:sp>
        <p:nvSpPr>
          <p:cNvPr id="102" name="Text 100"/>
          <p:cNvSpPr/>
          <p:nvPr/>
        </p:nvSpPr>
        <p:spPr>
          <a:xfrm>
            <a:off x="5486400" y="3438144"/>
            <a:ext cx="1097280" cy="182880"/>
          </a:xfrm>
          <a:prstGeom prst="rect">
            <a:avLst/>
          </a:prstGeom>
          <a:noFill/>
          <a:ln/>
        </p:spPr>
        <p:txBody>
          <a:bodyPr wrap="square" lIns="0" tIns="0" rIns="0" bIns="0" rtlCol="0" anchor="ctr"/>
          <a:lstStyle/>
          <a:p>
            <a:pPr indent="0" marL="0">
              <a:buNone/>
            </a:pPr>
            <a:r>
              <a:rPr lang="en-US" sz="550" dirty="0">
                <a:solidFill>
                  <a:srgbClr val="0F1F2E"/>
                </a:solidFill>
                <a:latin typeface="Calibri" pitchFamily="34" charset="0"/>
                <a:ea typeface="Calibri" pitchFamily="34" charset="-122"/>
                <a:cs typeface="Calibri" pitchFamily="34" charset="-120"/>
              </a:rPr>
              <a:t>Bamenda Craft Hub</a:t>
            </a:r>
            <a:endParaRPr lang="en-US" sz="550" dirty="0"/>
          </a:p>
        </p:txBody>
      </p:sp>
      <p:sp>
        <p:nvSpPr>
          <p:cNvPr id="103" name="Text 101"/>
          <p:cNvSpPr/>
          <p:nvPr/>
        </p:nvSpPr>
        <p:spPr>
          <a:xfrm>
            <a:off x="6620256" y="3438144"/>
            <a:ext cx="749808" cy="182880"/>
          </a:xfrm>
          <a:prstGeom prst="rect">
            <a:avLst/>
          </a:prstGeom>
          <a:noFill/>
          <a:ln/>
        </p:spPr>
        <p:txBody>
          <a:bodyPr wrap="square" lIns="0" tIns="0" rIns="0" bIns="0" rtlCol="0" anchor="ctr"/>
          <a:lstStyle/>
          <a:p>
            <a:pPr indent="0" marL="0">
              <a:buNone/>
            </a:pPr>
            <a:r>
              <a:rPr lang="en-US" sz="550" dirty="0">
                <a:solidFill>
                  <a:srgbClr val="3A5068"/>
                </a:solidFill>
                <a:latin typeface="Calibri" pitchFamily="34" charset="0"/>
                <a:ea typeface="Calibri" pitchFamily="34" charset="-122"/>
                <a:cs typeface="Calibri" pitchFamily="34" charset="-120"/>
              </a:rPr>
              <a:t>Crafts</a:t>
            </a:r>
            <a:endParaRPr lang="en-US" sz="550" dirty="0"/>
          </a:p>
        </p:txBody>
      </p:sp>
      <p:sp>
        <p:nvSpPr>
          <p:cNvPr id="104" name="Shape 102"/>
          <p:cNvSpPr/>
          <p:nvPr/>
        </p:nvSpPr>
        <p:spPr>
          <a:xfrm>
            <a:off x="7406640" y="3456432"/>
            <a:ext cx="457200" cy="146304"/>
          </a:xfrm>
          <a:prstGeom prst="rect">
            <a:avLst/>
          </a:prstGeom>
          <a:solidFill>
            <a:srgbClr val="059669"/>
          </a:solidFill>
          <a:ln w="12700">
            <a:solidFill>
              <a:srgbClr val="059669"/>
            </a:solidFill>
            <a:prstDash val="solid"/>
          </a:ln>
        </p:spPr>
      </p:sp>
      <p:sp>
        <p:nvSpPr>
          <p:cNvPr id="105" name="Text 103"/>
          <p:cNvSpPr/>
          <p:nvPr/>
        </p:nvSpPr>
        <p:spPr>
          <a:xfrm>
            <a:off x="7406640" y="3456432"/>
            <a:ext cx="457200" cy="146304"/>
          </a:xfrm>
          <a:prstGeom prst="rect">
            <a:avLst/>
          </a:prstGeom>
          <a:noFill/>
          <a:ln/>
        </p:spPr>
        <p:txBody>
          <a:bodyPr wrap="square" lIns="0" tIns="0" rIns="0" bIns="0" rtlCol="0" anchor="ctr"/>
          <a:lstStyle/>
          <a:p>
            <a:pPr algn="ctr" indent="0" marL="0">
              <a:buNone/>
            </a:pPr>
            <a:r>
              <a:rPr lang="en-US" sz="550" b="1" dirty="0">
                <a:solidFill>
                  <a:srgbClr val="FFFFFF"/>
                </a:solidFill>
                <a:latin typeface="Calibri" pitchFamily="34" charset="0"/>
                <a:ea typeface="Calibri" pitchFamily="34" charset="-122"/>
                <a:cs typeface="Calibri" pitchFamily="34" charset="-120"/>
              </a:rPr>
              <a:t>SAFE</a:t>
            </a:r>
            <a:endParaRPr lang="en-US" sz="550" dirty="0"/>
          </a:p>
        </p:txBody>
      </p:sp>
      <p:sp>
        <p:nvSpPr>
          <p:cNvPr id="106" name="Shape 104"/>
          <p:cNvSpPr/>
          <p:nvPr/>
        </p:nvSpPr>
        <p:spPr>
          <a:xfrm>
            <a:off x="7918704" y="3456432"/>
            <a:ext cx="512064" cy="146304"/>
          </a:xfrm>
          <a:prstGeom prst="rect">
            <a:avLst/>
          </a:prstGeom>
          <a:solidFill>
            <a:srgbClr val="0D7C8F"/>
          </a:solidFill>
          <a:ln w="12700">
            <a:solidFill>
              <a:srgbClr val="0D7C8F"/>
            </a:solidFill>
            <a:prstDash val="solid"/>
          </a:ln>
        </p:spPr>
      </p:sp>
      <p:sp>
        <p:nvSpPr>
          <p:cNvPr id="107" name="Text 105"/>
          <p:cNvSpPr/>
          <p:nvPr/>
        </p:nvSpPr>
        <p:spPr>
          <a:xfrm>
            <a:off x="7918704" y="3456432"/>
            <a:ext cx="512064" cy="146304"/>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View</a:t>
            </a:r>
            <a:endParaRPr lang="en-US" sz="550" dirty="0"/>
          </a:p>
        </p:txBody>
      </p:sp>
      <p:sp>
        <p:nvSpPr>
          <p:cNvPr id="108" name="Shape 106"/>
          <p:cNvSpPr/>
          <p:nvPr/>
        </p:nvSpPr>
        <p:spPr>
          <a:xfrm>
            <a:off x="5449824" y="3712464"/>
            <a:ext cx="3364992" cy="1024128"/>
          </a:xfrm>
          <a:prstGeom prst="rect">
            <a:avLst/>
          </a:prstGeom>
          <a:solidFill>
            <a:srgbClr val="FFFFFF"/>
          </a:solidFill>
          <a:ln w="5080">
            <a:solidFill>
              <a:srgbClr val="E2EDF2"/>
            </a:solidFill>
            <a:prstDash val="solid"/>
          </a:ln>
        </p:spPr>
      </p:sp>
      <p:sp>
        <p:nvSpPr>
          <p:cNvPr id="109" name="Text 107"/>
          <p:cNvSpPr/>
          <p:nvPr/>
        </p:nvSpPr>
        <p:spPr>
          <a:xfrm>
            <a:off x="5486400" y="3749040"/>
            <a:ext cx="3291840" cy="146304"/>
          </a:xfrm>
          <a:prstGeom prst="rect">
            <a:avLst/>
          </a:prstGeom>
          <a:noFill/>
          <a:ln/>
        </p:spPr>
        <p:txBody>
          <a:bodyPr wrap="square" lIns="0" tIns="0" rIns="0" bIns="0" rtlCol="0" anchor="ctr"/>
          <a:lstStyle/>
          <a:p>
            <a:pPr indent="0" marL="0">
              <a:buNone/>
            </a:pPr>
            <a:r>
              <a:rPr lang="en-US" sz="600" b="1" dirty="0">
                <a:solidFill>
                  <a:srgbClr val="0A1931"/>
                </a:solidFill>
                <a:latin typeface="Calibri" pitchFamily="34" charset="0"/>
                <a:ea typeface="Calibri" pitchFamily="34" charset="-122"/>
                <a:cs typeface="Calibri" pitchFamily="34" charset="-120"/>
              </a:rPr>
              <a:t>Risk Distribution by Sector</a:t>
            </a:r>
            <a:endParaRPr lang="en-US" sz="600" dirty="0"/>
          </a:p>
        </p:txBody>
      </p:sp>
      <p:sp>
        <p:nvSpPr>
          <p:cNvPr id="110" name="Shape 108"/>
          <p:cNvSpPr/>
          <p:nvPr/>
        </p:nvSpPr>
        <p:spPr>
          <a:xfrm>
            <a:off x="5541264" y="3913632"/>
            <a:ext cx="585216" cy="368686"/>
          </a:xfrm>
          <a:prstGeom prst="rect">
            <a:avLst/>
          </a:prstGeom>
          <a:solidFill>
            <a:srgbClr val="DC2626"/>
          </a:solidFill>
          <a:ln w="12700">
            <a:solidFill>
              <a:srgbClr val="DC2626"/>
            </a:solidFill>
            <a:prstDash val="solid"/>
          </a:ln>
        </p:spPr>
      </p:sp>
      <p:sp>
        <p:nvSpPr>
          <p:cNvPr id="111" name="Text 109"/>
          <p:cNvSpPr/>
          <p:nvPr/>
        </p:nvSpPr>
        <p:spPr>
          <a:xfrm>
            <a:off x="5541264" y="4626864"/>
            <a:ext cx="585216" cy="91440"/>
          </a:xfrm>
          <a:prstGeom prst="rect">
            <a:avLst/>
          </a:prstGeom>
          <a:noFill/>
          <a:ln/>
        </p:spPr>
        <p:txBody>
          <a:bodyPr wrap="square" lIns="0" tIns="0" rIns="0" bIns="0" rtlCol="0" anchor="ctr"/>
          <a:lstStyle/>
          <a:p>
            <a:pPr algn="ctr" indent="0" marL="0">
              <a:buNone/>
            </a:pPr>
            <a:r>
              <a:rPr lang="en-US" sz="500" dirty="0">
                <a:solidFill>
                  <a:srgbClr val="3A5068"/>
                </a:solidFill>
                <a:latin typeface="Calibri" pitchFamily="34" charset="0"/>
                <a:ea typeface="Calibri" pitchFamily="34" charset="-122"/>
                <a:cs typeface="Calibri" pitchFamily="34" charset="-120"/>
              </a:rPr>
              <a:t>Retail</a:t>
            </a:r>
            <a:endParaRPr lang="en-US" sz="500" dirty="0"/>
          </a:p>
        </p:txBody>
      </p:sp>
      <p:sp>
        <p:nvSpPr>
          <p:cNvPr id="112" name="Shape 110"/>
          <p:cNvSpPr/>
          <p:nvPr/>
        </p:nvSpPr>
        <p:spPr>
          <a:xfrm>
            <a:off x="6345936" y="4057010"/>
            <a:ext cx="585216" cy="225308"/>
          </a:xfrm>
          <a:prstGeom prst="rect">
            <a:avLst/>
          </a:prstGeom>
          <a:solidFill>
            <a:srgbClr val="F59E0B"/>
          </a:solidFill>
          <a:ln w="12700">
            <a:solidFill>
              <a:srgbClr val="F59E0B"/>
            </a:solidFill>
            <a:prstDash val="solid"/>
          </a:ln>
        </p:spPr>
      </p:sp>
      <p:sp>
        <p:nvSpPr>
          <p:cNvPr id="113" name="Text 111"/>
          <p:cNvSpPr/>
          <p:nvPr/>
        </p:nvSpPr>
        <p:spPr>
          <a:xfrm>
            <a:off x="6345936" y="4626864"/>
            <a:ext cx="585216" cy="91440"/>
          </a:xfrm>
          <a:prstGeom prst="rect">
            <a:avLst/>
          </a:prstGeom>
          <a:noFill/>
          <a:ln/>
        </p:spPr>
        <p:txBody>
          <a:bodyPr wrap="square" lIns="0" tIns="0" rIns="0" bIns="0" rtlCol="0" anchor="ctr"/>
          <a:lstStyle/>
          <a:p>
            <a:pPr algn="ctr" indent="0" marL="0">
              <a:buNone/>
            </a:pPr>
            <a:r>
              <a:rPr lang="en-US" sz="500" dirty="0">
                <a:solidFill>
                  <a:srgbClr val="3A5068"/>
                </a:solidFill>
                <a:latin typeface="Calibri" pitchFamily="34" charset="0"/>
                <a:ea typeface="Calibri" pitchFamily="34" charset="-122"/>
                <a:cs typeface="Calibri" pitchFamily="34" charset="-120"/>
              </a:rPr>
              <a:t>Food</a:t>
            </a:r>
            <a:endParaRPr lang="en-US" sz="500" dirty="0"/>
          </a:p>
        </p:txBody>
      </p:sp>
      <p:sp>
        <p:nvSpPr>
          <p:cNvPr id="114" name="Shape 112"/>
          <p:cNvSpPr/>
          <p:nvPr/>
        </p:nvSpPr>
        <p:spPr>
          <a:xfrm>
            <a:off x="7150608" y="3995562"/>
            <a:ext cx="585216" cy="286756"/>
          </a:xfrm>
          <a:prstGeom prst="rect">
            <a:avLst/>
          </a:prstGeom>
          <a:solidFill>
            <a:srgbClr val="0D7C8F"/>
          </a:solidFill>
          <a:ln w="12700">
            <a:solidFill>
              <a:srgbClr val="0D7C8F"/>
            </a:solidFill>
            <a:prstDash val="solid"/>
          </a:ln>
        </p:spPr>
      </p:sp>
      <p:sp>
        <p:nvSpPr>
          <p:cNvPr id="115" name="Text 113"/>
          <p:cNvSpPr/>
          <p:nvPr/>
        </p:nvSpPr>
        <p:spPr>
          <a:xfrm>
            <a:off x="7150608" y="4626864"/>
            <a:ext cx="585216" cy="91440"/>
          </a:xfrm>
          <a:prstGeom prst="rect">
            <a:avLst/>
          </a:prstGeom>
          <a:noFill/>
          <a:ln/>
        </p:spPr>
        <p:txBody>
          <a:bodyPr wrap="square" lIns="0" tIns="0" rIns="0" bIns="0" rtlCol="0" anchor="ctr"/>
          <a:lstStyle/>
          <a:p>
            <a:pPr algn="ctr" indent="0" marL="0">
              <a:buNone/>
            </a:pPr>
            <a:r>
              <a:rPr lang="en-US" sz="500" dirty="0">
                <a:solidFill>
                  <a:srgbClr val="3A5068"/>
                </a:solidFill>
                <a:latin typeface="Calibri" pitchFamily="34" charset="0"/>
                <a:ea typeface="Calibri" pitchFamily="34" charset="-122"/>
                <a:cs typeface="Calibri" pitchFamily="34" charset="-120"/>
              </a:rPr>
              <a:t>ICT</a:t>
            </a:r>
            <a:endParaRPr lang="en-US" sz="500" dirty="0"/>
          </a:p>
        </p:txBody>
      </p:sp>
      <p:sp>
        <p:nvSpPr>
          <p:cNvPr id="116" name="Shape 114"/>
          <p:cNvSpPr/>
          <p:nvPr/>
        </p:nvSpPr>
        <p:spPr>
          <a:xfrm>
            <a:off x="7955280" y="4138940"/>
            <a:ext cx="585216" cy="143378"/>
          </a:xfrm>
          <a:prstGeom prst="rect">
            <a:avLst/>
          </a:prstGeom>
          <a:solidFill>
            <a:srgbClr val="059669"/>
          </a:solidFill>
          <a:ln w="12700">
            <a:solidFill>
              <a:srgbClr val="059669"/>
            </a:solidFill>
            <a:prstDash val="solid"/>
          </a:ln>
        </p:spPr>
      </p:sp>
      <p:sp>
        <p:nvSpPr>
          <p:cNvPr id="117" name="Text 115"/>
          <p:cNvSpPr/>
          <p:nvPr/>
        </p:nvSpPr>
        <p:spPr>
          <a:xfrm>
            <a:off x="7955280" y="4626864"/>
            <a:ext cx="585216" cy="91440"/>
          </a:xfrm>
          <a:prstGeom prst="rect">
            <a:avLst/>
          </a:prstGeom>
          <a:noFill/>
          <a:ln/>
        </p:spPr>
        <p:txBody>
          <a:bodyPr wrap="square" lIns="0" tIns="0" rIns="0" bIns="0" rtlCol="0" anchor="ctr"/>
          <a:lstStyle/>
          <a:p>
            <a:pPr algn="ctr" indent="0" marL="0">
              <a:buNone/>
            </a:pPr>
            <a:r>
              <a:rPr lang="en-US" sz="500" dirty="0">
                <a:solidFill>
                  <a:srgbClr val="3A5068"/>
                </a:solidFill>
                <a:latin typeface="Calibri" pitchFamily="34" charset="0"/>
                <a:ea typeface="Calibri" pitchFamily="34" charset="-122"/>
                <a:cs typeface="Calibri" pitchFamily="34" charset="-120"/>
              </a:rPr>
              <a:t>Crafts</a:t>
            </a:r>
            <a:endParaRPr lang="en-US" sz="500" dirty="0"/>
          </a:p>
        </p:txBody>
      </p:sp>
      <p:sp>
        <p:nvSpPr>
          <p:cNvPr id="118" name="Text 116"/>
          <p:cNvSpPr/>
          <p:nvPr/>
        </p:nvSpPr>
        <p:spPr>
          <a:xfrm>
            <a:off x="4663440" y="4846320"/>
            <a:ext cx="4224528" cy="164592"/>
          </a:xfrm>
          <a:prstGeom prst="rect">
            <a:avLst/>
          </a:prstGeom>
          <a:noFill/>
          <a:ln/>
        </p:spPr>
        <p:txBody>
          <a:bodyPr wrap="square" lIns="0" tIns="0" rIns="0" bIns="0" rtlCol="0" anchor="ctr"/>
          <a:lstStyle/>
          <a:p>
            <a:pPr algn="ctr" indent="0" marL="0">
              <a:buNone/>
            </a:pPr>
            <a:r>
              <a:rPr lang="en-US" sz="700" i="1" dirty="0">
                <a:solidFill>
                  <a:srgbClr val="3A5068"/>
                </a:solidFill>
                <a:latin typeface="Calibri" pitchFamily="34" charset="0"/>
                <a:ea typeface="Calibri" pitchFamily="34" charset="-122"/>
                <a:cs typeface="Calibri" pitchFamily="34" charset="-120"/>
              </a:rPr>
              <a:t>Admin Dashboard — Business Overview</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Data Analysis Techniques</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How the models were trained, validated, and deployed</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320040" y="1024128"/>
            <a:ext cx="4160520" cy="1737360"/>
          </a:xfrm>
          <a:prstGeom prst="rect">
            <a:avLst/>
          </a:prstGeom>
          <a:solidFill>
            <a:srgbClr val="FFFFFF"/>
          </a:solidFill>
          <a:ln w="9525">
            <a:solidFill>
              <a:srgbClr val="E2EDF2"/>
            </a:solidFill>
            <a:prstDash val="solid"/>
          </a:ln>
        </p:spPr>
      </p:sp>
      <p:sp>
        <p:nvSpPr>
          <p:cNvPr id="10" name="Shape 8"/>
          <p:cNvSpPr/>
          <p:nvPr/>
        </p:nvSpPr>
        <p:spPr>
          <a:xfrm>
            <a:off x="320040" y="1024128"/>
            <a:ext cx="4160520" cy="384048"/>
          </a:xfrm>
          <a:prstGeom prst="rect">
            <a:avLst/>
          </a:prstGeom>
          <a:solidFill>
            <a:srgbClr val="0A1931"/>
          </a:solidFill>
          <a:ln w="12700">
            <a:solidFill>
              <a:srgbClr val="0A1931"/>
            </a:solidFill>
            <a:prstDash val="solid"/>
          </a:ln>
        </p:spPr>
      </p:sp>
      <p:sp>
        <p:nvSpPr>
          <p:cNvPr id="11" name="Shape 9"/>
          <p:cNvSpPr/>
          <p:nvPr/>
        </p:nvSpPr>
        <p:spPr>
          <a:xfrm>
            <a:off x="411480" y="1078992"/>
            <a:ext cx="274320" cy="274320"/>
          </a:xfrm>
          <a:prstGeom prst="ellipse">
            <a:avLst/>
          </a:prstGeom>
          <a:solidFill>
            <a:srgbClr val="06B6D4"/>
          </a:solidFill>
          <a:ln w="12700">
            <a:solidFill>
              <a:srgbClr val="06B6D4"/>
            </a:solidFill>
            <a:prstDash val="solid"/>
          </a:ln>
        </p:spPr>
      </p:sp>
      <p:sp>
        <p:nvSpPr>
          <p:cNvPr id="12" name="Text 10"/>
          <p:cNvSpPr/>
          <p:nvPr/>
        </p:nvSpPr>
        <p:spPr>
          <a:xfrm>
            <a:off x="411480" y="1078992"/>
            <a:ext cx="274320" cy="274320"/>
          </a:xfrm>
          <a:prstGeom prst="rect">
            <a:avLst/>
          </a:prstGeom>
          <a:noFill/>
          <a:ln/>
        </p:spPr>
        <p:txBody>
          <a:bodyPr wrap="square" lIns="0" tIns="0" rIns="0" bIns="0" rtlCol="0" anchor="ctr"/>
          <a:lstStyle/>
          <a:p>
            <a:pPr algn="ctr" indent="0" marL="0">
              <a:buNone/>
            </a:pPr>
            <a:r>
              <a:rPr lang="en-US" sz="800" b="1" dirty="0">
                <a:solidFill>
                  <a:srgbClr val="0A1931"/>
                </a:solidFill>
                <a:latin typeface="Calibri" pitchFamily="34" charset="0"/>
                <a:ea typeface="Calibri" pitchFamily="34" charset="-122"/>
                <a:cs typeface="Calibri" pitchFamily="34" charset="-120"/>
              </a:rPr>
              <a:t>01</a:t>
            </a:r>
            <a:endParaRPr lang="en-US" sz="800" dirty="0"/>
          </a:p>
        </p:txBody>
      </p:sp>
      <p:sp>
        <p:nvSpPr>
          <p:cNvPr id="13" name="Text 11"/>
          <p:cNvSpPr/>
          <p:nvPr/>
        </p:nvSpPr>
        <p:spPr>
          <a:xfrm>
            <a:off x="777240" y="1078992"/>
            <a:ext cx="3621024"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LightGBM + CatBoost Ensemble (Survival Classification)</a:t>
            </a:r>
            <a:endParaRPr lang="en-US" sz="950" dirty="0"/>
          </a:p>
        </p:txBody>
      </p:sp>
      <p:sp>
        <p:nvSpPr>
          <p:cNvPr id="14" name="Text 12"/>
          <p:cNvSpPr/>
          <p:nvPr/>
        </p:nvSpPr>
        <p:spPr>
          <a:xfrm>
            <a:off x="429768" y="1463040"/>
            <a:ext cx="3931920" cy="1207008"/>
          </a:xfrm>
          <a:prstGeom prst="rect">
            <a:avLst/>
          </a:prstGeom>
          <a:noFill/>
          <a:ln/>
        </p:spPr>
        <p:txBody>
          <a:bodyPr wrap="square" lIns="0" tIns="0" rIns="0" bIns="0" rtlCol="0" anchor="t"/>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Soft-voting: average of both models' class probabilities</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Stratified 5-fold cross-validation preserving class proportions</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Per-row sample weights applied (1.0 / 10.0 / 15.0 by source)</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sklearn CalibratedClassifierCV with isotonic regression</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Threshold: 60% survival probability → Safe vs. High Risk</a:t>
            </a:r>
            <a:endParaRPr lang="en-US" sz="900" dirty="0"/>
          </a:p>
        </p:txBody>
      </p:sp>
      <p:sp>
        <p:nvSpPr>
          <p:cNvPr id="15" name="Shape 13"/>
          <p:cNvSpPr/>
          <p:nvPr/>
        </p:nvSpPr>
        <p:spPr>
          <a:xfrm>
            <a:off x="4736592" y="1024128"/>
            <a:ext cx="4160520" cy="1737360"/>
          </a:xfrm>
          <a:prstGeom prst="rect">
            <a:avLst/>
          </a:prstGeom>
          <a:solidFill>
            <a:srgbClr val="FFFFFF"/>
          </a:solidFill>
          <a:ln w="9525">
            <a:solidFill>
              <a:srgbClr val="E2EDF2"/>
            </a:solidFill>
            <a:prstDash val="solid"/>
          </a:ln>
        </p:spPr>
      </p:sp>
      <p:sp>
        <p:nvSpPr>
          <p:cNvPr id="16" name="Shape 14"/>
          <p:cNvSpPr/>
          <p:nvPr/>
        </p:nvSpPr>
        <p:spPr>
          <a:xfrm>
            <a:off x="4736592" y="1024128"/>
            <a:ext cx="4160520" cy="384048"/>
          </a:xfrm>
          <a:prstGeom prst="rect">
            <a:avLst/>
          </a:prstGeom>
          <a:solidFill>
            <a:srgbClr val="0A1931"/>
          </a:solidFill>
          <a:ln w="12700">
            <a:solidFill>
              <a:srgbClr val="0A1931"/>
            </a:solidFill>
            <a:prstDash val="solid"/>
          </a:ln>
        </p:spPr>
      </p:sp>
      <p:sp>
        <p:nvSpPr>
          <p:cNvPr id="17" name="Shape 15"/>
          <p:cNvSpPr/>
          <p:nvPr/>
        </p:nvSpPr>
        <p:spPr>
          <a:xfrm>
            <a:off x="4828032" y="1078992"/>
            <a:ext cx="274320" cy="274320"/>
          </a:xfrm>
          <a:prstGeom prst="ellipse">
            <a:avLst/>
          </a:prstGeom>
          <a:solidFill>
            <a:srgbClr val="06B6D4"/>
          </a:solidFill>
          <a:ln w="12700">
            <a:solidFill>
              <a:srgbClr val="06B6D4"/>
            </a:solidFill>
            <a:prstDash val="solid"/>
          </a:ln>
        </p:spPr>
      </p:sp>
      <p:sp>
        <p:nvSpPr>
          <p:cNvPr id="18" name="Text 16"/>
          <p:cNvSpPr/>
          <p:nvPr/>
        </p:nvSpPr>
        <p:spPr>
          <a:xfrm>
            <a:off x="4828032" y="1078992"/>
            <a:ext cx="274320" cy="274320"/>
          </a:xfrm>
          <a:prstGeom prst="rect">
            <a:avLst/>
          </a:prstGeom>
          <a:noFill/>
          <a:ln/>
        </p:spPr>
        <p:txBody>
          <a:bodyPr wrap="square" lIns="0" tIns="0" rIns="0" bIns="0" rtlCol="0" anchor="ctr"/>
          <a:lstStyle/>
          <a:p>
            <a:pPr algn="ctr" indent="0" marL="0">
              <a:buNone/>
            </a:pPr>
            <a:r>
              <a:rPr lang="en-US" sz="800" b="1" dirty="0">
                <a:solidFill>
                  <a:srgbClr val="0A1931"/>
                </a:solidFill>
                <a:latin typeface="Calibri" pitchFamily="34" charset="0"/>
                <a:ea typeface="Calibri" pitchFamily="34" charset="-122"/>
                <a:cs typeface="Calibri" pitchFamily="34" charset="-120"/>
              </a:rPr>
              <a:t>02</a:t>
            </a:r>
            <a:endParaRPr lang="en-US" sz="800" dirty="0"/>
          </a:p>
        </p:txBody>
      </p:sp>
      <p:sp>
        <p:nvSpPr>
          <p:cNvPr id="19" name="Text 17"/>
          <p:cNvSpPr/>
          <p:nvPr/>
        </p:nvSpPr>
        <p:spPr>
          <a:xfrm>
            <a:off x="5193792" y="1078992"/>
            <a:ext cx="3621024"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Cox Proportional Hazards (Time-to-Failure Estimation)</a:t>
            </a:r>
            <a:endParaRPr lang="en-US" sz="950" dirty="0"/>
          </a:p>
        </p:txBody>
      </p:sp>
      <p:sp>
        <p:nvSpPr>
          <p:cNvPr id="20" name="Text 18"/>
          <p:cNvSpPr/>
          <p:nvPr/>
        </p:nvSpPr>
        <p:spPr>
          <a:xfrm>
            <a:off x="4846320" y="1463040"/>
            <a:ext cx="3931920" cy="1207008"/>
          </a:xfrm>
          <a:prstGeom prst="rect">
            <a:avLst/>
          </a:prstGeom>
          <a:noFill/>
          <a:ln/>
        </p:spPr>
        <p:txBody>
          <a:bodyPr wrap="square" lIns="0" tIns="0" rIns="0" bIns="0" rtlCol="0" anchor="t"/>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lifelines 0.29.0 — h(t|X) = h₀(t) exp(βᵀX) — no parametric assumption</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Duration: business age in years; Event: 3-year survival binary</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Outputs: survival curve at 1, 2, and 3 years + median failure time</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Results embedded in downloadable PDF advisory report</a:t>
            </a:r>
            <a:endParaRPr lang="en-US" sz="900" dirty="0"/>
          </a:p>
        </p:txBody>
      </p:sp>
      <p:sp>
        <p:nvSpPr>
          <p:cNvPr id="21" name="Shape 19"/>
          <p:cNvSpPr/>
          <p:nvPr/>
        </p:nvSpPr>
        <p:spPr>
          <a:xfrm>
            <a:off x="320040" y="2871216"/>
            <a:ext cx="4160520" cy="1572768"/>
          </a:xfrm>
          <a:prstGeom prst="rect">
            <a:avLst/>
          </a:prstGeom>
          <a:solidFill>
            <a:srgbClr val="FFFFFF"/>
          </a:solidFill>
          <a:ln w="9525">
            <a:solidFill>
              <a:srgbClr val="E2EDF2"/>
            </a:solidFill>
            <a:prstDash val="solid"/>
          </a:ln>
        </p:spPr>
      </p:sp>
      <p:sp>
        <p:nvSpPr>
          <p:cNvPr id="22" name="Shape 20"/>
          <p:cNvSpPr/>
          <p:nvPr/>
        </p:nvSpPr>
        <p:spPr>
          <a:xfrm>
            <a:off x="320040" y="2871216"/>
            <a:ext cx="4160520" cy="384048"/>
          </a:xfrm>
          <a:prstGeom prst="rect">
            <a:avLst/>
          </a:prstGeom>
          <a:solidFill>
            <a:srgbClr val="0A1931"/>
          </a:solidFill>
          <a:ln w="12700">
            <a:solidFill>
              <a:srgbClr val="0A1931"/>
            </a:solidFill>
            <a:prstDash val="solid"/>
          </a:ln>
        </p:spPr>
      </p:sp>
      <p:sp>
        <p:nvSpPr>
          <p:cNvPr id="23" name="Shape 21"/>
          <p:cNvSpPr/>
          <p:nvPr/>
        </p:nvSpPr>
        <p:spPr>
          <a:xfrm>
            <a:off x="411480" y="2926080"/>
            <a:ext cx="274320" cy="274320"/>
          </a:xfrm>
          <a:prstGeom prst="ellipse">
            <a:avLst/>
          </a:prstGeom>
          <a:solidFill>
            <a:srgbClr val="06B6D4"/>
          </a:solidFill>
          <a:ln w="12700">
            <a:solidFill>
              <a:srgbClr val="06B6D4"/>
            </a:solidFill>
            <a:prstDash val="solid"/>
          </a:ln>
        </p:spPr>
      </p:sp>
      <p:sp>
        <p:nvSpPr>
          <p:cNvPr id="24" name="Text 22"/>
          <p:cNvSpPr/>
          <p:nvPr/>
        </p:nvSpPr>
        <p:spPr>
          <a:xfrm>
            <a:off x="411480" y="2926080"/>
            <a:ext cx="274320" cy="274320"/>
          </a:xfrm>
          <a:prstGeom prst="rect">
            <a:avLst/>
          </a:prstGeom>
          <a:noFill/>
          <a:ln/>
        </p:spPr>
        <p:txBody>
          <a:bodyPr wrap="square" lIns="0" tIns="0" rIns="0" bIns="0" rtlCol="0" anchor="ctr"/>
          <a:lstStyle/>
          <a:p>
            <a:pPr algn="ctr" indent="0" marL="0">
              <a:buNone/>
            </a:pPr>
            <a:r>
              <a:rPr lang="en-US" sz="800" b="1" dirty="0">
                <a:solidFill>
                  <a:srgbClr val="0A1931"/>
                </a:solidFill>
                <a:latin typeface="Calibri" pitchFamily="34" charset="0"/>
                <a:ea typeface="Calibri" pitchFamily="34" charset="-122"/>
                <a:cs typeface="Calibri" pitchFamily="34" charset="-120"/>
              </a:rPr>
              <a:t>03</a:t>
            </a:r>
            <a:endParaRPr lang="en-US" sz="800" dirty="0"/>
          </a:p>
        </p:txBody>
      </p:sp>
      <p:sp>
        <p:nvSpPr>
          <p:cNvPr id="25" name="Text 23"/>
          <p:cNvSpPr/>
          <p:nvPr/>
        </p:nvSpPr>
        <p:spPr>
          <a:xfrm>
            <a:off x="777240" y="2926080"/>
            <a:ext cx="3621024"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XGBoost Profit Regressor + SHAP Explainability</a:t>
            </a:r>
            <a:endParaRPr lang="en-US" sz="950" dirty="0"/>
          </a:p>
        </p:txBody>
      </p:sp>
      <p:sp>
        <p:nvSpPr>
          <p:cNvPr id="26" name="Text 24"/>
          <p:cNvSpPr/>
          <p:nvPr/>
        </p:nvSpPr>
        <p:spPr>
          <a:xfrm>
            <a:off x="429768" y="3310128"/>
            <a:ext cx="3931920" cy="1042416"/>
          </a:xfrm>
          <a:prstGeom prst="rect">
            <a:avLst/>
          </a:prstGeom>
          <a:noFill/>
          <a:ln/>
        </p:spPr>
        <p:txBody>
          <a:bodyPr wrap="square" lIns="0" tIns="0" rIns="0" bIns="0" rtlCol="0" anchor="t"/>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Trained on surviving businesses only; target log-transformed</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SHAP 0.45.0 computes top-5 feature contributions per prediction</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Contributions passed as structured context to Groq LLM prompt</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Output: projected monthly profit in CFA Francs + feature impact</a:t>
            </a:r>
            <a:endParaRPr lang="en-US" sz="900" dirty="0"/>
          </a:p>
        </p:txBody>
      </p:sp>
      <p:sp>
        <p:nvSpPr>
          <p:cNvPr id="27" name="Shape 25"/>
          <p:cNvSpPr/>
          <p:nvPr/>
        </p:nvSpPr>
        <p:spPr>
          <a:xfrm>
            <a:off x="4736592" y="2871216"/>
            <a:ext cx="4160520" cy="1572768"/>
          </a:xfrm>
          <a:prstGeom prst="rect">
            <a:avLst/>
          </a:prstGeom>
          <a:solidFill>
            <a:srgbClr val="FFFFFF"/>
          </a:solidFill>
          <a:ln w="9525">
            <a:solidFill>
              <a:srgbClr val="E2EDF2"/>
            </a:solidFill>
            <a:prstDash val="solid"/>
          </a:ln>
        </p:spPr>
      </p:sp>
      <p:sp>
        <p:nvSpPr>
          <p:cNvPr id="28" name="Shape 26"/>
          <p:cNvSpPr/>
          <p:nvPr/>
        </p:nvSpPr>
        <p:spPr>
          <a:xfrm>
            <a:off x="4736592" y="2871216"/>
            <a:ext cx="4160520" cy="384048"/>
          </a:xfrm>
          <a:prstGeom prst="rect">
            <a:avLst/>
          </a:prstGeom>
          <a:solidFill>
            <a:srgbClr val="0A1931"/>
          </a:solidFill>
          <a:ln w="12700">
            <a:solidFill>
              <a:srgbClr val="0A1931"/>
            </a:solidFill>
            <a:prstDash val="solid"/>
          </a:ln>
        </p:spPr>
      </p:sp>
      <p:sp>
        <p:nvSpPr>
          <p:cNvPr id="29" name="Shape 27"/>
          <p:cNvSpPr/>
          <p:nvPr/>
        </p:nvSpPr>
        <p:spPr>
          <a:xfrm>
            <a:off x="4828032" y="2926080"/>
            <a:ext cx="274320" cy="274320"/>
          </a:xfrm>
          <a:prstGeom prst="ellipse">
            <a:avLst/>
          </a:prstGeom>
          <a:solidFill>
            <a:srgbClr val="06B6D4"/>
          </a:solidFill>
          <a:ln w="12700">
            <a:solidFill>
              <a:srgbClr val="06B6D4"/>
            </a:solidFill>
            <a:prstDash val="solid"/>
          </a:ln>
        </p:spPr>
      </p:sp>
      <p:sp>
        <p:nvSpPr>
          <p:cNvPr id="30" name="Text 28"/>
          <p:cNvSpPr/>
          <p:nvPr/>
        </p:nvSpPr>
        <p:spPr>
          <a:xfrm>
            <a:off x="4828032" y="2926080"/>
            <a:ext cx="274320" cy="274320"/>
          </a:xfrm>
          <a:prstGeom prst="rect">
            <a:avLst/>
          </a:prstGeom>
          <a:noFill/>
          <a:ln/>
        </p:spPr>
        <p:txBody>
          <a:bodyPr wrap="square" lIns="0" tIns="0" rIns="0" bIns="0" rtlCol="0" anchor="ctr"/>
          <a:lstStyle/>
          <a:p>
            <a:pPr algn="ctr" indent="0" marL="0">
              <a:buNone/>
            </a:pPr>
            <a:r>
              <a:rPr lang="en-US" sz="800" b="1" dirty="0">
                <a:solidFill>
                  <a:srgbClr val="0A1931"/>
                </a:solidFill>
                <a:latin typeface="Calibri" pitchFamily="34" charset="0"/>
                <a:ea typeface="Calibri" pitchFamily="34" charset="-122"/>
                <a:cs typeface="Calibri" pitchFamily="34" charset="-120"/>
              </a:rPr>
              <a:t>04</a:t>
            </a:r>
            <a:endParaRPr lang="en-US" sz="800" dirty="0"/>
          </a:p>
        </p:txBody>
      </p:sp>
      <p:sp>
        <p:nvSpPr>
          <p:cNvPr id="31" name="Text 29"/>
          <p:cNvSpPr/>
          <p:nvPr/>
        </p:nvSpPr>
        <p:spPr>
          <a:xfrm>
            <a:off x="5193792" y="2926080"/>
            <a:ext cx="3621024"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System &amp; Performance Validation</a:t>
            </a:r>
            <a:endParaRPr lang="en-US" sz="950" dirty="0"/>
          </a:p>
        </p:txBody>
      </p:sp>
      <p:sp>
        <p:nvSpPr>
          <p:cNvPr id="32" name="Text 30"/>
          <p:cNvSpPr/>
          <p:nvPr/>
        </p:nvSpPr>
        <p:spPr>
          <a:xfrm>
            <a:off x="4846320" y="3310128"/>
            <a:ext cx="3931920" cy="1042416"/>
          </a:xfrm>
          <a:prstGeom prst="rect">
            <a:avLst/>
          </a:prstGeom>
          <a:noFill/>
          <a:ln/>
        </p:spPr>
        <p:txBody>
          <a:bodyPr wrap="square" lIns="0" tIns="0" rIns="0" bIns="0" rtlCol="0" anchor="t"/>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42 unit tests (pytest 8.1.0, 18.4s runtime) — all pass</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8 integration sequences on live staging environment — all pass</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8 Playwright system tests (web end-to-end) — all pass</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Real-world match rate: 70.4% (19/27 survey respondents correctly classified)</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Key Findings (Part 1) — Model Performance</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What the machine learning models achieved</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274320" y="1024128"/>
            <a:ext cx="2011680" cy="1170432"/>
          </a:xfrm>
          <a:prstGeom prst="rect">
            <a:avLst/>
          </a:prstGeom>
          <a:solidFill>
            <a:srgbClr val="0D7C8F"/>
          </a:solidFill>
          <a:ln w="12700">
            <a:solidFill>
              <a:srgbClr val="0D7C8F"/>
            </a:solidFill>
            <a:prstDash val="solid"/>
          </a:ln>
        </p:spPr>
      </p:sp>
      <p:sp>
        <p:nvSpPr>
          <p:cNvPr id="10" name="Text 8"/>
          <p:cNvSpPr/>
          <p:nvPr/>
        </p:nvSpPr>
        <p:spPr>
          <a:xfrm>
            <a:off x="274320" y="1078992"/>
            <a:ext cx="20116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0.83</a:t>
            </a:r>
            <a:endParaRPr lang="en-US" sz="3600" dirty="0"/>
          </a:p>
        </p:txBody>
      </p:sp>
      <p:sp>
        <p:nvSpPr>
          <p:cNvPr id="11" name="Text 9"/>
          <p:cNvSpPr/>
          <p:nvPr/>
        </p:nvSpPr>
        <p:spPr>
          <a:xfrm>
            <a:off x="274320" y="1719072"/>
            <a:ext cx="20116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AUC-ROC</a:t>
            </a:r>
            <a:endParaRPr lang="en-US" sz="1000" dirty="0"/>
          </a:p>
        </p:txBody>
      </p:sp>
      <p:sp>
        <p:nvSpPr>
          <p:cNvPr id="12" name="Text 10"/>
          <p:cNvSpPr/>
          <p:nvPr/>
        </p:nvSpPr>
        <p:spPr>
          <a:xfrm>
            <a:off x="274320" y="1956816"/>
            <a:ext cx="2011680" cy="201168"/>
          </a:xfrm>
          <a:prstGeom prst="rect">
            <a:avLst/>
          </a:prstGeom>
          <a:noFill/>
          <a:ln/>
        </p:spPr>
        <p:txBody>
          <a:bodyPr wrap="square" lIns="0" tIns="0" rIns="0" bIns="0" rtlCol="0" anchor="ctr"/>
          <a:lstStyle/>
          <a:p>
            <a:pPr algn="ctr" indent="0" marL="0">
              <a:buNone/>
            </a:pPr>
            <a:r>
              <a:rPr lang="en-US" sz="800" dirty="0">
                <a:solidFill>
                  <a:srgbClr val="C8E8F0"/>
                </a:solidFill>
                <a:latin typeface="Calibri" pitchFamily="34" charset="0"/>
                <a:ea typeface="Calibri" pitchFamily="34" charset="-122"/>
                <a:cs typeface="Calibri" pitchFamily="34" charset="-120"/>
              </a:rPr>
              <a:t>Ensemble survival classifier (held-out test set)</a:t>
            </a:r>
            <a:endParaRPr lang="en-US" sz="800" dirty="0"/>
          </a:p>
        </p:txBody>
      </p:sp>
      <p:sp>
        <p:nvSpPr>
          <p:cNvPr id="13" name="Shape 11"/>
          <p:cNvSpPr/>
          <p:nvPr/>
        </p:nvSpPr>
        <p:spPr>
          <a:xfrm>
            <a:off x="2468880" y="1024128"/>
            <a:ext cx="2011680" cy="1170432"/>
          </a:xfrm>
          <a:prstGeom prst="rect">
            <a:avLst/>
          </a:prstGeom>
          <a:solidFill>
            <a:srgbClr val="112244"/>
          </a:solidFill>
          <a:ln w="12700">
            <a:solidFill>
              <a:srgbClr val="112244"/>
            </a:solidFill>
            <a:prstDash val="solid"/>
          </a:ln>
        </p:spPr>
      </p:sp>
      <p:sp>
        <p:nvSpPr>
          <p:cNvPr id="14" name="Text 12"/>
          <p:cNvSpPr/>
          <p:nvPr/>
        </p:nvSpPr>
        <p:spPr>
          <a:xfrm>
            <a:off x="2468880" y="1078992"/>
            <a:ext cx="20116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0.70</a:t>
            </a:r>
            <a:endParaRPr lang="en-US" sz="3600" dirty="0"/>
          </a:p>
        </p:txBody>
      </p:sp>
      <p:sp>
        <p:nvSpPr>
          <p:cNvPr id="15" name="Text 13"/>
          <p:cNvSpPr/>
          <p:nvPr/>
        </p:nvSpPr>
        <p:spPr>
          <a:xfrm>
            <a:off x="2468880" y="1719072"/>
            <a:ext cx="20116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F1 Score</a:t>
            </a:r>
            <a:endParaRPr lang="en-US" sz="1000" dirty="0"/>
          </a:p>
        </p:txBody>
      </p:sp>
      <p:sp>
        <p:nvSpPr>
          <p:cNvPr id="16" name="Text 14"/>
          <p:cNvSpPr/>
          <p:nvPr/>
        </p:nvSpPr>
        <p:spPr>
          <a:xfrm>
            <a:off x="2468880" y="1956816"/>
            <a:ext cx="2011680" cy="201168"/>
          </a:xfrm>
          <a:prstGeom prst="rect">
            <a:avLst/>
          </a:prstGeom>
          <a:noFill/>
          <a:ln/>
        </p:spPr>
        <p:txBody>
          <a:bodyPr wrap="square" lIns="0" tIns="0" rIns="0" bIns="0" rtlCol="0" anchor="ctr"/>
          <a:lstStyle/>
          <a:p>
            <a:pPr algn="ctr" indent="0" marL="0">
              <a:buNone/>
            </a:pPr>
            <a:r>
              <a:rPr lang="en-US" sz="800" dirty="0">
                <a:solidFill>
                  <a:srgbClr val="C8E8F0"/>
                </a:solidFill>
                <a:latin typeface="Calibri" pitchFamily="34" charset="0"/>
                <a:ea typeface="Calibri" pitchFamily="34" charset="-122"/>
                <a:cs typeface="Calibri" pitchFamily="34" charset="-120"/>
              </a:rPr>
              <a:t>Balanced precision-recall on imbalanced data</a:t>
            </a:r>
            <a:endParaRPr lang="en-US" sz="800" dirty="0"/>
          </a:p>
        </p:txBody>
      </p:sp>
      <p:sp>
        <p:nvSpPr>
          <p:cNvPr id="17" name="Shape 15"/>
          <p:cNvSpPr/>
          <p:nvPr/>
        </p:nvSpPr>
        <p:spPr>
          <a:xfrm>
            <a:off x="4663440" y="1024128"/>
            <a:ext cx="2011680" cy="1170432"/>
          </a:xfrm>
          <a:prstGeom prst="rect">
            <a:avLst/>
          </a:prstGeom>
          <a:solidFill>
            <a:srgbClr val="059669"/>
          </a:solidFill>
          <a:ln w="12700">
            <a:solidFill>
              <a:srgbClr val="059669"/>
            </a:solidFill>
            <a:prstDash val="solid"/>
          </a:ln>
        </p:spPr>
      </p:sp>
      <p:sp>
        <p:nvSpPr>
          <p:cNvPr id="18" name="Text 16"/>
          <p:cNvSpPr/>
          <p:nvPr/>
        </p:nvSpPr>
        <p:spPr>
          <a:xfrm>
            <a:off x="4663440" y="1078992"/>
            <a:ext cx="20116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0.14</a:t>
            </a:r>
            <a:endParaRPr lang="en-US" sz="3600" dirty="0"/>
          </a:p>
        </p:txBody>
      </p:sp>
      <p:sp>
        <p:nvSpPr>
          <p:cNvPr id="19" name="Text 17"/>
          <p:cNvSpPr/>
          <p:nvPr/>
        </p:nvSpPr>
        <p:spPr>
          <a:xfrm>
            <a:off x="4663440" y="1719072"/>
            <a:ext cx="20116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Brier Score</a:t>
            </a:r>
            <a:endParaRPr lang="en-US" sz="1000" dirty="0"/>
          </a:p>
        </p:txBody>
      </p:sp>
      <p:sp>
        <p:nvSpPr>
          <p:cNvPr id="20" name="Text 18"/>
          <p:cNvSpPr/>
          <p:nvPr/>
        </p:nvSpPr>
        <p:spPr>
          <a:xfrm>
            <a:off x="4663440" y="1956816"/>
            <a:ext cx="2011680" cy="201168"/>
          </a:xfrm>
          <a:prstGeom prst="rect">
            <a:avLst/>
          </a:prstGeom>
          <a:noFill/>
          <a:ln/>
        </p:spPr>
        <p:txBody>
          <a:bodyPr wrap="square" lIns="0" tIns="0" rIns="0" bIns="0" rtlCol="0" anchor="ctr"/>
          <a:lstStyle/>
          <a:p>
            <a:pPr algn="ctr" indent="0" marL="0">
              <a:buNone/>
            </a:pPr>
            <a:r>
              <a:rPr lang="en-US" sz="800" dirty="0">
                <a:solidFill>
                  <a:srgbClr val="C8E8F0"/>
                </a:solidFill>
                <a:latin typeface="Calibri" pitchFamily="34" charset="0"/>
                <a:ea typeface="Calibri" pitchFamily="34" charset="-122"/>
                <a:cs typeface="Calibri" pitchFamily="34" charset="-120"/>
              </a:rPr>
              <a:t>After isotonic calibration (was 0.18 pre-calibration)</a:t>
            </a:r>
            <a:endParaRPr lang="en-US" sz="800" dirty="0"/>
          </a:p>
        </p:txBody>
      </p:sp>
      <p:sp>
        <p:nvSpPr>
          <p:cNvPr id="21" name="Shape 19"/>
          <p:cNvSpPr/>
          <p:nvPr/>
        </p:nvSpPr>
        <p:spPr>
          <a:xfrm>
            <a:off x="6858000" y="1024128"/>
            <a:ext cx="2011680" cy="1170432"/>
          </a:xfrm>
          <a:prstGeom prst="rect">
            <a:avLst/>
          </a:prstGeom>
          <a:solidFill>
            <a:srgbClr val="DC2626"/>
          </a:solidFill>
          <a:ln w="12700">
            <a:solidFill>
              <a:srgbClr val="DC2626"/>
            </a:solidFill>
            <a:prstDash val="solid"/>
          </a:ln>
        </p:spPr>
      </p:sp>
      <p:sp>
        <p:nvSpPr>
          <p:cNvPr id="22" name="Text 20"/>
          <p:cNvSpPr/>
          <p:nvPr/>
        </p:nvSpPr>
        <p:spPr>
          <a:xfrm>
            <a:off x="6858000" y="1078992"/>
            <a:ext cx="20116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17.7%</a:t>
            </a:r>
            <a:endParaRPr lang="en-US" sz="3600" dirty="0"/>
          </a:p>
        </p:txBody>
      </p:sp>
      <p:sp>
        <p:nvSpPr>
          <p:cNvPr id="23" name="Text 21"/>
          <p:cNvSpPr/>
          <p:nvPr/>
        </p:nvSpPr>
        <p:spPr>
          <a:xfrm>
            <a:off x="6858000" y="1719072"/>
            <a:ext cx="20116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Baseline Survival</a:t>
            </a:r>
            <a:endParaRPr lang="en-US" sz="1000" dirty="0"/>
          </a:p>
        </p:txBody>
      </p:sp>
      <p:sp>
        <p:nvSpPr>
          <p:cNvPr id="24" name="Text 22"/>
          <p:cNvSpPr/>
          <p:nvPr/>
        </p:nvSpPr>
        <p:spPr>
          <a:xfrm>
            <a:off x="6858000" y="1956816"/>
            <a:ext cx="2011680" cy="201168"/>
          </a:xfrm>
          <a:prstGeom prst="rect">
            <a:avLst/>
          </a:prstGeom>
          <a:noFill/>
          <a:ln/>
        </p:spPr>
        <p:txBody>
          <a:bodyPr wrap="square" lIns="0" tIns="0" rIns="0" bIns="0" rtlCol="0" anchor="ctr"/>
          <a:lstStyle/>
          <a:p>
            <a:pPr algn="ctr" indent="0" marL="0">
              <a:buNone/>
            </a:pPr>
            <a:r>
              <a:rPr lang="en-US" sz="800" dirty="0">
                <a:solidFill>
                  <a:srgbClr val="C8E8F0"/>
                </a:solidFill>
                <a:latin typeface="Calibri" pitchFamily="34" charset="0"/>
                <a:ea typeface="Calibri" pitchFamily="34" charset="-122"/>
                <a:cs typeface="Calibri" pitchFamily="34" charset="-120"/>
              </a:rPr>
              <a:t>Consistent with MINPMEESA 94.6% failure rate</a:t>
            </a:r>
            <a:endParaRPr lang="en-US" sz="800" dirty="0"/>
          </a:p>
        </p:txBody>
      </p:sp>
      <p:graphicFrame>
        <p:nvGraphicFramePr>
          <p:cNvPr id="25" name="Chart 0" descr=""/>
          <p:cNvGraphicFramePr/>
          <p:nvPr/>
        </p:nvGraphicFramePr>
        <p:xfrm>
          <a:off x="274320" y="2331720"/>
          <a:ext cx="4114800" cy="2377440"/>
        </p:xfrm>
        <a:graphic xmlns:a="http://schemas.openxmlformats.org/drawingml/2006/main">
          <a:graphicData uri="http://schemas.openxmlformats.org/drawingml/2006/chart">
            <c:chart xmlns:c="http://schemas.openxmlformats.org/drawingml/2006/chart" r:id="rId1"/>
          </a:graphicData>
        </a:graphic>
      </p:graphicFrame>
      <p:sp>
        <p:nvSpPr>
          <p:cNvPr id="26" name="Shape 23"/>
          <p:cNvSpPr/>
          <p:nvPr/>
        </p:nvSpPr>
        <p:spPr>
          <a:xfrm>
            <a:off x="4663440" y="2331720"/>
            <a:ext cx="4160520" cy="2377440"/>
          </a:xfrm>
          <a:prstGeom prst="rect">
            <a:avLst/>
          </a:prstGeom>
          <a:solidFill>
            <a:srgbClr val="FFFFFF"/>
          </a:solidFill>
          <a:ln w="9525">
            <a:solidFill>
              <a:srgbClr val="E2EDF2"/>
            </a:solidFill>
            <a:prstDash val="solid"/>
          </a:ln>
        </p:spPr>
      </p:sp>
      <p:sp>
        <p:nvSpPr>
          <p:cNvPr id="27" name="Text 24"/>
          <p:cNvSpPr/>
          <p:nvPr/>
        </p:nvSpPr>
        <p:spPr>
          <a:xfrm>
            <a:off x="4754880" y="2423160"/>
            <a:ext cx="3931920" cy="292608"/>
          </a:xfrm>
          <a:prstGeom prst="rect">
            <a:avLst/>
          </a:prstGeom>
          <a:noFill/>
          <a:ln/>
        </p:spPr>
        <p:txBody>
          <a:bodyPr wrap="square" lIns="0" tIns="0" rIns="0" bIns="0" rtlCol="0" anchor="ctr"/>
          <a:lstStyle/>
          <a:p>
            <a:pPr indent="0" marL="0">
              <a:buNone/>
            </a:pPr>
            <a:r>
              <a:rPr lang="en-US" sz="1100" b="1" dirty="0">
                <a:solidFill>
                  <a:srgbClr val="0A1931"/>
                </a:solidFill>
                <a:latin typeface="Calibri" pitchFamily="34" charset="0"/>
                <a:ea typeface="Calibri" pitchFamily="34" charset="-122"/>
                <a:cs typeface="Calibri" pitchFamily="34" charset="-120"/>
              </a:rPr>
              <a:t>Calibration &amp; Real-World Validation</a:t>
            </a:r>
            <a:endParaRPr lang="en-US" sz="1100" dirty="0"/>
          </a:p>
        </p:txBody>
      </p:sp>
      <p:pic>
        <p:nvPicPr>
          <p:cNvPr id="28" name="Image 0" descr="preencoded.png">    </p:cNvPr>
          <p:cNvPicPr>
            <a:picLocks noChangeAspect="1"/>
          </p:cNvPicPr>
          <p:nvPr/>
        </p:nvPicPr>
        <p:blipFill>
          <a:blip r:embed="rId2"/>
          <a:stretch>
            <a:fillRect/>
          </a:stretch>
        </p:blipFill>
        <p:spPr>
          <a:xfrm>
            <a:off x="4754880" y="2788920"/>
            <a:ext cx="219456" cy="219456"/>
          </a:xfrm>
          <a:prstGeom prst="rect">
            <a:avLst/>
          </a:prstGeom>
        </p:spPr>
      </p:pic>
      <p:sp>
        <p:nvSpPr>
          <p:cNvPr id="29" name="Text 25"/>
          <p:cNvSpPr/>
          <p:nvPr/>
        </p:nvSpPr>
        <p:spPr>
          <a:xfrm>
            <a:off x="5047488" y="2798064"/>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Calibration improved Brier score from 0.18 → 0.14 (isotonic regression)</a:t>
            </a:r>
            <a:endParaRPr lang="en-US" sz="900" dirty="0"/>
          </a:p>
        </p:txBody>
      </p:sp>
      <p:pic>
        <p:nvPicPr>
          <p:cNvPr id="30" name="Image 1" descr="preencoded.png">    </p:cNvPr>
          <p:cNvPicPr>
            <a:picLocks noChangeAspect="1"/>
          </p:cNvPicPr>
          <p:nvPr/>
        </p:nvPicPr>
        <p:blipFill>
          <a:blip r:embed="rId3"/>
          <a:stretch>
            <a:fillRect/>
          </a:stretch>
        </p:blipFill>
        <p:spPr>
          <a:xfrm>
            <a:off x="4754880" y="3099816"/>
            <a:ext cx="219456" cy="219456"/>
          </a:xfrm>
          <a:prstGeom prst="rect">
            <a:avLst/>
          </a:prstGeom>
        </p:spPr>
      </p:pic>
      <p:sp>
        <p:nvSpPr>
          <p:cNvPr id="31" name="Text 26"/>
          <p:cNvSpPr/>
          <p:nvPr/>
        </p:nvSpPr>
        <p:spPr>
          <a:xfrm>
            <a:off x="5047488" y="3108960"/>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Pre-calibration: predictions 0.6-0.8 range had actual survival ~0.45 (overconfident)</a:t>
            </a:r>
            <a:endParaRPr lang="en-US" sz="900" dirty="0"/>
          </a:p>
        </p:txBody>
      </p:sp>
      <p:pic>
        <p:nvPicPr>
          <p:cNvPr id="32" name="Image 2" descr="preencoded.png">    </p:cNvPr>
          <p:cNvPicPr>
            <a:picLocks noChangeAspect="1"/>
          </p:cNvPicPr>
          <p:nvPr/>
        </p:nvPicPr>
        <p:blipFill>
          <a:blip r:embed="rId4"/>
          <a:stretch>
            <a:fillRect/>
          </a:stretch>
        </p:blipFill>
        <p:spPr>
          <a:xfrm>
            <a:off x="4754880" y="3410712"/>
            <a:ext cx="219456" cy="219456"/>
          </a:xfrm>
          <a:prstGeom prst="rect">
            <a:avLst/>
          </a:prstGeom>
        </p:spPr>
      </p:pic>
      <p:sp>
        <p:nvSpPr>
          <p:cNvPr id="33" name="Text 27"/>
          <p:cNvSpPr/>
          <p:nvPr/>
        </p:nvSpPr>
        <p:spPr>
          <a:xfrm>
            <a:off x="5047488" y="3419856"/>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Post-calibration: predicted probabilities align with observed test-set outcomes</a:t>
            </a:r>
            <a:endParaRPr lang="en-US" sz="900" dirty="0"/>
          </a:p>
        </p:txBody>
      </p:sp>
      <p:pic>
        <p:nvPicPr>
          <p:cNvPr id="34" name="Image 3" descr="preencoded.png">    </p:cNvPr>
          <p:cNvPicPr>
            <a:picLocks noChangeAspect="1"/>
          </p:cNvPicPr>
          <p:nvPr/>
        </p:nvPicPr>
        <p:blipFill>
          <a:blip r:embed="rId5"/>
          <a:stretch>
            <a:fillRect/>
          </a:stretch>
        </p:blipFill>
        <p:spPr>
          <a:xfrm>
            <a:off x="4754880" y="3721608"/>
            <a:ext cx="219456" cy="219456"/>
          </a:xfrm>
          <a:prstGeom prst="rect">
            <a:avLst/>
          </a:prstGeom>
        </p:spPr>
      </p:pic>
      <p:sp>
        <p:nvSpPr>
          <p:cNvPr id="35" name="Text 28"/>
          <p:cNvSpPr/>
          <p:nvPr/>
        </p:nvSpPr>
        <p:spPr>
          <a:xfrm>
            <a:off x="5047488" y="3730752"/>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70.4% real-world match rate: 19 of 27 survey respondents correctly classified</a:t>
            </a:r>
            <a:endParaRPr lang="en-US" sz="900" dirty="0"/>
          </a:p>
        </p:txBody>
      </p:sp>
      <p:pic>
        <p:nvPicPr>
          <p:cNvPr id="36" name="Image 4" descr="preencoded.png">    </p:cNvPr>
          <p:cNvPicPr>
            <a:picLocks noChangeAspect="1"/>
          </p:cNvPicPr>
          <p:nvPr/>
        </p:nvPicPr>
        <p:blipFill>
          <a:blip r:embed="rId6"/>
          <a:stretch>
            <a:fillRect/>
          </a:stretch>
        </p:blipFill>
        <p:spPr>
          <a:xfrm>
            <a:off x="4754880" y="4032504"/>
            <a:ext cx="219456" cy="219456"/>
          </a:xfrm>
          <a:prstGeom prst="rect">
            <a:avLst/>
          </a:prstGeom>
        </p:spPr>
      </p:pic>
      <p:sp>
        <p:nvSpPr>
          <p:cNvPr id="37" name="Text 29"/>
          <p:cNvSpPr/>
          <p:nvPr/>
        </p:nvSpPr>
        <p:spPr>
          <a:xfrm>
            <a:off x="5047488" y="4041648"/>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Cox PH model: outputs 1, 2, and 3-year survival curves per business</a:t>
            </a:r>
            <a:endParaRPr lang="en-US" sz="900" dirty="0"/>
          </a:p>
        </p:txBody>
      </p:sp>
      <p:pic>
        <p:nvPicPr>
          <p:cNvPr id="38" name="Image 5" descr="preencoded.png">    </p:cNvPr>
          <p:cNvPicPr>
            <a:picLocks noChangeAspect="1"/>
          </p:cNvPicPr>
          <p:nvPr/>
        </p:nvPicPr>
        <p:blipFill>
          <a:blip r:embed="rId7"/>
          <a:stretch>
            <a:fillRect/>
          </a:stretch>
        </p:blipFill>
        <p:spPr>
          <a:xfrm>
            <a:off x="4754880" y="4343400"/>
            <a:ext cx="219456" cy="219456"/>
          </a:xfrm>
          <a:prstGeom prst="rect">
            <a:avLst/>
          </a:prstGeom>
        </p:spPr>
      </p:pic>
      <p:sp>
        <p:nvSpPr>
          <p:cNvPr id="39" name="Text 30"/>
          <p:cNvSpPr/>
          <p:nvPr/>
        </p:nvSpPr>
        <p:spPr>
          <a:xfrm>
            <a:off x="5047488" y="4352544"/>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Top SHAP factors for above-average profit: capital 1–5M CFA, Douala/Yaounde, formal records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Key Findings (Part 2) — System Performance</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Platform performance, testing, and deployment results</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274320" y="1024128"/>
            <a:ext cx="1554480" cy="914400"/>
          </a:xfrm>
          <a:prstGeom prst="rect">
            <a:avLst/>
          </a:prstGeom>
          <a:solidFill>
            <a:srgbClr val="059669"/>
          </a:solidFill>
          <a:ln w="12700">
            <a:solidFill>
              <a:srgbClr val="059669"/>
            </a:solidFill>
            <a:prstDash val="solid"/>
          </a:ln>
        </p:spPr>
      </p:sp>
      <p:sp>
        <p:nvSpPr>
          <p:cNvPr id="10" name="Text 8"/>
          <p:cNvSpPr/>
          <p:nvPr/>
        </p:nvSpPr>
        <p:spPr>
          <a:xfrm>
            <a:off x="274320" y="1051560"/>
            <a:ext cx="1554480" cy="530352"/>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43ms</a:t>
            </a:r>
            <a:endParaRPr lang="en-US" sz="2600" dirty="0"/>
          </a:p>
        </p:txBody>
      </p:sp>
      <p:sp>
        <p:nvSpPr>
          <p:cNvPr id="11" name="Text 9"/>
          <p:cNvSpPr/>
          <p:nvPr/>
        </p:nvSpPr>
        <p:spPr>
          <a:xfrm>
            <a:off x="274320" y="1581912"/>
            <a:ext cx="1554480" cy="310896"/>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Cache HIT</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response time</a:t>
            </a:r>
            <a:endParaRPr lang="en-US" sz="800" dirty="0"/>
          </a:p>
        </p:txBody>
      </p:sp>
      <p:sp>
        <p:nvSpPr>
          <p:cNvPr id="12" name="Shape 10"/>
          <p:cNvSpPr/>
          <p:nvPr/>
        </p:nvSpPr>
        <p:spPr>
          <a:xfrm>
            <a:off x="2011680" y="1024128"/>
            <a:ext cx="1554480" cy="914400"/>
          </a:xfrm>
          <a:prstGeom prst="rect">
            <a:avLst/>
          </a:prstGeom>
          <a:solidFill>
            <a:srgbClr val="0D7C8F"/>
          </a:solidFill>
          <a:ln w="12700">
            <a:solidFill>
              <a:srgbClr val="0D7C8F"/>
            </a:solidFill>
            <a:prstDash val="solid"/>
          </a:ln>
        </p:spPr>
      </p:sp>
      <p:sp>
        <p:nvSpPr>
          <p:cNvPr id="13" name="Text 11"/>
          <p:cNvSpPr/>
          <p:nvPr/>
        </p:nvSpPr>
        <p:spPr>
          <a:xfrm>
            <a:off x="2011680" y="1051560"/>
            <a:ext cx="1554480" cy="530352"/>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847ms</a:t>
            </a:r>
            <a:endParaRPr lang="en-US" sz="2600" dirty="0"/>
          </a:p>
        </p:txBody>
      </p:sp>
      <p:sp>
        <p:nvSpPr>
          <p:cNvPr id="14" name="Text 12"/>
          <p:cNvSpPr/>
          <p:nvPr/>
        </p:nvSpPr>
        <p:spPr>
          <a:xfrm>
            <a:off x="2011680" y="1581912"/>
            <a:ext cx="1554480" cy="310896"/>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Cache MISS</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(cold prediction)</a:t>
            </a:r>
            <a:endParaRPr lang="en-US" sz="800" dirty="0"/>
          </a:p>
        </p:txBody>
      </p:sp>
      <p:sp>
        <p:nvSpPr>
          <p:cNvPr id="15" name="Shape 13"/>
          <p:cNvSpPr/>
          <p:nvPr/>
        </p:nvSpPr>
        <p:spPr>
          <a:xfrm>
            <a:off x="3749040" y="1024128"/>
            <a:ext cx="1554480" cy="914400"/>
          </a:xfrm>
          <a:prstGeom prst="rect">
            <a:avLst/>
          </a:prstGeom>
          <a:solidFill>
            <a:srgbClr val="112244"/>
          </a:solidFill>
          <a:ln w="12700">
            <a:solidFill>
              <a:srgbClr val="112244"/>
            </a:solidFill>
            <a:prstDash val="solid"/>
          </a:ln>
        </p:spPr>
      </p:sp>
      <p:sp>
        <p:nvSpPr>
          <p:cNvPr id="16" name="Text 14"/>
          <p:cNvSpPr/>
          <p:nvPr/>
        </p:nvSpPr>
        <p:spPr>
          <a:xfrm>
            <a:off x="3749040" y="1051560"/>
            <a:ext cx="1554480" cy="530352"/>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1.8s</a:t>
            </a:r>
            <a:endParaRPr lang="en-US" sz="2600" dirty="0"/>
          </a:p>
        </p:txBody>
      </p:sp>
      <p:sp>
        <p:nvSpPr>
          <p:cNvPr id="17" name="Text 15"/>
          <p:cNvSpPr/>
          <p:nvPr/>
        </p:nvSpPr>
        <p:spPr>
          <a:xfrm>
            <a:off x="3749040" y="1581912"/>
            <a:ext cx="1554480" cy="310896"/>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Groq advisory</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avg generation</a:t>
            </a:r>
            <a:endParaRPr lang="en-US" sz="800" dirty="0"/>
          </a:p>
        </p:txBody>
      </p:sp>
      <p:sp>
        <p:nvSpPr>
          <p:cNvPr id="18" name="Shape 16"/>
          <p:cNvSpPr/>
          <p:nvPr/>
        </p:nvSpPr>
        <p:spPr>
          <a:xfrm>
            <a:off x="5486400" y="1024128"/>
            <a:ext cx="1554480" cy="914400"/>
          </a:xfrm>
          <a:prstGeom prst="rect">
            <a:avLst/>
          </a:prstGeom>
          <a:solidFill>
            <a:srgbClr val="F59E0B"/>
          </a:solidFill>
          <a:ln w="12700">
            <a:solidFill>
              <a:srgbClr val="F59E0B"/>
            </a:solidFill>
            <a:prstDash val="solid"/>
          </a:ln>
        </p:spPr>
      </p:sp>
      <p:sp>
        <p:nvSpPr>
          <p:cNvPr id="19" name="Text 17"/>
          <p:cNvSpPr/>
          <p:nvPr/>
        </p:nvSpPr>
        <p:spPr>
          <a:xfrm>
            <a:off x="5486400" y="1051560"/>
            <a:ext cx="1554480" cy="530352"/>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2.6s</a:t>
            </a:r>
            <a:endParaRPr lang="en-US" sz="2600" dirty="0"/>
          </a:p>
        </p:txBody>
      </p:sp>
      <p:sp>
        <p:nvSpPr>
          <p:cNvPr id="20" name="Text 18"/>
          <p:cNvSpPr/>
          <p:nvPr/>
        </p:nvSpPr>
        <p:spPr>
          <a:xfrm>
            <a:off x="5486400" y="1581912"/>
            <a:ext cx="1554480" cy="310896"/>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Full end-to-end</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(warm cache)</a:t>
            </a:r>
            <a:endParaRPr lang="en-US" sz="800" dirty="0"/>
          </a:p>
        </p:txBody>
      </p:sp>
      <p:sp>
        <p:nvSpPr>
          <p:cNvPr id="21" name="Shape 19"/>
          <p:cNvSpPr/>
          <p:nvPr/>
        </p:nvSpPr>
        <p:spPr>
          <a:xfrm>
            <a:off x="7223760" y="1024128"/>
            <a:ext cx="1554480" cy="914400"/>
          </a:xfrm>
          <a:prstGeom prst="rect">
            <a:avLst/>
          </a:prstGeom>
          <a:solidFill>
            <a:srgbClr val="DC2626"/>
          </a:solidFill>
          <a:ln w="12700">
            <a:solidFill>
              <a:srgbClr val="DC2626"/>
            </a:solidFill>
            <a:prstDash val="solid"/>
          </a:ln>
        </p:spPr>
      </p:sp>
      <p:sp>
        <p:nvSpPr>
          <p:cNvPr id="22" name="Text 20"/>
          <p:cNvSpPr/>
          <p:nvPr/>
        </p:nvSpPr>
        <p:spPr>
          <a:xfrm>
            <a:off x="7223760" y="1051560"/>
            <a:ext cx="1554480" cy="530352"/>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~20x</a:t>
            </a:r>
            <a:endParaRPr lang="en-US" sz="2600" dirty="0"/>
          </a:p>
        </p:txBody>
      </p:sp>
      <p:sp>
        <p:nvSpPr>
          <p:cNvPr id="23" name="Text 21"/>
          <p:cNvSpPr/>
          <p:nvPr/>
        </p:nvSpPr>
        <p:spPr>
          <a:xfrm>
            <a:off x="7223760" y="1581912"/>
            <a:ext cx="1554480" cy="310896"/>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Cache speed</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improvement</a:t>
            </a:r>
            <a:endParaRPr lang="en-US" sz="800" dirty="0"/>
          </a:p>
        </p:txBody>
      </p:sp>
      <p:graphicFrame>
        <p:nvGraphicFramePr>
          <p:cNvPr id="24" name="Chart 0" descr=""/>
          <p:cNvGraphicFramePr/>
          <p:nvPr/>
        </p:nvGraphicFramePr>
        <p:xfrm>
          <a:off x="274320" y="2084832"/>
          <a:ext cx="4114800" cy="2606040"/>
        </p:xfrm>
        <a:graphic xmlns:a="http://schemas.openxmlformats.org/drawingml/2006/main">
          <a:graphicData uri="http://schemas.openxmlformats.org/drawingml/2006/chart">
            <c:chart xmlns:c="http://schemas.openxmlformats.org/drawingml/2006/chart" r:id="rId1"/>
          </a:graphicData>
        </a:graphic>
      </p:graphicFrame>
      <p:sp>
        <p:nvSpPr>
          <p:cNvPr id="25" name="Shape 22"/>
          <p:cNvSpPr/>
          <p:nvPr/>
        </p:nvSpPr>
        <p:spPr>
          <a:xfrm>
            <a:off x="4663440" y="2084832"/>
            <a:ext cx="4160520" cy="2606040"/>
          </a:xfrm>
          <a:prstGeom prst="rect">
            <a:avLst/>
          </a:prstGeom>
          <a:solidFill>
            <a:srgbClr val="FFFFFF"/>
          </a:solidFill>
          <a:ln w="9525">
            <a:solidFill>
              <a:srgbClr val="E2EDF2"/>
            </a:solidFill>
            <a:prstDash val="solid"/>
          </a:ln>
        </p:spPr>
      </p:sp>
      <p:sp>
        <p:nvSpPr>
          <p:cNvPr id="26" name="Text 23"/>
          <p:cNvSpPr/>
          <p:nvPr/>
        </p:nvSpPr>
        <p:spPr>
          <a:xfrm>
            <a:off x="4754880" y="2176272"/>
            <a:ext cx="3931920" cy="274320"/>
          </a:xfrm>
          <a:prstGeom prst="rect">
            <a:avLst/>
          </a:prstGeom>
          <a:noFill/>
          <a:ln/>
        </p:spPr>
        <p:txBody>
          <a:bodyPr wrap="square" lIns="0" tIns="0" rIns="0" bIns="0" rtlCol="0" anchor="ctr"/>
          <a:lstStyle/>
          <a:p>
            <a:pPr indent="0" marL="0">
              <a:buNone/>
            </a:pPr>
            <a:r>
              <a:rPr lang="en-US" sz="1100" b="1" dirty="0">
                <a:solidFill>
                  <a:srgbClr val="0A1931"/>
                </a:solidFill>
                <a:latin typeface="Calibri" pitchFamily="34" charset="0"/>
                <a:ea typeface="Calibri" pitchFamily="34" charset="-122"/>
                <a:cs typeface="Calibri" pitchFamily="34" charset="-120"/>
              </a:rPr>
              <a:t>Deployment &amp; Defects Resolved</a:t>
            </a:r>
            <a:endParaRPr lang="en-US" sz="1100" dirty="0"/>
          </a:p>
        </p:txBody>
      </p:sp>
      <p:pic>
        <p:nvPicPr>
          <p:cNvPr id="27" name="Image 0" descr="preencoded.png">    </p:cNvPr>
          <p:cNvPicPr>
            <a:picLocks noChangeAspect="1"/>
          </p:cNvPicPr>
          <p:nvPr/>
        </p:nvPicPr>
        <p:blipFill>
          <a:blip r:embed="rId2"/>
          <a:stretch>
            <a:fillRect/>
          </a:stretch>
        </p:blipFill>
        <p:spPr>
          <a:xfrm>
            <a:off x="4754880" y="2523744"/>
            <a:ext cx="219456" cy="219456"/>
          </a:xfrm>
          <a:prstGeom prst="rect">
            <a:avLst/>
          </a:prstGeom>
        </p:spPr>
      </p:pic>
      <p:sp>
        <p:nvSpPr>
          <p:cNvPr id="28" name="Text 24"/>
          <p:cNvSpPr/>
          <p:nvPr/>
        </p:nvSpPr>
        <p:spPr>
          <a:xfrm>
            <a:off x="5047488" y="2532888"/>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Backend deployed on Render.com (Docker, CI on every push to main)</a:t>
            </a:r>
            <a:endParaRPr lang="en-US" sz="900" dirty="0"/>
          </a:p>
        </p:txBody>
      </p:sp>
      <p:pic>
        <p:nvPicPr>
          <p:cNvPr id="29" name="Image 1" descr="preencoded.png">    </p:cNvPr>
          <p:cNvPicPr>
            <a:picLocks noChangeAspect="1"/>
          </p:cNvPicPr>
          <p:nvPr/>
        </p:nvPicPr>
        <p:blipFill>
          <a:blip r:embed="rId3"/>
          <a:stretch>
            <a:fillRect/>
          </a:stretch>
        </p:blipFill>
        <p:spPr>
          <a:xfrm>
            <a:off x="4754880" y="2834640"/>
            <a:ext cx="219456" cy="219456"/>
          </a:xfrm>
          <a:prstGeom prst="rect">
            <a:avLst/>
          </a:prstGeom>
        </p:spPr>
      </p:pic>
      <p:sp>
        <p:nvSpPr>
          <p:cNvPr id="30" name="Text 25"/>
          <p:cNvSpPr/>
          <p:nvPr/>
        </p:nvSpPr>
        <p:spPr>
          <a:xfrm>
            <a:off x="5047488" y="2843784"/>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Next.js web dashboard deployed on Vercel</a:t>
            </a:r>
            <a:endParaRPr lang="en-US" sz="900" dirty="0"/>
          </a:p>
        </p:txBody>
      </p:sp>
      <p:pic>
        <p:nvPicPr>
          <p:cNvPr id="31" name="Image 2" descr="preencoded.png">    </p:cNvPr>
          <p:cNvPicPr>
            <a:picLocks noChangeAspect="1"/>
          </p:cNvPicPr>
          <p:nvPr/>
        </p:nvPicPr>
        <p:blipFill>
          <a:blip r:embed="rId4"/>
          <a:stretch>
            <a:fillRect/>
          </a:stretch>
        </p:blipFill>
        <p:spPr>
          <a:xfrm>
            <a:off x="4754880" y="3145536"/>
            <a:ext cx="219456" cy="219456"/>
          </a:xfrm>
          <a:prstGeom prst="rect">
            <a:avLst/>
          </a:prstGeom>
        </p:spPr>
      </p:pic>
      <p:sp>
        <p:nvSpPr>
          <p:cNvPr id="32" name="Text 26"/>
          <p:cNvSpPr/>
          <p:nvPr/>
        </p:nvSpPr>
        <p:spPr>
          <a:xfrm>
            <a:off x="5047488" y="3154680"/>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React Native APK built via Expo Application Services</a:t>
            </a:r>
            <a:endParaRPr lang="en-US" sz="900" dirty="0"/>
          </a:p>
        </p:txBody>
      </p:sp>
      <p:pic>
        <p:nvPicPr>
          <p:cNvPr id="33" name="Image 3" descr="preencoded.png">    </p:cNvPr>
          <p:cNvPicPr>
            <a:picLocks noChangeAspect="1"/>
          </p:cNvPicPr>
          <p:nvPr/>
        </p:nvPicPr>
        <p:blipFill>
          <a:blip r:embed="rId5"/>
          <a:stretch>
            <a:fillRect/>
          </a:stretch>
        </p:blipFill>
        <p:spPr>
          <a:xfrm>
            <a:off x="4754880" y="3456432"/>
            <a:ext cx="219456" cy="219456"/>
          </a:xfrm>
          <a:prstGeom prst="rect">
            <a:avLst/>
          </a:prstGeom>
        </p:spPr>
      </p:pic>
      <p:sp>
        <p:nvSpPr>
          <p:cNvPr id="34" name="Text 27"/>
          <p:cNvSpPr/>
          <p:nvPr/>
        </p:nvSpPr>
        <p:spPr>
          <a:xfrm>
            <a:off x="5047488" y="3465576"/>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Cold-start defect (4.5s idle delay) resolved with FastAPI lifespan keep-alive task pinging Groq every 10 min</a:t>
            </a:r>
            <a:endParaRPr lang="en-US" sz="900" dirty="0"/>
          </a:p>
        </p:txBody>
      </p:sp>
      <p:pic>
        <p:nvPicPr>
          <p:cNvPr id="35" name="Image 4" descr="preencoded.png">    </p:cNvPr>
          <p:cNvPicPr>
            <a:picLocks noChangeAspect="1"/>
          </p:cNvPicPr>
          <p:nvPr/>
        </p:nvPicPr>
        <p:blipFill>
          <a:blip r:embed="rId6"/>
          <a:stretch>
            <a:fillRect/>
          </a:stretch>
        </p:blipFill>
        <p:spPr>
          <a:xfrm>
            <a:off x="4754880" y="3767328"/>
            <a:ext cx="219456" cy="219456"/>
          </a:xfrm>
          <a:prstGeom prst="rect">
            <a:avLst/>
          </a:prstGeom>
        </p:spPr>
      </p:pic>
      <p:sp>
        <p:nvSpPr>
          <p:cNvPr id="36" name="Text 28"/>
          <p:cNvSpPr/>
          <p:nvPr/>
        </p:nvSpPr>
        <p:spPr>
          <a:xfrm>
            <a:off x="5047488" y="3776472"/>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Redis cache: 43ms vs 847ms — confirmed in INT-05 integration test</a:t>
            </a:r>
            <a:endParaRPr lang="en-US" sz="900" dirty="0"/>
          </a:p>
        </p:txBody>
      </p:sp>
      <p:pic>
        <p:nvPicPr>
          <p:cNvPr id="37" name="Image 5" descr="preencoded.png">    </p:cNvPr>
          <p:cNvPicPr>
            <a:picLocks noChangeAspect="1"/>
          </p:cNvPicPr>
          <p:nvPr/>
        </p:nvPicPr>
        <p:blipFill>
          <a:blip r:embed="rId7"/>
          <a:stretch>
            <a:fillRect/>
          </a:stretch>
        </p:blipFill>
        <p:spPr>
          <a:xfrm>
            <a:off x="4754880" y="4078224"/>
            <a:ext cx="219456" cy="219456"/>
          </a:xfrm>
          <a:prstGeom prst="rect">
            <a:avLst/>
          </a:prstGeom>
        </p:spPr>
      </p:pic>
      <p:sp>
        <p:nvSpPr>
          <p:cNvPr id="38" name="Text 29"/>
          <p:cNvSpPr/>
          <p:nvPr/>
        </p:nvSpPr>
        <p:spPr>
          <a:xfrm>
            <a:off x="5047488" y="4087368"/>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Groq JSON mode: 100% structured-parse success rate across 50 test calls</a:t>
            </a:r>
            <a:endParaRPr lang="en-US" sz="900" dirty="0"/>
          </a:p>
        </p:txBody>
      </p:sp>
      <p:pic>
        <p:nvPicPr>
          <p:cNvPr id="39" name="Image 6" descr="preencoded.png">    </p:cNvPr>
          <p:cNvPicPr>
            <a:picLocks noChangeAspect="1"/>
          </p:cNvPicPr>
          <p:nvPr/>
        </p:nvPicPr>
        <p:blipFill>
          <a:blip r:embed="rId8"/>
          <a:stretch>
            <a:fillRect/>
          </a:stretch>
        </p:blipFill>
        <p:spPr>
          <a:xfrm>
            <a:off x="4754880" y="4389120"/>
            <a:ext cx="219456" cy="219456"/>
          </a:xfrm>
          <a:prstGeom prst="rect">
            <a:avLst/>
          </a:prstGeom>
        </p:spPr>
      </p:pic>
      <p:sp>
        <p:nvSpPr>
          <p:cNvPr id="40" name="Text 30"/>
          <p:cNvSpPr/>
          <p:nvPr/>
        </p:nvSpPr>
        <p:spPr>
          <a:xfrm>
            <a:off x="5047488" y="4398264"/>
            <a:ext cx="3657600" cy="256032"/>
          </a:xfrm>
          <a:prstGeom prst="rect">
            <a:avLst/>
          </a:prstGeom>
          <a:noFill/>
          <a:ln/>
        </p:spPr>
        <p:txBody>
          <a:bodyPr wrap="square" lIns="0" tIns="0" rIns="0" bIns="0" rtlCol="0" anchor="ctr"/>
          <a:lstStyle/>
          <a:p>
            <a:pPr indent="0" marL="0">
              <a:buNone/>
            </a:pPr>
            <a:r>
              <a:rPr lang="en-US" sz="900" dirty="0">
                <a:solidFill>
                  <a:srgbClr val="3A5068"/>
                </a:solidFill>
                <a:latin typeface="Calibri" pitchFamily="34" charset="0"/>
                <a:ea typeface="Calibri" pitchFamily="34" charset="-122"/>
                <a:cs typeface="Calibri" pitchFamily="34" charset="-120"/>
              </a:rPr>
              <a:t>Real-world match rate 70.4% — 19/27 survey respondents correctly classified</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Discussion of Findings</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Interpreting results in the context of existing literature</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320040" y="1024128"/>
            <a:ext cx="4160520" cy="1792224"/>
          </a:xfrm>
          <a:prstGeom prst="rect">
            <a:avLst/>
          </a:prstGeom>
          <a:solidFill>
            <a:srgbClr val="FFFFFF"/>
          </a:solidFill>
          <a:ln w="9525">
            <a:solidFill>
              <a:srgbClr val="E2EDF2"/>
            </a:solidFill>
            <a:prstDash val="solid"/>
          </a:ln>
        </p:spPr>
      </p:sp>
      <p:sp>
        <p:nvSpPr>
          <p:cNvPr id="10" name="Shape 8"/>
          <p:cNvSpPr/>
          <p:nvPr/>
        </p:nvSpPr>
        <p:spPr>
          <a:xfrm>
            <a:off x="320040" y="1024128"/>
            <a:ext cx="4160520" cy="384048"/>
          </a:xfrm>
          <a:prstGeom prst="rect">
            <a:avLst/>
          </a:prstGeom>
          <a:solidFill>
            <a:srgbClr val="0D7C8F"/>
          </a:solidFill>
          <a:ln w="12700">
            <a:solidFill>
              <a:srgbClr val="0D7C8F"/>
            </a:solidFill>
            <a:prstDash val="solid"/>
          </a:ln>
        </p:spPr>
      </p:sp>
      <p:pic>
        <p:nvPicPr>
          <p:cNvPr id="11" name="Image 0" descr="preencoded.png">    </p:cNvPr>
          <p:cNvPicPr>
            <a:picLocks noChangeAspect="1"/>
          </p:cNvPicPr>
          <p:nvPr/>
        </p:nvPicPr>
        <p:blipFill>
          <a:blip r:embed="rId1"/>
          <a:stretch>
            <a:fillRect/>
          </a:stretch>
        </p:blipFill>
        <p:spPr>
          <a:xfrm>
            <a:off x="411480" y="1078992"/>
            <a:ext cx="292608" cy="292608"/>
          </a:xfrm>
          <a:prstGeom prst="rect">
            <a:avLst/>
          </a:prstGeom>
        </p:spPr>
      </p:pic>
      <p:sp>
        <p:nvSpPr>
          <p:cNvPr id="12" name="Text 9"/>
          <p:cNvSpPr/>
          <p:nvPr/>
        </p:nvSpPr>
        <p:spPr>
          <a:xfrm>
            <a:off x="795528" y="1097280"/>
            <a:ext cx="356616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ML Performance in Context</a:t>
            </a:r>
            <a:endParaRPr lang="en-US" sz="1050" dirty="0"/>
          </a:p>
        </p:txBody>
      </p:sp>
      <p:sp>
        <p:nvSpPr>
          <p:cNvPr id="13" name="Text 10"/>
          <p:cNvSpPr/>
          <p:nvPr/>
        </p:nvSpPr>
        <p:spPr>
          <a:xfrm>
            <a:off x="429768" y="1481328"/>
            <a:ext cx="3931920" cy="1261872"/>
          </a:xfrm>
          <a:prstGeom prst="rect">
            <a:avLst/>
          </a:prstGeom>
          <a:noFill/>
          <a:ln/>
        </p:spPr>
        <p:txBody>
          <a:bodyPr wrap="square" lIns="0" tIns="0" rIns="0" bIns="0" rtlCol="0" anchor="t"/>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AUC-ROC 0.83 confirms survival prediction is feasible with limited Cameroonian data when differential sample weights are applied.</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Class imbalance (17.7% positive) was addressed without oversampling — sample weights are preferable as they preserve the natural distribution.</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Calibration matters: raw ensemble outputs were systematically overconfident. Without isotonic correction, entrepreneurs would overestimate their actual survival probability.</a:t>
            </a:r>
            <a:endParaRPr lang="en-US" sz="900" dirty="0"/>
          </a:p>
        </p:txBody>
      </p:sp>
      <p:sp>
        <p:nvSpPr>
          <p:cNvPr id="14" name="Shape 11"/>
          <p:cNvSpPr/>
          <p:nvPr/>
        </p:nvSpPr>
        <p:spPr>
          <a:xfrm>
            <a:off x="4736592" y="1024128"/>
            <a:ext cx="4160520" cy="1792224"/>
          </a:xfrm>
          <a:prstGeom prst="rect">
            <a:avLst/>
          </a:prstGeom>
          <a:solidFill>
            <a:srgbClr val="FFFFFF"/>
          </a:solidFill>
          <a:ln w="9525">
            <a:solidFill>
              <a:srgbClr val="E2EDF2"/>
            </a:solidFill>
            <a:prstDash val="solid"/>
          </a:ln>
        </p:spPr>
      </p:sp>
      <p:sp>
        <p:nvSpPr>
          <p:cNvPr id="15" name="Shape 12"/>
          <p:cNvSpPr/>
          <p:nvPr/>
        </p:nvSpPr>
        <p:spPr>
          <a:xfrm>
            <a:off x="4736592" y="1024128"/>
            <a:ext cx="4160520" cy="384048"/>
          </a:xfrm>
          <a:prstGeom prst="rect">
            <a:avLst/>
          </a:prstGeom>
          <a:solidFill>
            <a:srgbClr val="112244"/>
          </a:solidFill>
          <a:ln w="12700">
            <a:solidFill>
              <a:srgbClr val="112244"/>
            </a:solidFill>
            <a:prstDash val="solid"/>
          </a:ln>
        </p:spPr>
      </p:sp>
      <p:pic>
        <p:nvPicPr>
          <p:cNvPr id="16" name="Image 1" descr="preencoded.png">    </p:cNvPr>
          <p:cNvPicPr>
            <a:picLocks noChangeAspect="1"/>
          </p:cNvPicPr>
          <p:nvPr/>
        </p:nvPicPr>
        <p:blipFill>
          <a:blip r:embed="rId2"/>
          <a:stretch>
            <a:fillRect/>
          </a:stretch>
        </p:blipFill>
        <p:spPr>
          <a:xfrm>
            <a:off x="4828032" y="1078992"/>
            <a:ext cx="292608" cy="292608"/>
          </a:xfrm>
          <a:prstGeom prst="rect">
            <a:avLst/>
          </a:prstGeom>
        </p:spPr>
      </p:pic>
      <p:sp>
        <p:nvSpPr>
          <p:cNvPr id="17" name="Text 13"/>
          <p:cNvSpPr/>
          <p:nvPr/>
        </p:nvSpPr>
        <p:spPr>
          <a:xfrm>
            <a:off x="5212080" y="1097280"/>
            <a:ext cx="356616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Survival Analysis Added Dimension</a:t>
            </a:r>
            <a:endParaRPr lang="en-US" sz="1050" dirty="0"/>
          </a:p>
        </p:txBody>
      </p:sp>
      <p:sp>
        <p:nvSpPr>
          <p:cNvPr id="18" name="Text 14"/>
          <p:cNvSpPr/>
          <p:nvPr/>
        </p:nvSpPr>
        <p:spPr>
          <a:xfrm>
            <a:off x="4846320" y="1481328"/>
            <a:ext cx="3931920" cy="1261872"/>
          </a:xfrm>
          <a:prstGeom prst="rect">
            <a:avLst/>
          </a:prstGeom>
          <a:noFill/>
          <a:ln/>
        </p:spPr>
        <p:txBody>
          <a:bodyPr wrap="square" lIns="0" tIns="0" rIns="0" bIns="0" rtlCol="0" anchor="t"/>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Cox PH complemented binary classification by answering not just 'will this business fail?' but 'when?' — a more actionable output for planning.</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This aligns with Cox (1972): time-to-event modelling provides richer decision context than classification alone.</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Entrepreneurs with a 12-month failure estimate can pivot before closure; a binary 'High Risk' label may not prompt the same urgency.</a:t>
            </a:r>
            <a:endParaRPr lang="en-US" sz="900" dirty="0"/>
          </a:p>
        </p:txBody>
      </p:sp>
      <p:sp>
        <p:nvSpPr>
          <p:cNvPr id="19" name="Shape 15"/>
          <p:cNvSpPr/>
          <p:nvPr/>
        </p:nvSpPr>
        <p:spPr>
          <a:xfrm>
            <a:off x="320040" y="2962656"/>
            <a:ext cx="4160520" cy="1792224"/>
          </a:xfrm>
          <a:prstGeom prst="rect">
            <a:avLst/>
          </a:prstGeom>
          <a:solidFill>
            <a:srgbClr val="FFFFFF"/>
          </a:solidFill>
          <a:ln w="9525">
            <a:solidFill>
              <a:srgbClr val="E2EDF2"/>
            </a:solidFill>
            <a:prstDash val="solid"/>
          </a:ln>
        </p:spPr>
      </p:sp>
      <p:sp>
        <p:nvSpPr>
          <p:cNvPr id="20" name="Shape 16"/>
          <p:cNvSpPr/>
          <p:nvPr/>
        </p:nvSpPr>
        <p:spPr>
          <a:xfrm>
            <a:off x="320040" y="2962656"/>
            <a:ext cx="4160520" cy="384048"/>
          </a:xfrm>
          <a:prstGeom prst="rect">
            <a:avLst/>
          </a:prstGeom>
          <a:solidFill>
            <a:srgbClr val="F59E0B"/>
          </a:solidFill>
          <a:ln w="12700">
            <a:solidFill>
              <a:srgbClr val="F59E0B"/>
            </a:solidFill>
            <a:prstDash val="solid"/>
          </a:ln>
        </p:spPr>
      </p:sp>
      <p:pic>
        <p:nvPicPr>
          <p:cNvPr id="21" name="Image 2" descr="preencoded.png">    </p:cNvPr>
          <p:cNvPicPr>
            <a:picLocks noChangeAspect="1"/>
          </p:cNvPicPr>
          <p:nvPr/>
        </p:nvPicPr>
        <p:blipFill>
          <a:blip r:embed="rId3"/>
          <a:stretch>
            <a:fillRect/>
          </a:stretch>
        </p:blipFill>
        <p:spPr>
          <a:xfrm>
            <a:off x="411480" y="3017520"/>
            <a:ext cx="292608" cy="292608"/>
          </a:xfrm>
          <a:prstGeom prst="rect">
            <a:avLst/>
          </a:prstGeom>
        </p:spPr>
      </p:pic>
      <p:sp>
        <p:nvSpPr>
          <p:cNvPr id="22" name="Text 17"/>
          <p:cNvSpPr/>
          <p:nvPr/>
        </p:nvSpPr>
        <p:spPr>
          <a:xfrm>
            <a:off x="795528" y="3035808"/>
            <a:ext cx="356616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LLM Advisory Bridged the Last Mile</a:t>
            </a:r>
            <a:endParaRPr lang="en-US" sz="1050" dirty="0"/>
          </a:p>
        </p:txBody>
      </p:sp>
      <p:sp>
        <p:nvSpPr>
          <p:cNvPr id="23" name="Text 18"/>
          <p:cNvSpPr/>
          <p:nvPr/>
        </p:nvSpPr>
        <p:spPr>
          <a:xfrm>
            <a:off x="429768" y="3419856"/>
            <a:ext cx="3931920" cy="1261872"/>
          </a:xfrm>
          <a:prstGeom prst="rect">
            <a:avLst/>
          </a:prstGeom>
          <a:noFill/>
          <a:ln/>
        </p:spPr>
        <p:txBody>
          <a:bodyPr wrap="square" lIns="0" tIns="0" rIns="0" bIns="0" rtlCol="0" anchor="t"/>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Technical outputs (AUC-ROC, Brier score, SHAP values) are meaningless to most SME owners. The Groq advisory converted these into plain-language action plans.</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At 1.8s average response, LLM integration is operationally viable on a free-tier API — challenging the assumption that AI advisory requires paid enterprise infrastructure.</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70.4% real-world match rate suggests the model captures genuine business patterns, not just dataset artefacts.</a:t>
            </a:r>
            <a:endParaRPr lang="en-US" sz="900" dirty="0"/>
          </a:p>
        </p:txBody>
      </p:sp>
      <p:sp>
        <p:nvSpPr>
          <p:cNvPr id="24" name="Shape 19"/>
          <p:cNvSpPr/>
          <p:nvPr/>
        </p:nvSpPr>
        <p:spPr>
          <a:xfrm>
            <a:off x="4736592" y="2962656"/>
            <a:ext cx="4160520" cy="1792224"/>
          </a:xfrm>
          <a:prstGeom prst="rect">
            <a:avLst/>
          </a:prstGeom>
          <a:solidFill>
            <a:srgbClr val="FFFFFF"/>
          </a:solidFill>
          <a:ln w="9525">
            <a:solidFill>
              <a:srgbClr val="E2EDF2"/>
            </a:solidFill>
            <a:prstDash val="solid"/>
          </a:ln>
        </p:spPr>
      </p:sp>
      <p:sp>
        <p:nvSpPr>
          <p:cNvPr id="25" name="Shape 20"/>
          <p:cNvSpPr/>
          <p:nvPr/>
        </p:nvSpPr>
        <p:spPr>
          <a:xfrm>
            <a:off x="4736592" y="2962656"/>
            <a:ext cx="4160520" cy="384048"/>
          </a:xfrm>
          <a:prstGeom prst="rect">
            <a:avLst/>
          </a:prstGeom>
          <a:solidFill>
            <a:srgbClr val="DC2626"/>
          </a:solidFill>
          <a:ln w="12700">
            <a:solidFill>
              <a:srgbClr val="DC2626"/>
            </a:solidFill>
            <a:prstDash val="solid"/>
          </a:ln>
        </p:spPr>
      </p:sp>
      <p:pic>
        <p:nvPicPr>
          <p:cNvPr id="26" name="Image 3" descr="preencoded.png">    </p:cNvPr>
          <p:cNvPicPr>
            <a:picLocks noChangeAspect="1"/>
          </p:cNvPicPr>
          <p:nvPr/>
        </p:nvPicPr>
        <p:blipFill>
          <a:blip r:embed="rId4"/>
          <a:stretch>
            <a:fillRect/>
          </a:stretch>
        </p:blipFill>
        <p:spPr>
          <a:xfrm>
            <a:off x="4828032" y="3017520"/>
            <a:ext cx="292608" cy="292608"/>
          </a:xfrm>
          <a:prstGeom prst="rect">
            <a:avLst/>
          </a:prstGeom>
        </p:spPr>
      </p:pic>
      <p:sp>
        <p:nvSpPr>
          <p:cNvPr id="27" name="Text 21"/>
          <p:cNvSpPr/>
          <p:nvPr/>
        </p:nvSpPr>
        <p:spPr>
          <a:xfrm>
            <a:off x="5212080" y="3035808"/>
            <a:ext cx="356616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Architecture Decisions Validated</a:t>
            </a:r>
            <a:endParaRPr lang="en-US" sz="1050" dirty="0"/>
          </a:p>
        </p:txBody>
      </p:sp>
      <p:sp>
        <p:nvSpPr>
          <p:cNvPr id="28" name="Text 22"/>
          <p:cNvSpPr/>
          <p:nvPr/>
        </p:nvSpPr>
        <p:spPr>
          <a:xfrm>
            <a:off x="4846320" y="3419856"/>
            <a:ext cx="3931920" cy="1261872"/>
          </a:xfrm>
          <a:prstGeom prst="rect">
            <a:avLst/>
          </a:prstGeom>
          <a:noFill/>
          <a:ln/>
        </p:spPr>
        <p:txBody>
          <a:bodyPr wrap="square" lIns="0" tIns="0" rIns="0" bIns="0" rtlCol="0" anchor="t"/>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Redis cache-aside pattern reduced latency by 20x — critical for mobile users on metered data connections.</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Three-tier architecture (React Native + FastAPI + Supabase) enabled parallel front-end and back-end development across 8 Agile sprints.</a:t>
            </a:r>
            <a:endParaRPr lang="en-US" sz="900" dirty="0"/>
          </a:p>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The cold-start defect exposed a real-world limitation of serverless/free-tier deployments — the keep-alive fix is production-relevant beyond this project.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931"/>
          </a:solidFill>
          <a:ln w="12700">
            <a:solidFill>
              <a:srgbClr val="0A1931"/>
            </a:solidFill>
            <a:prstDash val="solid"/>
          </a:ln>
        </p:spPr>
      </p:sp>
      <p:sp>
        <p:nvSpPr>
          <p:cNvPr id="3" name="Shape 1"/>
          <p:cNvSpPr/>
          <p:nvPr/>
        </p:nvSpPr>
        <p:spPr>
          <a:xfrm>
            <a:off x="0" y="0"/>
            <a:ext cx="9144000" cy="54864"/>
          </a:xfrm>
          <a:prstGeom prst="rect">
            <a:avLst/>
          </a:prstGeom>
          <a:solidFill>
            <a:srgbClr val="0EA5C0"/>
          </a:solidFill>
          <a:ln w="12700">
            <a:solidFill>
              <a:srgbClr val="0EA5C0"/>
            </a:solidFill>
            <a:prstDash val="solid"/>
          </a:ln>
        </p:spPr>
      </p:sp>
      <p:sp>
        <p:nvSpPr>
          <p:cNvPr id="4" name="Shape 2"/>
          <p:cNvSpPr/>
          <p:nvPr/>
        </p:nvSpPr>
        <p:spPr>
          <a:xfrm>
            <a:off x="320040" y="164592"/>
            <a:ext cx="54864" cy="585216"/>
          </a:xfrm>
          <a:prstGeom prst="rect">
            <a:avLst/>
          </a:prstGeom>
          <a:solidFill>
            <a:srgbClr val="06B6D4"/>
          </a:solidFill>
          <a:ln w="12700">
            <a:solidFill>
              <a:srgbClr val="06B6D4"/>
            </a:solidFill>
            <a:prstDash val="solid"/>
          </a:ln>
        </p:spPr>
      </p:sp>
      <p:sp>
        <p:nvSpPr>
          <p:cNvPr id="5" name="Text 3"/>
          <p:cNvSpPr/>
          <p:nvPr/>
        </p:nvSpPr>
        <p:spPr>
          <a:xfrm>
            <a:off x="502920" y="109728"/>
            <a:ext cx="78638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Conclusions &amp; Recommendations</a:t>
            </a:r>
            <a:endParaRPr lang="en-US" sz="2000" dirty="0"/>
          </a:p>
        </p:txBody>
      </p:sp>
      <p:sp>
        <p:nvSpPr>
          <p:cNvPr id="6" name="Text 4"/>
          <p:cNvSpPr/>
          <p:nvPr/>
        </p:nvSpPr>
        <p:spPr>
          <a:xfrm>
            <a:off x="502920" y="566928"/>
            <a:ext cx="7863840" cy="274320"/>
          </a:xfrm>
          <a:prstGeom prst="rect">
            <a:avLst/>
          </a:prstGeom>
          <a:noFill/>
          <a:ln/>
        </p:spPr>
        <p:txBody>
          <a:bodyPr wrap="square" lIns="0" tIns="0" rIns="0" bIns="0" rtlCol="0" anchor="ctr"/>
          <a:lstStyle/>
          <a:p>
            <a:pPr indent="0" marL="0">
              <a:buNone/>
            </a:pPr>
            <a:r>
              <a:rPr lang="en-US" sz="1100" dirty="0">
                <a:solidFill>
                  <a:srgbClr val="0EA5C0"/>
                </a:solidFill>
                <a:latin typeface="Calibri" pitchFamily="34" charset="0"/>
                <a:ea typeface="Calibri" pitchFamily="34" charset="-122"/>
                <a:cs typeface="Calibri" pitchFamily="34" charset="-120"/>
              </a:rPr>
              <a:t>What was achieved and what comes next</a:t>
            </a:r>
            <a:endParaRPr lang="en-US" sz="1100" dirty="0"/>
          </a:p>
        </p:txBody>
      </p:sp>
      <p:sp>
        <p:nvSpPr>
          <p:cNvPr id="7" name="Shape 5"/>
          <p:cNvSpPr/>
          <p:nvPr/>
        </p:nvSpPr>
        <p:spPr>
          <a:xfrm>
            <a:off x="0" y="4937760"/>
            <a:ext cx="9144000" cy="205740"/>
          </a:xfrm>
          <a:prstGeom prst="rect">
            <a:avLst/>
          </a:prstGeom>
          <a:solidFill>
            <a:srgbClr val="0A1931"/>
          </a:solidFill>
          <a:ln w="12700">
            <a:solidFill>
              <a:srgbClr val="0A1931"/>
            </a:solidFill>
            <a:prstDash val="solid"/>
          </a:ln>
        </p:spPr>
      </p:sp>
      <p:sp>
        <p:nvSpPr>
          <p:cNvPr id="8" name="Text 6"/>
          <p:cNvSpPr/>
          <p:nvPr/>
        </p:nvSpPr>
        <p:spPr>
          <a:xfrm>
            <a:off x="365760" y="4956048"/>
            <a:ext cx="8412480" cy="173736"/>
          </a:xfrm>
          <a:prstGeom prst="rect">
            <a:avLst/>
          </a:prstGeom>
          <a:noFill/>
          <a:ln/>
        </p:spPr>
        <p:txBody>
          <a:bodyPr wrap="square" lIns="0" tIns="0" rIns="0" bIns="0" rtlCol="0" anchor="ctr"/>
          <a:lstStyle/>
          <a:p>
            <a:pPr indent="0" marL="0">
              <a:buNone/>
            </a:pPr>
            <a:r>
              <a:rPr lang="en-US" sz="800" dirty="0">
                <a:solidFill>
                  <a:srgbClr val="7A95A8"/>
                </a:solidFill>
                <a:latin typeface="Calibri" pitchFamily="34" charset="0"/>
                <a:ea typeface="Calibri" pitchFamily="34" charset="-122"/>
                <a:cs typeface="Calibri" pitchFamily="34" charset="-120"/>
              </a:rPr>
              <a:t>BizSense Operations Suite  |  University of Buea  |  2026</a:t>
            </a:r>
            <a:endParaRPr lang="en-US" sz="800" dirty="0"/>
          </a:p>
        </p:txBody>
      </p:sp>
      <p:sp>
        <p:nvSpPr>
          <p:cNvPr id="9" name="Shape 7"/>
          <p:cNvSpPr/>
          <p:nvPr/>
        </p:nvSpPr>
        <p:spPr>
          <a:xfrm>
            <a:off x="320040" y="1024128"/>
            <a:ext cx="4023360" cy="365760"/>
          </a:xfrm>
          <a:prstGeom prst="rect">
            <a:avLst/>
          </a:prstGeom>
          <a:solidFill>
            <a:srgbClr val="0A1931"/>
          </a:solidFill>
          <a:ln w="12700">
            <a:solidFill>
              <a:srgbClr val="0A1931"/>
            </a:solidFill>
            <a:prstDash val="solid"/>
          </a:ln>
        </p:spPr>
      </p:sp>
      <p:sp>
        <p:nvSpPr>
          <p:cNvPr id="10" name="Text 8"/>
          <p:cNvSpPr/>
          <p:nvPr/>
        </p:nvSpPr>
        <p:spPr>
          <a:xfrm>
            <a:off x="320040" y="1024128"/>
            <a:ext cx="40233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Conclusions</a:t>
            </a:r>
            <a:endParaRPr lang="en-US" sz="1200" dirty="0"/>
          </a:p>
        </p:txBody>
      </p:sp>
      <p:pic>
        <p:nvPicPr>
          <p:cNvPr id="11" name="Image 0" descr="preencoded.png">    </p:cNvPr>
          <p:cNvPicPr>
            <a:picLocks noChangeAspect="1"/>
          </p:cNvPicPr>
          <p:nvPr/>
        </p:nvPicPr>
        <p:blipFill>
          <a:blip r:embed="rId1"/>
          <a:stretch>
            <a:fillRect/>
          </a:stretch>
        </p:blipFill>
        <p:spPr>
          <a:xfrm>
            <a:off x="384048" y="1499616"/>
            <a:ext cx="237744" cy="237744"/>
          </a:xfrm>
          <a:prstGeom prst="rect">
            <a:avLst/>
          </a:prstGeom>
        </p:spPr>
      </p:pic>
      <p:sp>
        <p:nvSpPr>
          <p:cNvPr id="12" name="Text 9"/>
          <p:cNvSpPr/>
          <p:nvPr/>
        </p:nvSpPr>
        <p:spPr>
          <a:xfrm>
            <a:off x="694944" y="1481328"/>
            <a:ext cx="3538728" cy="420624"/>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AUC-ROC 0.83 confirms SME failure prediction is feasible with locally calibrated Cameroonian data.</a:t>
            </a:r>
            <a:endParaRPr lang="en-US" sz="950" dirty="0"/>
          </a:p>
        </p:txBody>
      </p:sp>
      <p:pic>
        <p:nvPicPr>
          <p:cNvPr id="13" name="Image 1" descr="preencoded.png">    </p:cNvPr>
          <p:cNvPicPr>
            <a:picLocks noChangeAspect="1"/>
          </p:cNvPicPr>
          <p:nvPr/>
        </p:nvPicPr>
        <p:blipFill>
          <a:blip r:embed="rId2"/>
          <a:stretch>
            <a:fillRect/>
          </a:stretch>
        </p:blipFill>
        <p:spPr>
          <a:xfrm>
            <a:off x="384048" y="1993392"/>
            <a:ext cx="237744" cy="237744"/>
          </a:xfrm>
          <a:prstGeom prst="rect">
            <a:avLst/>
          </a:prstGeom>
        </p:spPr>
      </p:pic>
      <p:sp>
        <p:nvSpPr>
          <p:cNvPr id="14" name="Text 10"/>
          <p:cNvSpPr/>
          <p:nvPr/>
        </p:nvSpPr>
        <p:spPr>
          <a:xfrm>
            <a:off x="694944" y="1975104"/>
            <a:ext cx="3538728" cy="420624"/>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Cox PH model provides entrepreneurs with actionable time-to-failure timelines — not just a binary risk label.</a:t>
            </a:r>
            <a:endParaRPr lang="en-US" sz="950" dirty="0"/>
          </a:p>
        </p:txBody>
      </p:sp>
      <p:pic>
        <p:nvPicPr>
          <p:cNvPr id="15" name="Image 2" descr="preencoded.png">    </p:cNvPr>
          <p:cNvPicPr>
            <a:picLocks noChangeAspect="1"/>
          </p:cNvPicPr>
          <p:nvPr/>
        </p:nvPicPr>
        <p:blipFill>
          <a:blip r:embed="rId3"/>
          <a:stretch>
            <a:fillRect/>
          </a:stretch>
        </p:blipFill>
        <p:spPr>
          <a:xfrm>
            <a:off x="384048" y="2487168"/>
            <a:ext cx="237744" cy="237744"/>
          </a:xfrm>
          <a:prstGeom prst="rect">
            <a:avLst/>
          </a:prstGeom>
        </p:spPr>
      </p:pic>
      <p:sp>
        <p:nvSpPr>
          <p:cNvPr id="16" name="Text 11"/>
          <p:cNvSpPr/>
          <p:nvPr/>
        </p:nvSpPr>
        <p:spPr>
          <a:xfrm>
            <a:off x="694944" y="2468880"/>
            <a:ext cx="3538728" cy="420624"/>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Groq LLM at 1.8s avg makes AI advisory operationally viable at free-tier pricing.</a:t>
            </a:r>
            <a:endParaRPr lang="en-US" sz="950" dirty="0"/>
          </a:p>
        </p:txBody>
      </p:sp>
      <p:pic>
        <p:nvPicPr>
          <p:cNvPr id="17" name="Image 3" descr="preencoded.png">    </p:cNvPr>
          <p:cNvPicPr>
            <a:picLocks noChangeAspect="1"/>
          </p:cNvPicPr>
          <p:nvPr/>
        </p:nvPicPr>
        <p:blipFill>
          <a:blip r:embed="rId4"/>
          <a:stretch>
            <a:fillRect/>
          </a:stretch>
        </p:blipFill>
        <p:spPr>
          <a:xfrm>
            <a:off x="384048" y="2980944"/>
            <a:ext cx="237744" cy="237744"/>
          </a:xfrm>
          <a:prstGeom prst="rect">
            <a:avLst/>
          </a:prstGeom>
        </p:spPr>
      </p:pic>
      <p:sp>
        <p:nvSpPr>
          <p:cNvPr id="18" name="Text 12"/>
          <p:cNvSpPr/>
          <p:nvPr/>
        </p:nvSpPr>
        <p:spPr>
          <a:xfrm>
            <a:off x="694944" y="2962656"/>
            <a:ext cx="3538728" cy="420624"/>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SHAP explainability bridges the gap between opaque ML outputs and plain-language advisory content.</a:t>
            </a:r>
            <a:endParaRPr lang="en-US" sz="950" dirty="0"/>
          </a:p>
        </p:txBody>
      </p:sp>
      <p:pic>
        <p:nvPicPr>
          <p:cNvPr id="19" name="Image 4" descr="preencoded.png">    </p:cNvPr>
          <p:cNvPicPr>
            <a:picLocks noChangeAspect="1"/>
          </p:cNvPicPr>
          <p:nvPr/>
        </p:nvPicPr>
        <p:blipFill>
          <a:blip r:embed="rId5"/>
          <a:stretch>
            <a:fillRect/>
          </a:stretch>
        </p:blipFill>
        <p:spPr>
          <a:xfrm>
            <a:off x="384048" y="3474720"/>
            <a:ext cx="237744" cy="237744"/>
          </a:xfrm>
          <a:prstGeom prst="rect">
            <a:avLst/>
          </a:prstGeom>
        </p:spPr>
      </p:pic>
      <p:sp>
        <p:nvSpPr>
          <p:cNvPr id="20" name="Text 13"/>
          <p:cNvSpPr/>
          <p:nvPr/>
        </p:nvSpPr>
        <p:spPr>
          <a:xfrm>
            <a:off x="694944" y="3456432"/>
            <a:ext cx="3538728" cy="420624"/>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Redis caching cut latency from 847ms to 43ms — a 20x improvement critical for mobile users.</a:t>
            </a:r>
            <a:endParaRPr lang="en-US" sz="950" dirty="0"/>
          </a:p>
        </p:txBody>
      </p:sp>
      <p:pic>
        <p:nvPicPr>
          <p:cNvPr id="21" name="Image 5" descr="preencoded.png">    </p:cNvPr>
          <p:cNvPicPr>
            <a:picLocks noChangeAspect="1"/>
          </p:cNvPicPr>
          <p:nvPr/>
        </p:nvPicPr>
        <p:blipFill>
          <a:blip r:embed="rId6"/>
          <a:stretch>
            <a:fillRect/>
          </a:stretch>
        </p:blipFill>
        <p:spPr>
          <a:xfrm>
            <a:off x="384048" y="3968496"/>
            <a:ext cx="237744" cy="237744"/>
          </a:xfrm>
          <a:prstGeom prst="rect">
            <a:avLst/>
          </a:prstGeom>
        </p:spPr>
      </p:pic>
      <p:sp>
        <p:nvSpPr>
          <p:cNvPr id="22" name="Text 14"/>
          <p:cNvSpPr/>
          <p:nvPr/>
        </p:nvSpPr>
        <p:spPr>
          <a:xfrm>
            <a:off x="694944" y="3950208"/>
            <a:ext cx="3538728" cy="420624"/>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Platform is deployed and operational: Render.com backend, Vercel web, Expo mobile builds.</a:t>
            </a:r>
            <a:endParaRPr lang="en-US" sz="950" dirty="0"/>
          </a:p>
        </p:txBody>
      </p:sp>
      <p:sp>
        <p:nvSpPr>
          <p:cNvPr id="23" name="Shape 15"/>
          <p:cNvSpPr/>
          <p:nvPr/>
        </p:nvSpPr>
        <p:spPr>
          <a:xfrm>
            <a:off x="4572000" y="1024128"/>
            <a:ext cx="4251960" cy="365760"/>
          </a:xfrm>
          <a:prstGeom prst="rect">
            <a:avLst/>
          </a:prstGeom>
          <a:solidFill>
            <a:srgbClr val="0D7C8F"/>
          </a:solidFill>
          <a:ln w="12700">
            <a:solidFill>
              <a:srgbClr val="0D7C8F"/>
            </a:solidFill>
            <a:prstDash val="solid"/>
          </a:ln>
        </p:spPr>
      </p:sp>
      <p:sp>
        <p:nvSpPr>
          <p:cNvPr id="24" name="Text 16"/>
          <p:cNvSpPr/>
          <p:nvPr/>
        </p:nvSpPr>
        <p:spPr>
          <a:xfrm>
            <a:off x="4572000" y="1024128"/>
            <a:ext cx="42519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Recommendations &amp; Future Work</a:t>
            </a:r>
            <a:endParaRPr lang="en-US" sz="1200" dirty="0"/>
          </a:p>
        </p:txBody>
      </p:sp>
      <p:pic>
        <p:nvPicPr>
          <p:cNvPr id="25" name="Image 6" descr="preencoded.png">    </p:cNvPr>
          <p:cNvPicPr>
            <a:picLocks noChangeAspect="1"/>
          </p:cNvPicPr>
          <p:nvPr/>
        </p:nvPicPr>
        <p:blipFill>
          <a:blip r:embed="rId7"/>
          <a:stretch>
            <a:fillRect/>
          </a:stretch>
        </p:blipFill>
        <p:spPr>
          <a:xfrm>
            <a:off x="4645152" y="1499616"/>
            <a:ext cx="237744" cy="237744"/>
          </a:xfrm>
          <a:prstGeom prst="rect">
            <a:avLst/>
          </a:prstGeom>
        </p:spPr>
      </p:pic>
      <p:sp>
        <p:nvSpPr>
          <p:cNvPr id="26" name="Text 17"/>
          <p:cNvSpPr/>
          <p:nvPr/>
        </p:nvSpPr>
        <p:spPr>
          <a:xfrm>
            <a:off x="4956048" y="1481328"/>
            <a:ext cx="3749040" cy="402336"/>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Scale to 200+ primary survey respondents via MINPMEESA and microfinance institution partnerships.</a:t>
            </a:r>
            <a:endParaRPr lang="en-US" sz="950" dirty="0"/>
          </a:p>
        </p:txBody>
      </p:sp>
      <p:pic>
        <p:nvPicPr>
          <p:cNvPr id="27" name="Image 7" descr="preencoded.png">    </p:cNvPr>
          <p:cNvPicPr>
            <a:picLocks noChangeAspect="1"/>
          </p:cNvPicPr>
          <p:nvPr/>
        </p:nvPicPr>
        <p:blipFill>
          <a:blip r:embed="rId8"/>
          <a:stretch>
            <a:fillRect/>
          </a:stretch>
        </p:blipFill>
        <p:spPr>
          <a:xfrm>
            <a:off x="4645152" y="1938528"/>
            <a:ext cx="237744" cy="237744"/>
          </a:xfrm>
          <a:prstGeom prst="rect">
            <a:avLst/>
          </a:prstGeom>
        </p:spPr>
      </p:pic>
      <p:sp>
        <p:nvSpPr>
          <p:cNvPr id="28" name="Text 18"/>
          <p:cNvSpPr/>
          <p:nvPr/>
        </p:nvSpPr>
        <p:spPr>
          <a:xfrm>
            <a:off x="4956048" y="1920240"/>
            <a:ext cx="3749040" cy="402336"/>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Conduct formal user acceptance testing with 30-50 real SME owners before public release.</a:t>
            </a:r>
            <a:endParaRPr lang="en-US" sz="950" dirty="0"/>
          </a:p>
        </p:txBody>
      </p:sp>
      <p:pic>
        <p:nvPicPr>
          <p:cNvPr id="29" name="Image 8" descr="preencoded.png">    </p:cNvPr>
          <p:cNvPicPr>
            <a:picLocks noChangeAspect="1"/>
          </p:cNvPicPr>
          <p:nvPr/>
        </p:nvPicPr>
        <p:blipFill>
          <a:blip r:embed="rId9"/>
          <a:stretch>
            <a:fillRect/>
          </a:stretch>
        </p:blipFill>
        <p:spPr>
          <a:xfrm>
            <a:off x="4645152" y="2377440"/>
            <a:ext cx="237744" cy="237744"/>
          </a:xfrm>
          <a:prstGeom prst="rect">
            <a:avLst/>
          </a:prstGeom>
        </p:spPr>
      </p:pic>
      <p:sp>
        <p:nvSpPr>
          <p:cNvPr id="30" name="Text 19"/>
          <p:cNvSpPr/>
          <p:nvPr/>
        </p:nvSpPr>
        <p:spPr>
          <a:xfrm>
            <a:off x="4956048" y="2359152"/>
            <a:ext cx="3749040" cy="402336"/>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Publish to Google Play Store and Apple App Store for real-world feedback and usage data.</a:t>
            </a:r>
            <a:endParaRPr lang="en-US" sz="950" dirty="0"/>
          </a:p>
        </p:txBody>
      </p:sp>
      <p:pic>
        <p:nvPicPr>
          <p:cNvPr id="31" name="Image 9" descr="preencoded.png">    </p:cNvPr>
          <p:cNvPicPr>
            <a:picLocks noChangeAspect="1"/>
          </p:cNvPicPr>
          <p:nvPr/>
        </p:nvPicPr>
        <p:blipFill>
          <a:blip r:embed="rId10"/>
          <a:stretch>
            <a:fillRect/>
          </a:stretch>
        </p:blipFill>
        <p:spPr>
          <a:xfrm>
            <a:off x="4645152" y="2816352"/>
            <a:ext cx="237744" cy="237744"/>
          </a:xfrm>
          <a:prstGeom prst="rect">
            <a:avLst/>
          </a:prstGeom>
        </p:spPr>
      </p:pic>
      <p:sp>
        <p:nvSpPr>
          <p:cNvPr id="32" name="Text 20"/>
          <p:cNvSpPr/>
          <p:nvPr/>
        </p:nvSpPr>
        <p:spPr>
          <a:xfrm>
            <a:off x="4956048" y="2798064"/>
            <a:ext cx="3749040" cy="402336"/>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Complete Next.js web dashboard to achieve full feature parity with the mobile app.</a:t>
            </a:r>
            <a:endParaRPr lang="en-US" sz="950" dirty="0"/>
          </a:p>
        </p:txBody>
      </p:sp>
      <p:pic>
        <p:nvPicPr>
          <p:cNvPr id="33" name="Image 10" descr="preencoded.png">    </p:cNvPr>
          <p:cNvPicPr>
            <a:picLocks noChangeAspect="1"/>
          </p:cNvPicPr>
          <p:nvPr/>
        </p:nvPicPr>
        <p:blipFill>
          <a:blip r:embed="rId11"/>
          <a:stretch>
            <a:fillRect/>
          </a:stretch>
        </p:blipFill>
        <p:spPr>
          <a:xfrm>
            <a:off x="4645152" y="3255264"/>
            <a:ext cx="237744" cy="237744"/>
          </a:xfrm>
          <a:prstGeom prst="rect">
            <a:avLst/>
          </a:prstGeom>
        </p:spPr>
      </p:pic>
      <p:sp>
        <p:nvSpPr>
          <p:cNvPr id="34" name="Text 21"/>
          <p:cNvSpPr/>
          <p:nvPr/>
        </p:nvSpPr>
        <p:spPr>
          <a:xfrm>
            <a:off x="4956048" y="3236976"/>
            <a:ext cx="3749040" cy="402336"/>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Investigate fine-tuning a locally hosted open-source LLM on Cameroonian business data to remove Groq API dependency.</a:t>
            </a:r>
            <a:endParaRPr lang="en-US" sz="950" dirty="0"/>
          </a:p>
        </p:txBody>
      </p:sp>
      <p:pic>
        <p:nvPicPr>
          <p:cNvPr id="35" name="Image 11" descr="preencoded.png">    </p:cNvPr>
          <p:cNvPicPr>
            <a:picLocks noChangeAspect="1"/>
          </p:cNvPicPr>
          <p:nvPr/>
        </p:nvPicPr>
        <p:blipFill>
          <a:blip r:embed="rId12"/>
          <a:stretch>
            <a:fillRect/>
          </a:stretch>
        </p:blipFill>
        <p:spPr>
          <a:xfrm>
            <a:off x="4645152" y="3694176"/>
            <a:ext cx="237744" cy="237744"/>
          </a:xfrm>
          <a:prstGeom prst="rect">
            <a:avLst/>
          </a:prstGeom>
        </p:spPr>
      </p:pic>
      <p:sp>
        <p:nvSpPr>
          <p:cNvPr id="36" name="Text 22"/>
          <p:cNvSpPr/>
          <p:nvPr/>
        </p:nvSpPr>
        <p:spPr>
          <a:xfrm>
            <a:off x="4956048" y="3675888"/>
            <a:ext cx="3749040" cy="402336"/>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Expand to Francophone African markets: Cote d'Ivoire, Senegal, DRC — with region-specific calibration.</a:t>
            </a:r>
            <a:endParaRPr lang="en-US" sz="950" dirty="0"/>
          </a:p>
        </p:txBody>
      </p:sp>
      <p:pic>
        <p:nvPicPr>
          <p:cNvPr id="37" name="Image 12" descr="preencoded.png">    </p:cNvPr>
          <p:cNvPicPr>
            <a:picLocks noChangeAspect="1"/>
          </p:cNvPicPr>
          <p:nvPr/>
        </p:nvPicPr>
        <p:blipFill>
          <a:blip r:embed="rId13"/>
          <a:stretch>
            <a:fillRect/>
          </a:stretch>
        </p:blipFill>
        <p:spPr>
          <a:xfrm>
            <a:off x="4645152" y="4133088"/>
            <a:ext cx="237744" cy="237744"/>
          </a:xfrm>
          <a:prstGeom prst="rect">
            <a:avLst/>
          </a:prstGeom>
        </p:spPr>
      </p:pic>
      <p:sp>
        <p:nvSpPr>
          <p:cNvPr id="38" name="Text 23"/>
          <p:cNvSpPr/>
          <p:nvPr/>
        </p:nvSpPr>
        <p:spPr>
          <a:xfrm>
            <a:off x="4956048" y="4114800"/>
            <a:ext cx="3749040" cy="402336"/>
          </a:xfrm>
          <a:prstGeom prst="rect">
            <a:avLst/>
          </a:prstGeom>
          <a:noFill/>
          <a:ln/>
        </p:spPr>
        <p:txBody>
          <a:bodyPr wrap="square" lIns="0" tIns="0" rIns="0" bIns="0" rtlCol="0" anchor="ctr"/>
          <a:lstStyle/>
          <a:p>
            <a:pPr indent="0" marL="0">
              <a:buNone/>
            </a:pPr>
            <a:r>
              <a:rPr lang="en-US" sz="950" dirty="0">
                <a:solidFill>
                  <a:srgbClr val="0F1F2E"/>
                </a:solidFill>
                <a:latin typeface="Calibri" pitchFamily="34" charset="0"/>
                <a:ea typeface="Calibri" pitchFamily="34" charset="-122"/>
                <a:cs typeface="Calibri" pitchFamily="34" charset="-120"/>
              </a:rPr>
              <a:t>Build the planned debt tracking, invoice, and compliance marketplace modules (full OS expansion).</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93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C0"/>
          </a:solidFill>
          <a:ln w="12700">
            <a:solidFill>
              <a:srgbClr val="0EA5C0"/>
            </a:solidFill>
            <a:prstDash val="solid"/>
          </a:ln>
        </p:spPr>
      </p:sp>
      <p:sp>
        <p:nvSpPr>
          <p:cNvPr id="3" name="Shape 1"/>
          <p:cNvSpPr/>
          <p:nvPr/>
        </p:nvSpPr>
        <p:spPr>
          <a:xfrm>
            <a:off x="0" y="73152"/>
            <a:ext cx="457200" cy="5070348"/>
          </a:xfrm>
          <a:prstGeom prst="rect">
            <a:avLst/>
          </a:prstGeom>
          <a:solidFill>
            <a:srgbClr val="0D7C8F"/>
          </a:solidFill>
          <a:ln w="12700">
            <a:solidFill>
              <a:srgbClr val="0D7C8F"/>
            </a:solidFill>
            <a:prstDash val="solid"/>
          </a:ln>
        </p:spPr>
      </p:sp>
      <p:sp>
        <p:nvSpPr>
          <p:cNvPr id="4" name="Shape 2"/>
          <p:cNvSpPr/>
          <p:nvPr/>
        </p:nvSpPr>
        <p:spPr>
          <a:xfrm>
            <a:off x="6217920" y="-731520"/>
            <a:ext cx="4114800" cy="4114800"/>
          </a:xfrm>
          <a:prstGeom prst="ellipse">
            <a:avLst/>
          </a:prstGeom>
          <a:solidFill>
            <a:srgbClr val="0D7C8F">
              <a:alpha val="12000"/>
            </a:srgbClr>
          </a:solidFill>
          <a:ln w="12700">
            <a:solidFill>
              <a:srgbClr val="0D7C8F">
                <a:alpha val="12000"/>
              </a:srgbClr>
            </a:solidFill>
            <a:prstDash val="solid"/>
          </a:ln>
        </p:spPr>
      </p:sp>
      <p:sp>
        <p:nvSpPr>
          <p:cNvPr id="5" name="Shape 3"/>
          <p:cNvSpPr/>
          <p:nvPr/>
        </p:nvSpPr>
        <p:spPr>
          <a:xfrm>
            <a:off x="7132320" y="2926080"/>
            <a:ext cx="2743200" cy="2743200"/>
          </a:xfrm>
          <a:prstGeom prst="ellipse">
            <a:avLst/>
          </a:prstGeom>
          <a:solidFill>
            <a:srgbClr val="06B6D4">
              <a:alpha val="8000"/>
            </a:srgbClr>
          </a:solidFill>
          <a:ln w="12700">
            <a:solidFill>
              <a:srgbClr val="06B6D4">
                <a:alpha val="8000"/>
              </a:srgbClr>
            </a:solidFill>
            <a:prstDash val="solid"/>
          </a:ln>
        </p:spPr>
      </p:sp>
      <p:pic>
        <p:nvPicPr>
          <p:cNvPr id="6" name="Image 0" descr="preencoded.png">    </p:cNvPr>
          <p:cNvPicPr>
            <a:picLocks noChangeAspect="1"/>
          </p:cNvPicPr>
          <p:nvPr/>
        </p:nvPicPr>
        <p:blipFill>
          <a:blip r:embed="rId1"/>
          <a:stretch>
            <a:fillRect/>
          </a:stretch>
        </p:blipFill>
        <p:spPr>
          <a:xfrm>
            <a:off x="731520" y="685800"/>
            <a:ext cx="731520" cy="731520"/>
          </a:xfrm>
          <a:prstGeom prst="rect">
            <a:avLst/>
          </a:prstGeom>
        </p:spPr>
      </p:pic>
      <p:sp>
        <p:nvSpPr>
          <p:cNvPr id="7" name="Text 4"/>
          <p:cNvSpPr/>
          <p:nvPr/>
        </p:nvSpPr>
        <p:spPr>
          <a:xfrm>
            <a:off x="685800" y="1508760"/>
            <a:ext cx="5486400" cy="77724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8" name="Text 5"/>
          <p:cNvSpPr/>
          <p:nvPr/>
        </p:nvSpPr>
        <p:spPr>
          <a:xfrm>
            <a:off x="685800" y="2286000"/>
            <a:ext cx="5486400" cy="438912"/>
          </a:xfrm>
          <a:prstGeom prst="rect">
            <a:avLst/>
          </a:prstGeom>
          <a:noFill/>
          <a:ln/>
        </p:spPr>
        <p:txBody>
          <a:bodyPr wrap="square" lIns="0" tIns="0" rIns="0" bIns="0" rtlCol="0" anchor="ctr"/>
          <a:lstStyle/>
          <a:p>
            <a:pPr indent="0" marL="0">
              <a:buNone/>
            </a:pPr>
            <a:r>
              <a:rPr lang="en-US" sz="2200" dirty="0">
                <a:solidFill>
                  <a:srgbClr val="06B6D4"/>
                </a:solidFill>
                <a:latin typeface="Calibri" pitchFamily="34" charset="0"/>
                <a:ea typeface="Calibri" pitchFamily="34" charset="-122"/>
                <a:cs typeface="Calibri" pitchFamily="34" charset="-120"/>
              </a:rPr>
              <a:t>Questions &amp; Discussion</a:t>
            </a:r>
            <a:endParaRPr lang="en-US" sz="2200" dirty="0"/>
          </a:p>
        </p:txBody>
      </p:sp>
      <p:sp>
        <p:nvSpPr>
          <p:cNvPr id="9" name="Shape 6"/>
          <p:cNvSpPr/>
          <p:nvPr/>
        </p:nvSpPr>
        <p:spPr>
          <a:xfrm>
            <a:off x="685800" y="2816352"/>
            <a:ext cx="5029200" cy="36576"/>
          </a:xfrm>
          <a:prstGeom prst="rect">
            <a:avLst/>
          </a:prstGeom>
          <a:solidFill>
            <a:srgbClr val="0D7C8F"/>
          </a:solidFill>
          <a:ln w="12700">
            <a:solidFill>
              <a:srgbClr val="0D7C8F"/>
            </a:solidFill>
            <a:prstDash val="solid"/>
          </a:ln>
        </p:spPr>
      </p:sp>
      <p:sp>
        <p:nvSpPr>
          <p:cNvPr id="10" name="Text 7"/>
          <p:cNvSpPr/>
          <p:nvPr/>
        </p:nvSpPr>
        <p:spPr>
          <a:xfrm>
            <a:off x="685800" y="2926080"/>
            <a:ext cx="1463040" cy="457200"/>
          </a:xfrm>
          <a:prstGeom prst="rect">
            <a:avLst/>
          </a:prstGeom>
          <a:noFill/>
          <a:ln/>
        </p:spPr>
        <p:txBody>
          <a:bodyPr wrap="square" lIns="0" tIns="0" rIns="0" bIns="0" rtlCol="0" anchor="ctr"/>
          <a:lstStyle/>
          <a:p>
            <a:pPr algn="ctr" indent="0" marL="0">
              <a:buNone/>
            </a:pPr>
            <a:r>
              <a:rPr lang="en-US" sz="2200" b="1" dirty="0">
                <a:solidFill>
                  <a:srgbClr val="06B6D4"/>
                </a:solidFill>
                <a:latin typeface="Calibri" pitchFamily="34" charset="0"/>
                <a:ea typeface="Calibri" pitchFamily="34" charset="-122"/>
                <a:cs typeface="Calibri" pitchFamily="34" charset="-120"/>
              </a:rPr>
              <a:t>0.83</a:t>
            </a:r>
            <a:endParaRPr lang="en-US" sz="2200" dirty="0"/>
          </a:p>
        </p:txBody>
      </p:sp>
      <p:sp>
        <p:nvSpPr>
          <p:cNvPr id="11" name="Text 8"/>
          <p:cNvSpPr/>
          <p:nvPr/>
        </p:nvSpPr>
        <p:spPr>
          <a:xfrm>
            <a:off x="685800" y="3401568"/>
            <a:ext cx="1463040" cy="256032"/>
          </a:xfrm>
          <a:prstGeom prst="rect">
            <a:avLst/>
          </a:prstGeom>
          <a:noFill/>
          <a:ln/>
        </p:spPr>
        <p:txBody>
          <a:bodyPr wrap="square" lIns="0" tIns="0" rIns="0" bIns="0" rtlCol="0" anchor="ctr"/>
          <a:lstStyle/>
          <a:p>
            <a:pPr algn="ctr" indent="0" marL="0">
              <a:buNone/>
            </a:pPr>
            <a:r>
              <a:rPr lang="en-US" sz="850" dirty="0">
                <a:solidFill>
                  <a:srgbClr val="A8C8D8"/>
                </a:solidFill>
                <a:latin typeface="Calibri" pitchFamily="34" charset="0"/>
                <a:ea typeface="Calibri" pitchFamily="34" charset="-122"/>
                <a:cs typeface="Calibri" pitchFamily="34" charset="-120"/>
              </a:rPr>
              <a:t>AUC-ROC</a:t>
            </a:r>
            <a:endParaRPr lang="en-US" sz="850" dirty="0"/>
          </a:p>
        </p:txBody>
      </p:sp>
      <p:sp>
        <p:nvSpPr>
          <p:cNvPr id="12" name="Text 9"/>
          <p:cNvSpPr/>
          <p:nvPr/>
        </p:nvSpPr>
        <p:spPr>
          <a:xfrm>
            <a:off x="2258568" y="2926080"/>
            <a:ext cx="1463040" cy="457200"/>
          </a:xfrm>
          <a:prstGeom prst="rect">
            <a:avLst/>
          </a:prstGeom>
          <a:noFill/>
          <a:ln/>
        </p:spPr>
        <p:txBody>
          <a:bodyPr wrap="square" lIns="0" tIns="0" rIns="0" bIns="0" rtlCol="0" anchor="ctr"/>
          <a:lstStyle/>
          <a:p>
            <a:pPr algn="ctr" indent="0" marL="0">
              <a:buNone/>
            </a:pPr>
            <a:r>
              <a:rPr lang="en-US" sz="2200" b="1" dirty="0">
                <a:solidFill>
                  <a:srgbClr val="06B6D4"/>
                </a:solidFill>
                <a:latin typeface="Calibri" pitchFamily="34" charset="0"/>
                <a:ea typeface="Calibri" pitchFamily="34" charset="-122"/>
                <a:cs typeface="Calibri" pitchFamily="34" charset="-120"/>
              </a:rPr>
              <a:t>42</a:t>
            </a:r>
            <a:endParaRPr lang="en-US" sz="2200" dirty="0"/>
          </a:p>
        </p:txBody>
      </p:sp>
      <p:sp>
        <p:nvSpPr>
          <p:cNvPr id="13" name="Text 10"/>
          <p:cNvSpPr/>
          <p:nvPr/>
        </p:nvSpPr>
        <p:spPr>
          <a:xfrm>
            <a:off x="2258568" y="3401568"/>
            <a:ext cx="1463040" cy="256032"/>
          </a:xfrm>
          <a:prstGeom prst="rect">
            <a:avLst/>
          </a:prstGeom>
          <a:noFill/>
          <a:ln/>
        </p:spPr>
        <p:txBody>
          <a:bodyPr wrap="square" lIns="0" tIns="0" rIns="0" bIns="0" rtlCol="0" anchor="ctr"/>
          <a:lstStyle/>
          <a:p>
            <a:pPr algn="ctr" indent="0" marL="0">
              <a:buNone/>
            </a:pPr>
            <a:r>
              <a:rPr lang="en-US" sz="850" dirty="0">
                <a:solidFill>
                  <a:srgbClr val="A8C8D8"/>
                </a:solidFill>
                <a:latin typeface="Calibri" pitchFamily="34" charset="0"/>
                <a:ea typeface="Calibri" pitchFamily="34" charset="-122"/>
                <a:cs typeface="Calibri" pitchFamily="34" charset="-120"/>
              </a:rPr>
              <a:t>Tests Passed</a:t>
            </a:r>
            <a:endParaRPr lang="en-US" sz="850" dirty="0"/>
          </a:p>
        </p:txBody>
      </p:sp>
      <p:sp>
        <p:nvSpPr>
          <p:cNvPr id="14" name="Text 11"/>
          <p:cNvSpPr/>
          <p:nvPr/>
        </p:nvSpPr>
        <p:spPr>
          <a:xfrm>
            <a:off x="3831336" y="2926080"/>
            <a:ext cx="1463040" cy="457200"/>
          </a:xfrm>
          <a:prstGeom prst="rect">
            <a:avLst/>
          </a:prstGeom>
          <a:noFill/>
          <a:ln/>
        </p:spPr>
        <p:txBody>
          <a:bodyPr wrap="square" lIns="0" tIns="0" rIns="0" bIns="0" rtlCol="0" anchor="ctr"/>
          <a:lstStyle/>
          <a:p>
            <a:pPr algn="ctr" indent="0" marL="0">
              <a:buNone/>
            </a:pPr>
            <a:r>
              <a:rPr lang="en-US" sz="2200" b="1" dirty="0">
                <a:solidFill>
                  <a:srgbClr val="06B6D4"/>
                </a:solidFill>
                <a:latin typeface="Calibri" pitchFamily="34" charset="0"/>
                <a:ea typeface="Calibri" pitchFamily="34" charset="-122"/>
                <a:cs typeface="Calibri" pitchFamily="34" charset="-120"/>
              </a:rPr>
              <a:t>1.8s</a:t>
            </a:r>
            <a:endParaRPr lang="en-US" sz="2200" dirty="0"/>
          </a:p>
        </p:txBody>
      </p:sp>
      <p:sp>
        <p:nvSpPr>
          <p:cNvPr id="15" name="Text 12"/>
          <p:cNvSpPr/>
          <p:nvPr/>
        </p:nvSpPr>
        <p:spPr>
          <a:xfrm>
            <a:off x="3831336" y="3401568"/>
            <a:ext cx="1463040" cy="256032"/>
          </a:xfrm>
          <a:prstGeom prst="rect">
            <a:avLst/>
          </a:prstGeom>
          <a:noFill/>
          <a:ln/>
        </p:spPr>
        <p:txBody>
          <a:bodyPr wrap="square" lIns="0" tIns="0" rIns="0" bIns="0" rtlCol="0" anchor="ctr"/>
          <a:lstStyle/>
          <a:p>
            <a:pPr algn="ctr" indent="0" marL="0">
              <a:buNone/>
            </a:pPr>
            <a:r>
              <a:rPr lang="en-US" sz="850" dirty="0">
                <a:solidFill>
                  <a:srgbClr val="A8C8D8"/>
                </a:solidFill>
                <a:latin typeface="Calibri" pitchFamily="34" charset="0"/>
                <a:ea typeface="Calibri" pitchFamily="34" charset="-122"/>
                <a:cs typeface="Calibri" pitchFamily="34" charset="-120"/>
              </a:rPr>
              <a:t>Avg Advisory</a:t>
            </a:r>
            <a:endParaRPr lang="en-US" sz="850" dirty="0"/>
          </a:p>
        </p:txBody>
      </p:sp>
      <p:sp>
        <p:nvSpPr>
          <p:cNvPr id="16" name="Text 13"/>
          <p:cNvSpPr/>
          <p:nvPr/>
        </p:nvSpPr>
        <p:spPr>
          <a:xfrm>
            <a:off x="5404104" y="2926080"/>
            <a:ext cx="1463040" cy="457200"/>
          </a:xfrm>
          <a:prstGeom prst="rect">
            <a:avLst/>
          </a:prstGeom>
          <a:noFill/>
          <a:ln/>
        </p:spPr>
        <p:txBody>
          <a:bodyPr wrap="square" lIns="0" tIns="0" rIns="0" bIns="0" rtlCol="0" anchor="ctr"/>
          <a:lstStyle/>
          <a:p>
            <a:pPr algn="ctr" indent="0" marL="0">
              <a:buNone/>
            </a:pPr>
            <a:r>
              <a:rPr lang="en-US" sz="2200" b="1" dirty="0">
                <a:solidFill>
                  <a:srgbClr val="06B6D4"/>
                </a:solidFill>
                <a:latin typeface="Calibri" pitchFamily="34" charset="0"/>
                <a:ea typeface="Calibri" pitchFamily="34" charset="-122"/>
                <a:cs typeface="Calibri" pitchFamily="34" charset="-120"/>
              </a:rPr>
              <a:t>20x</a:t>
            </a:r>
            <a:endParaRPr lang="en-US" sz="2200" dirty="0"/>
          </a:p>
        </p:txBody>
      </p:sp>
      <p:sp>
        <p:nvSpPr>
          <p:cNvPr id="17" name="Text 14"/>
          <p:cNvSpPr/>
          <p:nvPr/>
        </p:nvSpPr>
        <p:spPr>
          <a:xfrm>
            <a:off x="5404104" y="3401568"/>
            <a:ext cx="1463040" cy="256032"/>
          </a:xfrm>
          <a:prstGeom prst="rect">
            <a:avLst/>
          </a:prstGeom>
          <a:noFill/>
          <a:ln/>
        </p:spPr>
        <p:txBody>
          <a:bodyPr wrap="square" lIns="0" tIns="0" rIns="0" bIns="0" rtlCol="0" anchor="ctr"/>
          <a:lstStyle/>
          <a:p>
            <a:pPr algn="ctr" indent="0" marL="0">
              <a:buNone/>
            </a:pPr>
            <a:r>
              <a:rPr lang="en-US" sz="850" dirty="0">
                <a:solidFill>
                  <a:srgbClr val="A8C8D8"/>
                </a:solidFill>
                <a:latin typeface="Calibri" pitchFamily="34" charset="0"/>
                <a:ea typeface="Calibri" pitchFamily="34" charset="-122"/>
                <a:cs typeface="Calibri" pitchFamily="34" charset="-120"/>
              </a:rPr>
              <a:t>Cache Speedup</a:t>
            </a:r>
            <a:endParaRPr lang="en-US" sz="850" dirty="0"/>
          </a:p>
        </p:txBody>
      </p:sp>
      <p:sp>
        <p:nvSpPr>
          <p:cNvPr id="18" name="Text 15"/>
          <p:cNvSpPr/>
          <p:nvPr/>
        </p:nvSpPr>
        <p:spPr>
          <a:xfrm>
            <a:off x="6976872" y="2926080"/>
            <a:ext cx="1463040" cy="457200"/>
          </a:xfrm>
          <a:prstGeom prst="rect">
            <a:avLst/>
          </a:prstGeom>
          <a:noFill/>
          <a:ln/>
        </p:spPr>
        <p:txBody>
          <a:bodyPr wrap="square" lIns="0" tIns="0" rIns="0" bIns="0" rtlCol="0" anchor="ctr"/>
          <a:lstStyle/>
          <a:p>
            <a:pPr algn="ctr" indent="0" marL="0">
              <a:buNone/>
            </a:pPr>
            <a:r>
              <a:rPr lang="en-US" sz="2200" b="1" dirty="0">
                <a:solidFill>
                  <a:srgbClr val="06B6D4"/>
                </a:solidFill>
                <a:latin typeface="Calibri" pitchFamily="34" charset="0"/>
                <a:ea typeface="Calibri" pitchFamily="34" charset="-122"/>
                <a:cs typeface="Calibri" pitchFamily="34" charset="-120"/>
              </a:rPr>
              <a:t>70.4%</a:t>
            </a:r>
            <a:endParaRPr lang="en-US" sz="2200" dirty="0"/>
          </a:p>
        </p:txBody>
      </p:sp>
      <p:sp>
        <p:nvSpPr>
          <p:cNvPr id="19" name="Text 16"/>
          <p:cNvSpPr/>
          <p:nvPr/>
        </p:nvSpPr>
        <p:spPr>
          <a:xfrm>
            <a:off x="6976872" y="3401568"/>
            <a:ext cx="1463040" cy="256032"/>
          </a:xfrm>
          <a:prstGeom prst="rect">
            <a:avLst/>
          </a:prstGeom>
          <a:noFill/>
          <a:ln/>
        </p:spPr>
        <p:txBody>
          <a:bodyPr wrap="square" lIns="0" tIns="0" rIns="0" bIns="0" rtlCol="0" anchor="ctr"/>
          <a:lstStyle/>
          <a:p>
            <a:pPr algn="ctr" indent="0" marL="0">
              <a:buNone/>
            </a:pPr>
            <a:r>
              <a:rPr lang="en-US" sz="850" dirty="0">
                <a:solidFill>
                  <a:srgbClr val="A8C8D8"/>
                </a:solidFill>
                <a:latin typeface="Calibri" pitchFamily="34" charset="0"/>
                <a:ea typeface="Calibri" pitchFamily="34" charset="-122"/>
                <a:cs typeface="Calibri" pitchFamily="34" charset="-120"/>
              </a:rPr>
              <a:t>Real-world Accuracy</a:t>
            </a:r>
            <a:endParaRPr lang="en-US" sz="850" dirty="0"/>
          </a:p>
        </p:txBody>
      </p:sp>
      <p:sp>
        <p:nvSpPr>
          <p:cNvPr id="20" name="Text 17"/>
          <p:cNvSpPr/>
          <p:nvPr/>
        </p:nvSpPr>
        <p:spPr>
          <a:xfrm>
            <a:off x="685800" y="3794760"/>
            <a:ext cx="8046720" cy="256032"/>
          </a:xfrm>
          <a:prstGeom prst="rect">
            <a:avLst/>
          </a:prstGeom>
          <a:noFill/>
          <a:ln/>
        </p:spPr>
        <p:txBody>
          <a:bodyPr wrap="square" lIns="0" tIns="0" rIns="0" bIns="0" rtlCol="0" anchor="ctr"/>
          <a:lstStyle/>
          <a:p>
            <a:pPr indent="0" marL="0">
              <a:buNone/>
            </a:pPr>
            <a:r>
              <a:rPr lang="en-US" sz="1000" b="1" dirty="0">
                <a:solidFill>
                  <a:srgbClr val="0EA5C0"/>
                </a:solidFill>
                <a:latin typeface="Calibri" pitchFamily="34" charset="0"/>
                <a:ea typeface="Calibri" pitchFamily="34" charset="-122"/>
                <a:cs typeface="Calibri" pitchFamily="34" charset="-120"/>
              </a:rPr>
              <a:t>Presenter: </a:t>
            </a:r>
            <a:pPr indent="0" marL="0">
              <a:buNone/>
            </a:pPr>
            <a:r>
              <a:rPr lang="en-US" sz="1000" dirty="0">
                <a:solidFill>
                  <a:srgbClr val="D0E8F0"/>
                </a:solidFill>
                <a:latin typeface="Calibri" pitchFamily="34" charset="0"/>
                <a:ea typeface="Calibri" pitchFamily="34" charset="-122"/>
                <a:cs typeface="Calibri" pitchFamily="34" charset="-120"/>
              </a:rPr>
              <a:t>Clovis Tumasang — CT24A440  |  </a:t>
            </a:r>
            <a:pPr indent="0" marL="0">
              <a:buNone/>
            </a:pPr>
            <a:r>
              <a:rPr lang="en-US" sz="1000" b="1" dirty="0">
                <a:solidFill>
                  <a:srgbClr val="0EA5C0"/>
                </a:solidFill>
                <a:latin typeface="Calibri" pitchFamily="34" charset="0"/>
                <a:ea typeface="Calibri" pitchFamily="34" charset="-122"/>
                <a:cs typeface="Calibri" pitchFamily="34" charset="-120"/>
              </a:rPr>
              <a:t>Supervisor: </a:t>
            </a:r>
            <a:pPr indent="0" marL="0">
              <a:buNone/>
            </a:pPr>
            <a:r>
              <a:rPr lang="en-US" sz="1000" dirty="0">
                <a:solidFill>
                  <a:srgbClr val="D0E8F0"/>
                </a:solidFill>
                <a:latin typeface="Calibri" pitchFamily="34" charset="0"/>
                <a:ea typeface="Calibri" pitchFamily="34" charset="-122"/>
                <a:cs typeface="Calibri" pitchFamily="34" charset="-120"/>
              </a:rPr>
              <a:t>Mr. Anumoh Micheal</a:t>
            </a:r>
            <a:endParaRPr lang="en-US" sz="1000" dirty="0"/>
          </a:p>
        </p:txBody>
      </p:sp>
      <p:sp>
        <p:nvSpPr>
          <p:cNvPr id="21" name="Text 18"/>
          <p:cNvSpPr/>
          <p:nvPr/>
        </p:nvSpPr>
        <p:spPr>
          <a:xfrm>
            <a:off x="685800" y="4096512"/>
            <a:ext cx="8046720" cy="256032"/>
          </a:xfrm>
          <a:prstGeom prst="rect">
            <a:avLst/>
          </a:prstGeom>
          <a:noFill/>
          <a:ln/>
        </p:spPr>
        <p:txBody>
          <a:bodyPr wrap="square" lIns="0" tIns="0" rIns="0" bIns="0" rtlCol="0" anchor="ctr"/>
          <a:lstStyle/>
          <a:p>
            <a:pPr indent="0" marL="0">
              <a:buNone/>
            </a:pPr>
            <a:r>
              <a:rPr lang="en-US" sz="1000" b="1" dirty="0">
                <a:solidFill>
                  <a:srgbClr val="0EA5C0"/>
                </a:solidFill>
                <a:latin typeface="Calibri" pitchFamily="34" charset="0"/>
                <a:ea typeface="Calibri" pitchFamily="34" charset="-122"/>
                <a:cs typeface="Calibri" pitchFamily="34" charset="-120"/>
              </a:rPr>
              <a:t>Institution: </a:t>
            </a:r>
            <a:pPr indent="0" marL="0">
              <a:buNone/>
            </a:pPr>
            <a:r>
              <a:rPr lang="en-US" sz="1000" dirty="0">
                <a:solidFill>
                  <a:srgbClr val="D0E8F0"/>
                </a:solidFill>
                <a:latin typeface="Calibri" pitchFamily="34" charset="0"/>
                <a:ea typeface="Calibri" pitchFamily="34" charset="-122"/>
                <a:cs typeface="Calibri" pitchFamily="34" charset="-120"/>
              </a:rPr>
              <a:t>University of Buea, College of Technology, Dept. of Computer Engineering</a:t>
            </a:r>
            <a:endParaRPr lang="en-US" sz="1000" dirty="0"/>
          </a:p>
        </p:txBody>
      </p:sp>
      <p:sp>
        <p:nvSpPr>
          <p:cNvPr id="22" name="Text 19"/>
          <p:cNvSpPr/>
          <p:nvPr/>
        </p:nvSpPr>
        <p:spPr>
          <a:xfrm>
            <a:off x="685800" y="4407408"/>
            <a:ext cx="8046720" cy="237744"/>
          </a:xfrm>
          <a:prstGeom prst="rect">
            <a:avLst/>
          </a:prstGeom>
          <a:noFill/>
          <a:ln/>
        </p:spPr>
        <p:txBody>
          <a:bodyPr wrap="square" lIns="0" tIns="0" rIns="0" bIns="0" rtlCol="0" anchor="ctr"/>
          <a:lstStyle/>
          <a:p>
            <a:pPr indent="0" marL="0">
              <a:buNone/>
            </a:pPr>
            <a:r>
              <a:rPr lang="en-US" sz="950" i="1" dirty="0">
                <a:solidFill>
                  <a:srgbClr val="7AABB8"/>
                </a:solidFill>
                <a:latin typeface="Calibri" pitchFamily="34" charset="0"/>
                <a:ea typeface="Calibri" pitchFamily="34" charset="-122"/>
                <a:cs typeface="Calibri" pitchFamily="34" charset="-120"/>
              </a:rPr>
              <a:t>BizSense Operations Suite — AI-Powered SME Analytics for Cameroon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BizSense OS – Thesis Defense Presentation</dc:title>
  <dc:subject>PptxGenJS Presentation</dc:subject>
  <dc:creator>Clovis Tumasang</dc:creator>
  <cp:lastModifiedBy>Clovis Tumasang</cp:lastModifiedBy>
  <cp:revision>1</cp:revision>
  <dcterms:created xsi:type="dcterms:W3CDTF">2026-06-15T05:28:58Z</dcterms:created>
  <dcterms:modified xsi:type="dcterms:W3CDTF">2026-06-15T05:28:58Z</dcterms:modified>
</cp:coreProperties>
</file>